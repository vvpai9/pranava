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9" d="100"/>
          <a:sy n="109" d="100"/>
        </p:scale>
        <p:origin x="706" y="8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396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640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0990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432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3101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575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140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987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705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7893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5143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941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9237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34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626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9723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5787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308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045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2717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269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020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923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25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717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1022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618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8357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9550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769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0082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5438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83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8925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7123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465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602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 conclusion, PRANAVA successfully bridges the gap between generative AI and autonomous UAV operation. We have demonstrated that a 7-billion parameter language model, running entirely offline on consumer hardware, can reliably translate natural language into precise, executable MAVLink missions. The 59% time savings is significant for operational efficiency, and real hardware validation confirms this is not merely a simulation exercise. Future work will focus on closing the remaining loop — adding real-time telemetry awareness so the AI can monitor and adapt missions in flight, and extending to multi-UAV coordination for complex swarm operations. We believe PRANAVA establishes a new paradigm for human-UAV interaction. Thank you for your attention.</a:t>
            </a:r>
            <a:endParaRPr lang="en-US"/>
          </a:p>
        </p:txBody>
      </p:sp>
      <p:sp>
        <p:nvSpPr>
          <p:cNvPr id="1354926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66BBE-A23E-5915-3FAE-F831CDA8267D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079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6028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Thank the audience and panel. Key points to emphasize during questions: 1) The system is fully open and reproducible — built on open-source components. 2) Mistral 7B was chosen specifically for its offline capability and accuracy balance. 3) Real Pixhawk hardware validation distinguishes PRANAVA from purely academic LLM-UAV work. 4) The JSON schema approach eliminates hallucination risk by constraining LLM output to a validated structure. Be prepared to discuss: limitations (currently single-UAV, no real-time replanning), edge cases in schema extraction, and scalability to larger mission areas.</a:t>
            </a:r>
            <a:endParaRPr lang="en-US"/>
          </a:p>
        </p:txBody>
      </p:sp>
      <p:sp>
        <p:nvSpPr>
          <p:cNvPr id="1927381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360C6A-97B2-1C29-BA00-FDF7076138FA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xiv.org/abs/2510.21739" TargetMode="External"/><Relationship Id="rId4" Type="http://schemas.openxmlformats.org/officeDocument/2006/relationships/hyperlink" Target="https://mavlink.io/en/services/mission.html" TargetMode="External"/><Relationship Id="rId5" Type="http://schemas.openxmlformats.org/officeDocument/2006/relationships/hyperlink" Target="https://www.ri.cmu.edu/publications/fly-like-this-natural-language-interfaces-for-uav-mission-planning/" TargetMode="External"/><Relationship Id="rId6" Type="http://schemas.openxmlformats.org/officeDocument/2006/relationships/hyperlink" Target="https://ardupilot.org/dev/docs/mavlink-mission-upload-download.html" TargetMode="External"/><Relationship Id="rId7" Type="http://schemas.openxmlformats.org/officeDocument/2006/relationships/hyperlink" Target="https://ardupilot.org/planner/docs/common-mavlink-mission-command-messages-mav_cmd.html" TargetMode="External"/><Relationship Id="rId8" Type="http://schemas.openxmlformats.org/officeDocument/2006/relationships/hyperlink" Target="https://www.google.com/search?q=https%3A%2F%2Fardupilot.org%2Fdev%2Fdocs%2Fcopter-commands-in-guided-mode.html" TargetMode="External"/><Relationship Id="rId9" Type="http://schemas.openxmlformats.org/officeDocument/2006/relationships/hyperlink" Target="https://www.google.com/search?q=https%3A%2F%2Fgithub.com%2Fmavlink%2Fqgroundcontrol" TargetMode="External"/><Relationship Id="rId10" Type="http://schemas.openxmlformats.org/officeDocument/2006/relationships/hyperlink" Target="https://www.google.com/search?q=https%3A%2F%2Fdocs.qgroundcontrol.com%2Fmaster%2Fen%2Fqgc-dev-guide%2Fcustom_build%2Fmavlink.html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573538" name="Shape 0"/>
          <p:cNvSpPr/>
          <p:nvPr/>
        </p:nvSpPr>
        <p:spPr bwMode="auto">
          <a:xfrm>
            <a:off x="0" y="0"/>
            <a:ext cx="329184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23085648" name="Shape 1"/>
          <p:cNvSpPr/>
          <p:nvPr/>
        </p:nvSpPr>
        <p:spPr bwMode="auto">
          <a:xfrm>
            <a:off x="0" y="3840480"/>
            <a:ext cx="3291840" cy="1303020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77292165" name="Text 2"/>
          <p:cNvSpPr/>
          <p:nvPr/>
        </p:nvSpPr>
        <p:spPr bwMode="auto">
          <a:xfrm>
            <a:off x="182880" y="2743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0">
                <a:solidFill>
                  <a:srgbClr val="FFFFFF">
                    <a:alpha val="75000"/>
                  </a:srgbClr>
                </a:solidFill>
                <a:latin typeface="Segoe UI Emoji"/>
                <a:ea typeface="Segoe UI Emoji"/>
                <a:cs typeface="Segoe UI Emoji"/>
              </a:rPr>
              <a:t>✈</a:t>
            </a:r>
            <a:endParaRPr lang="en-US" sz="10000"/>
          </a:p>
        </p:txBody>
      </p:sp>
      <p:sp>
        <p:nvSpPr>
          <p:cNvPr id="937569890" name="Text 3"/>
          <p:cNvSpPr/>
          <p:nvPr/>
        </p:nvSpPr>
        <p:spPr bwMode="auto">
          <a:xfrm>
            <a:off x="3474720" y="1088136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2800">
                <a:solidFill>
                  <a:srgbClr val="D6EAF8"/>
                </a:solidFill>
                <a:latin typeface="Calibri"/>
                <a:ea typeface="Calibri"/>
                <a:cs typeface="Calibri"/>
              </a:rPr>
              <a:t>Prompt-driven UAV Mission Planning</a:t>
            </a:r>
            <a:endParaRPr lang="en-US" sz="2800"/>
          </a:p>
        </p:txBody>
      </p:sp>
      <p:sp>
        <p:nvSpPr>
          <p:cNvPr id="2072024103" name="Shape 5"/>
          <p:cNvSpPr/>
          <p:nvPr/>
        </p:nvSpPr>
        <p:spPr bwMode="auto">
          <a:xfrm>
            <a:off x="3566160" y="2651760"/>
            <a:ext cx="5029200" cy="36576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87668717" name="Text 6"/>
          <p:cNvSpPr/>
          <p:nvPr/>
        </p:nvSpPr>
        <p:spPr bwMode="auto">
          <a:xfrm>
            <a:off x="3566160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A9BD5"/>
                </a:solidFill>
                <a:latin typeface="Calibri"/>
                <a:ea typeface="Calibri"/>
                <a:cs typeface="Calibri"/>
              </a:rPr>
              <a:t>Presented by:</a:t>
            </a:r>
            <a:endParaRPr lang="en-US" sz="1200"/>
          </a:p>
        </p:txBody>
      </p:sp>
      <p:sp>
        <p:nvSpPr>
          <p:cNvPr id="1206470588" name="Text 7"/>
          <p:cNvSpPr/>
          <p:nvPr/>
        </p:nvSpPr>
        <p:spPr bwMode="auto">
          <a:xfrm>
            <a:off x="5029200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17</a:t>
            </a:r>
            <a:endParaRPr lang="en-US" sz="1200"/>
          </a:p>
        </p:txBody>
      </p:sp>
      <p:sp>
        <p:nvSpPr>
          <p:cNvPr id="76670851" name="Text 8"/>
          <p:cNvSpPr/>
          <p:nvPr/>
        </p:nvSpPr>
        <p:spPr bwMode="auto">
          <a:xfrm>
            <a:off x="356616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A9BD5"/>
                </a:solidFill>
                <a:latin typeface="Calibri"/>
                <a:ea typeface="Calibri"/>
                <a:cs typeface="Calibri"/>
              </a:rPr>
              <a:t>Guide:</a:t>
            </a:r>
            <a:endParaRPr lang="en-US" sz="1200"/>
          </a:p>
        </p:txBody>
      </p:sp>
      <p:sp>
        <p:nvSpPr>
          <p:cNvPr id="300609309" name="Text 9"/>
          <p:cNvSpPr/>
          <p:nvPr/>
        </p:nvSpPr>
        <p:spPr bwMode="auto">
          <a:xfrm>
            <a:off x="5029200" y="3218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Prof. Satish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Chikkamath</a:t>
            </a:r>
            <a:endParaRPr lang="en-US" sz="1200"/>
          </a:p>
        </p:txBody>
      </p:sp>
      <p:sp>
        <p:nvSpPr>
          <p:cNvPr id="1342121385" name="Text 10"/>
          <p:cNvSpPr/>
          <p:nvPr/>
        </p:nvSpPr>
        <p:spPr bwMode="auto">
          <a:xfrm>
            <a:off x="3566160" y="3602735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A9BD5"/>
                </a:solidFill>
                <a:latin typeface="Calibri"/>
                <a:ea typeface="Calibri"/>
                <a:cs typeface="Calibri"/>
              </a:rPr>
              <a:t>Department:</a:t>
            </a:r>
            <a:endParaRPr lang="en-US" sz="1200"/>
          </a:p>
        </p:txBody>
      </p:sp>
      <p:sp>
        <p:nvSpPr>
          <p:cNvPr id="2118456710" name="Text 11"/>
          <p:cNvSpPr/>
          <p:nvPr/>
        </p:nvSpPr>
        <p:spPr bwMode="auto">
          <a:xfrm>
            <a:off x="5029200" y="3602735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Electronics and Communication</a:t>
            </a:r>
            <a:endParaRPr lang="en-US" sz="1200"/>
          </a:p>
        </p:txBody>
      </p:sp>
      <p:sp>
        <p:nvSpPr>
          <p:cNvPr id="2051541061" name="Text 12"/>
          <p:cNvSpPr/>
          <p:nvPr/>
        </p:nvSpPr>
        <p:spPr bwMode="auto">
          <a:xfrm>
            <a:off x="3566160" y="3986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A9BD5"/>
                </a:solidFill>
                <a:latin typeface="Calibri"/>
                <a:ea typeface="Calibri"/>
                <a:cs typeface="Calibri"/>
              </a:rPr>
              <a:t>Institution:</a:t>
            </a:r>
            <a:endParaRPr lang="en-US" sz="1200"/>
          </a:p>
        </p:txBody>
      </p:sp>
      <p:sp>
        <p:nvSpPr>
          <p:cNvPr id="180227747" name="Text 13"/>
          <p:cNvSpPr/>
          <p:nvPr/>
        </p:nvSpPr>
        <p:spPr bwMode="auto">
          <a:xfrm>
            <a:off x="5029200" y="39867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KLE Technological University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587472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69580845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56818411" name="Shape 2"/>
          <p:cNvSpPr/>
          <p:nvPr/>
        </p:nvSpPr>
        <p:spPr bwMode="auto">
          <a:xfrm>
            <a:off x="201168" y="116762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61141328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Motivation</a:t>
            </a:r>
            <a:endParaRPr lang="en-US" sz="2600"/>
          </a:p>
        </p:txBody>
      </p:sp>
      <p:sp>
        <p:nvSpPr>
          <p:cNvPr id="1237166695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31576383" name="Shape 5"/>
          <p:cNvSpPr/>
          <p:nvPr/>
        </p:nvSpPr>
        <p:spPr bwMode="auto">
          <a:xfrm>
            <a:off x="411480" y="1143000"/>
            <a:ext cx="416051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91657204" name="Shape 6"/>
          <p:cNvSpPr/>
          <p:nvPr/>
        </p:nvSpPr>
        <p:spPr bwMode="auto">
          <a:xfrm>
            <a:off x="411480" y="1143000"/>
            <a:ext cx="54864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03091944" name="Text 7"/>
          <p:cNvSpPr/>
          <p:nvPr/>
        </p:nvSpPr>
        <p:spPr bwMode="auto">
          <a:xfrm>
            <a:off x="59436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⚠</a:t>
            </a:r>
            <a:endParaRPr lang="en-US" sz="3200"/>
          </a:p>
        </p:txBody>
      </p:sp>
      <p:sp>
        <p:nvSpPr>
          <p:cNvPr id="1098292731" name="Text 8"/>
          <p:cNvSpPr/>
          <p:nvPr/>
        </p:nvSpPr>
        <p:spPr bwMode="auto">
          <a:xfrm>
            <a:off x="1417320" y="1325880"/>
            <a:ext cx="3017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UAV mission planning is complex and largely manual</a:t>
            </a:r>
            <a:endParaRPr lang="en-US" sz="1500"/>
          </a:p>
        </p:txBody>
      </p:sp>
      <p:sp>
        <p:nvSpPr>
          <p:cNvPr id="1724349350" name="Shape 9"/>
          <p:cNvSpPr/>
          <p:nvPr/>
        </p:nvSpPr>
        <p:spPr bwMode="auto">
          <a:xfrm>
            <a:off x="4846320" y="1143000"/>
            <a:ext cx="416051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79406792" name="Shape 10"/>
          <p:cNvSpPr/>
          <p:nvPr/>
        </p:nvSpPr>
        <p:spPr bwMode="auto">
          <a:xfrm>
            <a:off x="4846320" y="1143000"/>
            <a:ext cx="54864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64746929" name="Text 11"/>
          <p:cNvSpPr/>
          <p:nvPr/>
        </p:nvSpPr>
        <p:spPr bwMode="auto">
          <a:xfrm>
            <a:off x="50292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🎓</a:t>
            </a:r>
            <a:endParaRPr lang="en-US" sz="3200"/>
          </a:p>
        </p:txBody>
      </p:sp>
      <p:sp>
        <p:nvSpPr>
          <p:cNvPr id="347816393" name="Text 12"/>
          <p:cNvSpPr/>
          <p:nvPr/>
        </p:nvSpPr>
        <p:spPr bwMode="auto">
          <a:xfrm>
            <a:off x="5852160" y="1325880"/>
            <a:ext cx="3017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Requires technical expertise from operators</a:t>
            </a:r>
            <a:endParaRPr lang="en-US" sz="1500"/>
          </a:p>
        </p:txBody>
      </p:sp>
      <p:sp>
        <p:nvSpPr>
          <p:cNvPr id="1621948240" name="Shape 13"/>
          <p:cNvSpPr/>
          <p:nvPr/>
        </p:nvSpPr>
        <p:spPr bwMode="auto">
          <a:xfrm>
            <a:off x="411480" y="2788920"/>
            <a:ext cx="416051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7581245" name="Shape 14"/>
          <p:cNvSpPr/>
          <p:nvPr/>
        </p:nvSpPr>
        <p:spPr bwMode="auto">
          <a:xfrm>
            <a:off x="411480" y="2788920"/>
            <a:ext cx="54864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85971530" name="Text 15"/>
          <p:cNvSpPr/>
          <p:nvPr/>
        </p:nvSpPr>
        <p:spPr bwMode="auto">
          <a:xfrm>
            <a:off x="59436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⏱</a:t>
            </a:r>
            <a:endParaRPr lang="en-US" sz="3200"/>
          </a:p>
        </p:txBody>
      </p:sp>
      <p:sp>
        <p:nvSpPr>
          <p:cNvPr id="1933133914" name="Text 16"/>
          <p:cNvSpPr/>
          <p:nvPr/>
        </p:nvSpPr>
        <p:spPr bwMode="auto">
          <a:xfrm>
            <a:off x="1417320" y="2857500"/>
            <a:ext cx="3017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Largely time-consuming process</a:t>
            </a:r>
            <a:endParaRPr lang="en-US" sz="1500"/>
          </a:p>
        </p:txBody>
      </p:sp>
      <p:sp>
        <p:nvSpPr>
          <p:cNvPr id="1761022723" name="Shape 17"/>
          <p:cNvSpPr/>
          <p:nvPr/>
        </p:nvSpPr>
        <p:spPr bwMode="auto">
          <a:xfrm>
            <a:off x="4846320" y="2802988"/>
            <a:ext cx="416051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27702846" name="Shape 18"/>
          <p:cNvSpPr/>
          <p:nvPr/>
        </p:nvSpPr>
        <p:spPr bwMode="auto">
          <a:xfrm>
            <a:off x="4846320" y="2788920"/>
            <a:ext cx="54864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02296747" name="Text 19"/>
          <p:cNvSpPr/>
          <p:nvPr/>
        </p:nvSpPr>
        <p:spPr bwMode="auto">
          <a:xfrm>
            <a:off x="502920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🔒</a:t>
            </a:r>
            <a:endParaRPr lang="en-US" sz="3200"/>
          </a:p>
        </p:txBody>
      </p:sp>
      <p:sp>
        <p:nvSpPr>
          <p:cNvPr id="666092816" name="Text 20"/>
          <p:cNvSpPr/>
          <p:nvPr/>
        </p:nvSpPr>
        <p:spPr bwMode="auto">
          <a:xfrm>
            <a:off x="5760720" y="2898648"/>
            <a:ext cx="30175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Mission planning prone to human error</a:t>
            </a:r>
            <a:endParaRPr lang="en-US" sz="1500"/>
          </a:p>
        </p:txBody>
      </p:sp>
      <p:sp>
        <p:nvSpPr>
          <p:cNvPr id="1210463906" name="Shape 21"/>
          <p:cNvSpPr/>
          <p:nvPr/>
        </p:nvSpPr>
        <p:spPr bwMode="auto">
          <a:xfrm>
            <a:off x="411480" y="4526280"/>
            <a:ext cx="850392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01337877" name="Text 22"/>
          <p:cNvSpPr/>
          <p:nvPr/>
        </p:nvSpPr>
        <p:spPr bwMode="auto">
          <a:xfrm>
            <a:off x="502920" y="4526280"/>
            <a:ext cx="83210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💡  There is a clear need for an intelligent, language-driven UAV mission planning system.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172950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9032339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02763400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10515501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2600"/>
          </a:p>
        </p:txBody>
      </p:sp>
      <p:sp>
        <p:nvSpPr>
          <p:cNvPr id="1154770608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8918113" name="Shape 5"/>
          <p:cNvSpPr/>
          <p:nvPr/>
        </p:nvSpPr>
        <p:spPr bwMode="auto">
          <a:xfrm>
            <a:off x="548640" y="1097280"/>
            <a:ext cx="804672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48540900" name="Shape 6"/>
          <p:cNvSpPr/>
          <p:nvPr/>
        </p:nvSpPr>
        <p:spPr bwMode="auto">
          <a:xfrm>
            <a:off x="548640" y="1097280"/>
            <a:ext cx="91440" cy="2011680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592942853" name="Text 7"/>
          <p:cNvSpPr/>
          <p:nvPr/>
        </p:nvSpPr>
        <p:spPr bwMode="auto">
          <a:xfrm>
            <a:off x="822960" y="1143000"/>
            <a:ext cx="7589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"To develop a system that converts natural language mission</a:t>
            </a:r>
            <a:endParaRPr lang="en-US" sz="2000"/>
          </a:p>
          <a:p>
            <a:pPr marL="0" indent="0" algn="ctr">
              <a:buNone/>
              <a:defRPr/>
            </a:pPr>
            <a:r>
              <a:rPr lang="en-US" sz="2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descriptions into executable UAV flight plans for</a:t>
            </a:r>
            <a:endParaRPr lang="en-US" sz="2000"/>
          </a:p>
          <a:p>
            <a:pPr marL="0" indent="0" algn="ctr">
              <a:buNone/>
              <a:defRPr/>
            </a:pPr>
            <a:r>
              <a:rPr lang="en-US" sz="2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autonomous navigation."</a:t>
            </a:r>
            <a:endParaRPr lang="en-US" sz="2000"/>
          </a:p>
        </p:txBody>
      </p:sp>
      <p:sp>
        <p:nvSpPr>
          <p:cNvPr id="1545061493" name="Shape 8"/>
          <p:cNvSpPr/>
          <p:nvPr/>
        </p:nvSpPr>
        <p:spPr bwMode="auto">
          <a:xfrm>
            <a:off x="822960" y="3429000"/>
            <a:ext cx="2560320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09133048" name="Text 9"/>
          <p:cNvSpPr/>
          <p:nvPr/>
        </p:nvSpPr>
        <p:spPr bwMode="auto">
          <a:xfrm>
            <a:off x="82296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Natural Language</a:t>
            </a:r>
            <a:endParaRPr lang="en-US" sz="1600"/>
          </a:p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</a:t>
            </a:r>
            <a:endParaRPr lang="en-US" sz="1600"/>
          </a:p>
        </p:txBody>
      </p:sp>
      <p:sp>
        <p:nvSpPr>
          <p:cNvPr id="1625752732" name="Text 10"/>
          <p:cNvSpPr/>
          <p:nvPr/>
        </p:nvSpPr>
        <p:spPr bwMode="auto">
          <a:xfrm>
            <a:off x="3383280" y="361188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400"/>
          </a:p>
        </p:txBody>
      </p:sp>
      <p:sp>
        <p:nvSpPr>
          <p:cNvPr id="1029682041" name="Shape 11"/>
          <p:cNvSpPr/>
          <p:nvPr/>
        </p:nvSpPr>
        <p:spPr bwMode="auto">
          <a:xfrm>
            <a:off x="3657600" y="3429000"/>
            <a:ext cx="2560320" cy="1097280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1980103407" name="Text 12"/>
          <p:cNvSpPr/>
          <p:nvPr/>
        </p:nvSpPr>
        <p:spPr bwMode="auto">
          <a:xfrm>
            <a:off x="365760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Intelligent</a:t>
            </a:r>
            <a:endParaRPr lang="en-US" sz="1600"/>
          </a:p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Processing</a:t>
            </a:r>
            <a:endParaRPr lang="en-US" sz="1600"/>
          </a:p>
        </p:txBody>
      </p:sp>
      <p:sp>
        <p:nvSpPr>
          <p:cNvPr id="640401258" name="Text 13"/>
          <p:cNvSpPr/>
          <p:nvPr/>
        </p:nvSpPr>
        <p:spPr bwMode="auto">
          <a:xfrm>
            <a:off x="6217920" y="361188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400"/>
          </a:p>
        </p:txBody>
      </p:sp>
      <p:sp>
        <p:nvSpPr>
          <p:cNvPr id="1863568512" name="Shape 14"/>
          <p:cNvSpPr/>
          <p:nvPr/>
        </p:nvSpPr>
        <p:spPr bwMode="auto">
          <a:xfrm>
            <a:off x="6492240" y="3429000"/>
            <a:ext cx="2560320" cy="10972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62546286" name="Text 15"/>
          <p:cNvSpPr/>
          <p:nvPr/>
        </p:nvSpPr>
        <p:spPr bwMode="auto">
          <a:xfrm>
            <a:off x="649224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Executable</a:t>
            </a:r>
            <a:endParaRPr lang="en-US" sz="1600"/>
          </a:p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Flight Plans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189151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0084347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0224212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19913689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Objectives</a:t>
            </a:r>
            <a:endParaRPr lang="en-US" sz="2600"/>
          </a:p>
        </p:txBody>
      </p:sp>
      <p:sp>
        <p:nvSpPr>
          <p:cNvPr id="1675584798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01241818" name="Shape 5"/>
          <p:cNvSpPr/>
          <p:nvPr/>
        </p:nvSpPr>
        <p:spPr bwMode="auto">
          <a:xfrm>
            <a:off x="457200" y="1431370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62734876" name="Shape 6"/>
          <p:cNvSpPr/>
          <p:nvPr/>
        </p:nvSpPr>
        <p:spPr bwMode="auto">
          <a:xfrm>
            <a:off x="457200" y="1443679"/>
            <a:ext cx="59436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29505504" name="Text 7"/>
          <p:cNvSpPr/>
          <p:nvPr/>
        </p:nvSpPr>
        <p:spPr bwMode="auto">
          <a:xfrm>
            <a:off x="502920" y="1419061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2200"/>
          </a:p>
        </p:txBody>
      </p:sp>
      <p:sp>
        <p:nvSpPr>
          <p:cNvPr id="1625445110" name="Text 8"/>
          <p:cNvSpPr/>
          <p:nvPr/>
        </p:nvSpPr>
        <p:spPr bwMode="auto">
          <a:xfrm>
            <a:off x="1143000" y="1474297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Convert natural language prompts into structured mission parameters</a:t>
            </a:r>
            <a:endParaRPr lang="en-US" sz="1350"/>
          </a:p>
        </p:txBody>
      </p:sp>
      <p:sp>
        <p:nvSpPr>
          <p:cNvPr id="633094618" name="Shape 9"/>
          <p:cNvSpPr/>
          <p:nvPr/>
        </p:nvSpPr>
        <p:spPr bwMode="auto">
          <a:xfrm>
            <a:off x="4846320" y="1463030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06255118" name="Shape 10"/>
          <p:cNvSpPr/>
          <p:nvPr/>
        </p:nvSpPr>
        <p:spPr bwMode="auto">
          <a:xfrm>
            <a:off x="4846320" y="1431370"/>
            <a:ext cx="59436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52487466" name="Text 11"/>
          <p:cNvSpPr/>
          <p:nvPr/>
        </p:nvSpPr>
        <p:spPr bwMode="auto">
          <a:xfrm>
            <a:off x="4846320" y="1470062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2200"/>
          </a:p>
        </p:txBody>
      </p:sp>
      <p:sp>
        <p:nvSpPr>
          <p:cNvPr id="2145583663" name="Text 12"/>
          <p:cNvSpPr/>
          <p:nvPr/>
        </p:nvSpPr>
        <p:spPr bwMode="auto">
          <a:xfrm>
            <a:off x="5532120" y="1513143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Generate waypoint-based UAV mission plans automatically</a:t>
            </a:r>
            <a:endParaRPr lang="en-US" sz="1350"/>
          </a:p>
        </p:txBody>
      </p:sp>
      <p:sp>
        <p:nvSpPr>
          <p:cNvPr id="2044021033" name="Shape 13"/>
          <p:cNvSpPr/>
          <p:nvPr/>
        </p:nvSpPr>
        <p:spPr bwMode="auto">
          <a:xfrm>
            <a:off x="420624" y="3161705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grpSp>
        <p:nvGrpSpPr>
          <p:cNvPr id="1839261431" name="Group 30"/>
          <p:cNvGrpSpPr/>
          <p:nvPr/>
        </p:nvGrpSpPr>
        <p:grpSpPr bwMode="auto">
          <a:xfrm>
            <a:off x="420624" y="3149396"/>
            <a:ext cx="4114800" cy="1051560"/>
            <a:chOff x="365760" y="2240280"/>
            <a:chExt cx="4114800" cy="1051560"/>
          </a:xfrm>
        </p:grpSpPr>
        <p:sp>
          <p:nvSpPr>
            <p:cNvPr id="16" name="Shape 14"/>
            <p:cNvSpPr/>
            <p:nvPr/>
          </p:nvSpPr>
          <p:spPr bwMode="auto">
            <a:xfrm>
              <a:off x="365760" y="2240280"/>
              <a:ext cx="594360" cy="1051560"/>
            </a:xfrm>
            <a:prstGeom prst="rect">
              <a:avLst/>
            </a:prstGeom>
            <a:solidFill>
              <a:srgbClr val="1B6CA8"/>
            </a:solidFill>
            <a:ln w="12700">
              <a:solidFill>
                <a:srgbClr val="1B6CA8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 bwMode="auto">
            <a:xfrm>
              <a:off x="365760" y="2240280"/>
              <a:ext cx="5943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2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03</a:t>
              </a:r>
              <a:endParaRPr lang="en-US" sz="2200"/>
            </a:p>
          </p:txBody>
        </p:sp>
        <p:sp>
          <p:nvSpPr>
            <p:cNvPr id="18" name="Text 16"/>
            <p:cNvSpPr/>
            <p:nvPr/>
          </p:nvSpPr>
          <p:spPr bwMode="auto">
            <a:xfrm>
              <a:off x="1051560" y="2331720"/>
              <a:ext cx="342900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defRPr/>
              </a:pPr>
              <a:r>
                <a:rPr lang="en-US" sz="1350">
                  <a:solidFill>
                    <a:srgbClr val="1A1A2E"/>
                  </a:solidFill>
                  <a:latin typeface="Calibri"/>
                  <a:ea typeface="Calibri"/>
                  <a:cs typeface="Calibri"/>
                </a:rPr>
                <a:t>Integrate with </a:t>
              </a:r>
              <a:r>
                <a:rPr lang="en-US" sz="1350">
                  <a:solidFill>
                    <a:srgbClr val="1A1A2E"/>
                  </a:solidFill>
                  <a:latin typeface="Calibri"/>
                  <a:ea typeface="Calibri"/>
                  <a:cs typeface="Calibri"/>
                </a:rPr>
                <a:t>ArduPilot</a:t>
              </a:r>
              <a:r>
                <a:rPr lang="en-US" sz="1350">
                  <a:solidFill>
                    <a:srgbClr val="1A1A2E"/>
                  </a:solidFill>
                  <a:latin typeface="Calibri"/>
                  <a:ea typeface="Calibri"/>
                  <a:cs typeface="Calibri"/>
                </a:rPr>
                <a:t> autopilot using MAVLink protocol</a:t>
              </a:r>
              <a:endParaRPr lang="en-US" sz="1350"/>
            </a:p>
          </p:txBody>
        </p:sp>
      </p:grpSp>
      <p:sp>
        <p:nvSpPr>
          <p:cNvPr id="996118028" name="Shape 17"/>
          <p:cNvSpPr/>
          <p:nvPr/>
        </p:nvSpPr>
        <p:spPr bwMode="auto">
          <a:xfrm>
            <a:off x="4846320" y="3142364"/>
            <a:ext cx="4251960" cy="11567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93455898" name="Shape 18"/>
          <p:cNvSpPr/>
          <p:nvPr/>
        </p:nvSpPr>
        <p:spPr bwMode="auto">
          <a:xfrm>
            <a:off x="4846320" y="3142364"/>
            <a:ext cx="594360" cy="1153369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66004495" name="Text 19"/>
          <p:cNvSpPr/>
          <p:nvPr/>
        </p:nvSpPr>
        <p:spPr bwMode="auto">
          <a:xfrm>
            <a:off x="4846320" y="3212706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2200"/>
          </a:p>
        </p:txBody>
      </p:sp>
      <p:sp>
        <p:nvSpPr>
          <p:cNvPr id="15661906" name="Text 20"/>
          <p:cNvSpPr/>
          <p:nvPr/>
        </p:nvSpPr>
        <p:spPr bwMode="auto">
          <a:xfrm>
            <a:off x="5435405" y="3279363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Validate system in simulation environment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159704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28563199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98381711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93621810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Survey — Evolution of UAV Mission Planning</a:t>
            </a:r>
            <a:endParaRPr lang="en-US" sz="2600"/>
          </a:p>
        </p:txBody>
      </p:sp>
      <p:sp>
        <p:nvSpPr>
          <p:cNvPr id="1587090059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10141218" name="Shape 5"/>
          <p:cNvSpPr/>
          <p:nvPr/>
        </p:nvSpPr>
        <p:spPr bwMode="auto">
          <a:xfrm>
            <a:off x="365760" y="1343462"/>
            <a:ext cx="14630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91439992" name="Text 6"/>
          <p:cNvSpPr/>
          <p:nvPr/>
        </p:nvSpPr>
        <p:spPr bwMode="auto">
          <a:xfrm>
            <a:off x="365760" y="134346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Planning</a:t>
            </a:r>
            <a:endParaRPr lang="en-US" sz="1300"/>
          </a:p>
        </p:txBody>
      </p:sp>
      <p:sp>
        <p:nvSpPr>
          <p:cNvPr id="1940635566" name="Text 7"/>
          <p:cNvSpPr/>
          <p:nvPr/>
        </p:nvSpPr>
        <p:spPr bwMode="auto">
          <a:xfrm>
            <a:off x="365760" y="244074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1990s–2000s</a:t>
            </a:r>
            <a:endParaRPr lang="en-US" sz="1000"/>
          </a:p>
        </p:txBody>
      </p:sp>
      <p:sp>
        <p:nvSpPr>
          <p:cNvPr id="2093833803" name="Shape 8"/>
          <p:cNvSpPr/>
          <p:nvPr/>
        </p:nvSpPr>
        <p:spPr bwMode="auto">
          <a:xfrm>
            <a:off x="1828800" y="1846382"/>
            <a:ext cx="274320" cy="0"/>
          </a:xfrm>
          <a:prstGeom prst="line">
            <a:avLst/>
          </a:prstGeom>
          <a:noFill/>
          <a:ln w="25400">
            <a:solidFill>
              <a:srgbClr val="3A9BD5"/>
            </a:solidFill>
            <a:prstDash val="solid"/>
          </a:ln>
        </p:spPr>
      </p:sp>
      <p:sp>
        <p:nvSpPr>
          <p:cNvPr id="793929724" name="Text 9"/>
          <p:cNvSpPr/>
          <p:nvPr/>
        </p:nvSpPr>
        <p:spPr bwMode="auto">
          <a:xfrm>
            <a:off x="2103120" y="170007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A9BD5"/>
                </a:solidFill>
                <a:latin typeface="Segoe UI Symbol"/>
                <a:ea typeface="Segoe UI Symbol"/>
                <a:cs typeface="Segoe UI Symbol"/>
              </a:rPr>
              <a:t>▶</a:t>
            </a:r>
            <a:endParaRPr lang="en-US" sz="1100"/>
          </a:p>
        </p:txBody>
      </p:sp>
      <p:sp>
        <p:nvSpPr>
          <p:cNvPr id="554668823" name="Shape 10"/>
          <p:cNvSpPr/>
          <p:nvPr/>
        </p:nvSpPr>
        <p:spPr bwMode="auto">
          <a:xfrm>
            <a:off x="2103120" y="1343462"/>
            <a:ext cx="14630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1958945" name="Text 11"/>
          <p:cNvSpPr/>
          <p:nvPr/>
        </p:nvSpPr>
        <p:spPr bwMode="auto">
          <a:xfrm>
            <a:off x="2103120" y="134346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Algorithmic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Planning</a:t>
            </a:r>
            <a:endParaRPr lang="en-US" sz="1300"/>
          </a:p>
        </p:txBody>
      </p:sp>
      <p:sp>
        <p:nvSpPr>
          <p:cNvPr id="407524819" name="Text 12"/>
          <p:cNvSpPr/>
          <p:nvPr/>
        </p:nvSpPr>
        <p:spPr bwMode="auto">
          <a:xfrm>
            <a:off x="2103120" y="244074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2000s–2010s</a:t>
            </a:r>
            <a:endParaRPr lang="en-US" sz="1000"/>
          </a:p>
        </p:txBody>
      </p:sp>
      <p:sp>
        <p:nvSpPr>
          <p:cNvPr id="1289417835" name="Shape 13"/>
          <p:cNvSpPr/>
          <p:nvPr/>
        </p:nvSpPr>
        <p:spPr bwMode="auto">
          <a:xfrm>
            <a:off x="3566160" y="1846382"/>
            <a:ext cx="274320" cy="0"/>
          </a:xfrm>
          <a:prstGeom prst="line">
            <a:avLst/>
          </a:prstGeom>
          <a:noFill/>
          <a:ln w="25400">
            <a:solidFill>
              <a:srgbClr val="3A9BD5"/>
            </a:solidFill>
            <a:prstDash val="solid"/>
          </a:ln>
        </p:spPr>
      </p:sp>
      <p:sp>
        <p:nvSpPr>
          <p:cNvPr id="937207343" name="Text 14"/>
          <p:cNvSpPr/>
          <p:nvPr/>
        </p:nvSpPr>
        <p:spPr bwMode="auto">
          <a:xfrm>
            <a:off x="3840480" y="170007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A9BD5"/>
                </a:solidFill>
                <a:latin typeface="Segoe UI Symbol"/>
                <a:ea typeface="Segoe UI Symbol"/>
                <a:cs typeface="Segoe UI Symbol"/>
              </a:rPr>
              <a:t>▶</a:t>
            </a:r>
            <a:endParaRPr lang="en-US" sz="1100"/>
          </a:p>
        </p:txBody>
      </p:sp>
      <p:sp>
        <p:nvSpPr>
          <p:cNvPr id="1691691115" name="Shape 15"/>
          <p:cNvSpPr/>
          <p:nvPr/>
        </p:nvSpPr>
        <p:spPr bwMode="auto">
          <a:xfrm>
            <a:off x="3840480" y="1343462"/>
            <a:ext cx="1463040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54846512" name="Text 16"/>
          <p:cNvSpPr/>
          <p:nvPr/>
        </p:nvSpPr>
        <p:spPr bwMode="auto">
          <a:xfrm>
            <a:off x="3840480" y="134346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AI-based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Approaches</a:t>
            </a:r>
            <a:endParaRPr lang="en-US" sz="1300"/>
          </a:p>
        </p:txBody>
      </p:sp>
      <p:sp>
        <p:nvSpPr>
          <p:cNvPr id="238585604" name="Text 17"/>
          <p:cNvSpPr/>
          <p:nvPr/>
        </p:nvSpPr>
        <p:spPr bwMode="auto">
          <a:xfrm>
            <a:off x="3840480" y="244074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2010s</a:t>
            </a:r>
            <a:endParaRPr lang="en-US" sz="1000"/>
          </a:p>
        </p:txBody>
      </p:sp>
      <p:sp>
        <p:nvSpPr>
          <p:cNvPr id="288684455" name="Shape 18"/>
          <p:cNvSpPr/>
          <p:nvPr/>
        </p:nvSpPr>
        <p:spPr bwMode="auto">
          <a:xfrm>
            <a:off x="5303520" y="1846382"/>
            <a:ext cx="274320" cy="0"/>
          </a:xfrm>
          <a:prstGeom prst="line">
            <a:avLst/>
          </a:prstGeom>
          <a:noFill/>
          <a:ln w="25400">
            <a:solidFill>
              <a:srgbClr val="3A9BD5"/>
            </a:solidFill>
            <a:prstDash val="solid"/>
          </a:ln>
        </p:spPr>
      </p:sp>
      <p:sp>
        <p:nvSpPr>
          <p:cNvPr id="1095270378" name="Text 19"/>
          <p:cNvSpPr/>
          <p:nvPr/>
        </p:nvSpPr>
        <p:spPr bwMode="auto">
          <a:xfrm>
            <a:off x="5577840" y="170007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A9BD5"/>
                </a:solidFill>
                <a:latin typeface="Segoe UI Symbol"/>
                <a:ea typeface="Segoe UI Symbol"/>
                <a:cs typeface="Segoe UI Symbol"/>
              </a:rPr>
              <a:t>▶</a:t>
            </a:r>
            <a:endParaRPr lang="en-US" sz="1100"/>
          </a:p>
        </p:txBody>
      </p:sp>
      <p:sp>
        <p:nvSpPr>
          <p:cNvPr id="1508707952" name="Shape 20"/>
          <p:cNvSpPr/>
          <p:nvPr/>
        </p:nvSpPr>
        <p:spPr bwMode="auto">
          <a:xfrm>
            <a:off x="5577840" y="1343462"/>
            <a:ext cx="1463040" cy="1005840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96790815" name="Text 21"/>
          <p:cNvSpPr/>
          <p:nvPr/>
        </p:nvSpPr>
        <p:spPr bwMode="auto">
          <a:xfrm>
            <a:off x="5577840" y="134346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Natural Language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Interfaces</a:t>
            </a:r>
            <a:endParaRPr lang="en-US" sz="1300"/>
          </a:p>
        </p:txBody>
      </p:sp>
      <p:sp>
        <p:nvSpPr>
          <p:cNvPr id="2144474839" name="Text 22"/>
          <p:cNvSpPr/>
          <p:nvPr/>
        </p:nvSpPr>
        <p:spPr bwMode="auto">
          <a:xfrm>
            <a:off x="5577840" y="244074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2018–2022</a:t>
            </a:r>
            <a:endParaRPr lang="en-US" sz="1000"/>
          </a:p>
        </p:txBody>
      </p:sp>
      <p:sp>
        <p:nvSpPr>
          <p:cNvPr id="1007436397" name="Shape 23"/>
          <p:cNvSpPr/>
          <p:nvPr/>
        </p:nvSpPr>
        <p:spPr bwMode="auto">
          <a:xfrm>
            <a:off x="7040880" y="1846382"/>
            <a:ext cx="274320" cy="0"/>
          </a:xfrm>
          <a:prstGeom prst="line">
            <a:avLst/>
          </a:prstGeom>
          <a:noFill/>
          <a:ln w="25400">
            <a:solidFill>
              <a:srgbClr val="3A9BD5"/>
            </a:solidFill>
            <a:prstDash val="solid"/>
          </a:ln>
        </p:spPr>
      </p:sp>
      <p:sp>
        <p:nvSpPr>
          <p:cNvPr id="1052603378" name="Text 24"/>
          <p:cNvSpPr/>
          <p:nvPr/>
        </p:nvSpPr>
        <p:spPr bwMode="auto">
          <a:xfrm>
            <a:off x="7315200" y="170007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A9BD5"/>
                </a:solidFill>
                <a:latin typeface="Segoe UI Symbol"/>
                <a:ea typeface="Segoe UI Symbol"/>
                <a:cs typeface="Segoe UI Symbol"/>
              </a:rPr>
              <a:t>▶</a:t>
            </a:r>
            <a:endParaRPr lang="en-US" sz="1100"/>
          </a:p>
        </p:txBody>
      </p:sp>
      <p:sp>
        <p:nvSpPr>
          <p:cNvPr id="191828271" name="Shape 25"/>
          <p:cNvSpPr/>
          <p:nvPr/>
        </p:nvSpPr>
        <p:spPr bwMode="auto">
          <a:xfrm>
            <a:off x="7315200" y="1343462"/>
            <a:ext cx="1463040" cy="1005840"/>
          </a:xfrm>
          <a:prstGeom prst="rect">
            <a:avLst/>
          </a:prstGeom>
          <a:solidFill>
            <a:srgbClr val="0E7E5E"/>
          </a:solidFill>
          <a:ln w="12700">
            <a:solidFill>
              <a:srgbClr val="0E7E5E"/>
            </a:solidFill>
            <a:prstDash val="solid"/>
          </a:ln>
        </p:spPr>
      </p:sp>
      <p:sp>
        <p:nvSpPr>
          <p:cNvPr id="2098276691" name="Text 26"/>
          <p:cNvSpPr/>
          <p:nvPr/>
        </p:nvSpPr>
        <p:spPr bwMode="auto">
          <a:xfrm>
            <a:off x="7315200" y="134346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LLM-based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Systems</a:t>
            </a:r>
            <a:endParaRPr lang="en-US" sz="1300"/>
          </a:p>
        </p:txBody>
      </p:sp>
      <p:sp>
        <p:nvSpPr>
          <p:cNvPr id="1969247120" name="Text 27"/>
          <p:cNvSpPr/>
          <p:nvPr/>
        </p:nvSpPr>
        <p:spPr bwMode="auto">
          <a:xfrm>
            <a:off x="7315200" y="244074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2022–Present</a:t>
            </a:r>
            <a:endParaRPr lang="en-US" sz="1000"/>
          </a:p>
        </p:txBody>
      </p:sp>
      <p:sp>
        <p:nvSpPr>
          <p:cNvPr id="2026332166" name="Text 28"/>
          <p:cNvSpPr/>
          <p:nvPr/>
        </p:nvSpPr>
        <p:spPr bwMode="auto">
          <a:xfrm>
            <a:off x="365760" y="27470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⬆  Flow: Increasing autonomy and natural language capability over time</a:t>
            </a:r>
            <a:endParaRPr lang="en-US" sz="1200"/>
          </a:p>
        </p:txBody>
      </p:sp>
      <p:sp>
        <p:nvSpPr>
          <p:cNvPr id="167004278" name="Shape 29"/>
          <p:cNvSpPr/>
          <p:nvPr/>
        </p:nvSpPr>
        <p:spPr bwMode="auto">
          <a:xfrm>
            <a:off x="411480" y="3179292"/>
            <a:ext cx="4114800" cy="6400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455755287" name="Shape 30"/>
          <p:cNvSpPr/>
          <p:nvPr/>
        </p:nvSpPr>
        <p:spPr bwMode="auto">
          <a:xfrm>
            <a:off x="407259" y="3133572"/>
            <a:ext cx="4114800" cy="111627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41456848" name="Shape 31"/>
          <p:cNvSpPr/>
          <p:nvPr/>
        </p:nvSpPr>
        <p:spPr bwMode="auto">
          <a:xfrm>
            <a:off x="400930" y="3147638"/>
            <a:ext cx="41148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69052541" name="Text 32"/>
          <p:cNvSpPr/>
          <p:nvPr/>
        </p:nvSpPr>
        <p:spPr bwMode="auto">
          <a:xfrm>
            <a:off x="475488" y="3298164"/>
            <a:ext cx="389534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era addressed specific limitations of the previous</a:t>
            </a:r>
            <a:endParaRPr lang="en-US" sz="1600"/>
          </a:p>
        </p:txBody>
      </p:sp>
      <p:sp>
        <p:nvSpPr>
          <p:cNvPr id="286454824" name="Shape 33"/>
          <p:cNvSpPr/>
          <p:nvPr/>
        </p:nvSpPr>
        <p:spPr bwMode="auto">
          <a:xfrm>
            <a:off x="4709160" y="3179292"/>
            <a:ext cx="4114800" cy="6400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843597193" name="Shape 34"/>
          <p:cNvSpPr/>
          <p:nvPr/>
        </p:nvSpPr>
        <p:spPr bwMode="auto">
          <a:xfrm>
            <a:off x="4663440" y="3133572"/>
            <a:ext cx="4114800" cy="111627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32615957" name="Shape 35"/>
          <p:cNvSpPr/>
          <p:nvPr/>
        </p:nvSpPr>
        <p:spPr bwMode="auto">
          <a:xfrm>
            <a:off x="4663440" y="3133572"/>
            <a:ext cx="41148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61667069" name="Text 36"/>
          <p:cNvSpPr/>
          <p:nvPr/>
        </p:nvSpPr>
        <p:spPr bwMode="auto">
          <a:xfrm>
            <a:off x="4773168" y="3298164"/>
            <a:ext cx="389534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Gaps remain in real-world integration and MAVLink support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607965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33113819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93532349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6039698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Traditional UAV Mission Planning</a:t>
            </a:r>
            <a:endParaRPr lang="en-US" sz="2600"/>
          </a:p>
        </p:txBody>
      </p:sp>
      <p:sp>
        <p:nvSpPr>
          <p:cNvPr id="1083129516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92779918" name="Shape 5"/>
          <p:cNvSpPr/>
          <p:nvPr/>
        </p:nvSpPr>
        <p:spPr bwMode="auto">
          <a:xfrm>
            <a:off x="411480" y="1097280"/>
            <a:ext cx="4114800" cy="20116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296957251" name="Shape 6"/>
          <p:cNvSpPr/>
          <p:nvPr/>
        </p:nvSpPr>
        <p:spPr bwMode="auto">
          <a:xfrm>
            <a:off x="365760" y="10515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943967536" name="Shape 7"/>
          <p:cNvSpPr/>
          <p:nvPr/>
        </p:nvSpPr>
        <p:spPr bwMode="auto">
          <a:xfrm>
            <a:off x="365760" y="1051560"/>
            <a:ext cx="41148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90523543" name="Text 8"/>
          <p:cNvSpPr/>
          <p:nvPr/>
        </p:nvSpPr>
        <p:spPr bwMode="auto">
          <a:xfrm>
            <a:off x="475488" y="1143000"/>
            <a:ext cx="38953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Approach</a:t>
            </a:r>
            <a:endParaRPr lang="en-US" sz="1400"/>
          </a:p>
        </p:txBody>
      </p:sp>
      <p:sp>
        <p:nvSpPr>
          <p:cNvPr id="700079212" name="Text 9"/>
          <p:cNvSpPr/>
          <p:nvPr/>
        </p:nvSpPr>
        <p:spPr bwMode="auto">
          <a:xfrm>
            <a:off x="475488" y="1554480"/>
            <a:ext cx="3895343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Waypoint-based planning using GCS tools (e.g., Mission Planner)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Manual input of GPS coordinates and altitudes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Operator-driven flight path configuration</a:t>
            </a:r>
            <a:endParaRPr lang="en-US" sz="1600"/>
          </a:p>
        </p:txBody>
      </p:sp>
      <p:sp>
        <p:nvSpPr>
          <p:cNvPr id="356920575" name="Shape 10"/>
          <p:cNvSpPr/>
          <p:nvPr/>
        </p:nvSpPr>
        <p:spPr bwMode="auto">
          <a:xfrm>
            <a:off x="4709160" y="1097280"/>
            <a:ext cx="4114800" cy="20116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319332437" name="Shape 11"/>
          <p:cNvSpPr/>
          <p:nvPr/>
        </p:nvSpPr>
        <p:spPr bwMode="auto">
          <a:xfrm>
            <a:off x="4663440" y="10515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16555757" name="Shape 12"/>
          <p:cNvSpPr/>
          <p:nvPr/>
        </p:nvSpPr>
        <p:spPr bwMode="auto">
          <a:xfrm>
            <a:off x="4663440" y="105156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79523907" name="Text 13"/>
          <p:cNvSpPr/>
          <p:nvPr/>
        </p:nvSpPr>
        <p:spPr bwMode="auto">
          <a:xfrm>
            <a:off x="4773168" y="1143000"/>
            <a:ext cx="38953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Limitations</a:t>
            </a:r>
            <a:endParaRPr lang="en-US" sz="1400"/>
          </a:p>
        </p:txBody>
      </p:sp>
      <p:sp>
        <p:nvSpPr>
          <p:cNvPr id="2011832357" name="Text 14"/>
          <p:cNvSpPr/>
          <p:nvPr/>
        </p:nvSpPr>
        <p:spPr bwMode="auto">
          <a:xfrm>
            <a:off x="4773168" y="1554480"/>
            <a:ext cx="3895343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Requires significant domain expertise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Highly error-prone with manual data entry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Not scalable for dynamic or complex missions</a:t>
            </a:r>
            <a:endParaRPr lang="en-US" sz="1600"/>
          </a:p>
        </p:txBody>
      </p:sp>
      <p:sp>
        <p:nvSpPr>
          <p:cNvPr id="1244627995" name="Text 15"/>
          <p:cNvSpPr/>
          <p:nvPr/>
        </p:nvSpPr>
        <p:spPr bwMode="auto">
          <a:xfrm>
            <a:off x="36576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Typical Workflow:</a:t>
            </a:r>
            <a:endParaRPr lang="en-US" sz="1400"/>
          </a:p>
        </p:txBody>
      </p:sp>
      <p:sp>
        <p:nvSpPr>
          <p:cNvPr id="919391964" name="Shape 16"/>
          <p:cNvSpPr/>
          <p:nvPr/>
        </p:nvSpPr>
        <p:spPr bwMode="auto">
          <a:xfrm>
            <a:off x="365760" y="3657600"/>
            <a:ext cx="14630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10300658" name="Text 17"/>
          <p:cNvSpPr/>
          <p:nvPr/>
        </p:nvSpPr>
        <p:spPr bwMode="auto">
          <a:xfrm>
            <a:off x="365760" y="3657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GCS Tool</a:t>
            </a:r>
            <a:endParaRPr lang="en-US" sz="1200"/>
          </a:p>
        </p:txBody>
      </p:sp>
      <p:sp>
        <p:nvSpPr>
          <p:cNvPr id="1113497753" name="Text 18"/>
          <p:cNvSpPr/>
          <p:nvPr/>
        </p:nvSpPr>
        <p:spPr bwMode="auto">
          <a:xfrm>
            <a:off x="1828800" y="365760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2055088142" name="Shape 19"/>
          <p:cNvSpPr/>
          <p:nvPr/>
        </p:nvSpPr>
        <p:spPr bwMode="auto">
          <a:xfrm>
            <a:off x="2084832" y="3657600"/>
            <a:ext cx="14630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85439022" name="Text 20"/>
          <p:cNvSpPr/>
          <p:nvPr/>
        </p:nvSpPr>
        <p:spPr bwMode="auto">
          <a:xfrm>
            <a:off x="2084832" y="3657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 Coordinates</a:t>
            </a:r>
            <a:endParaRPr lang="en-US" sz="1200"/>
          </a:p>
        </p:txBody>
      </p:sp>
      <p:sp>
        <p:nvSpPr>
          <p:cNvPr id="805158023" name="Text 21"/>
          <p:cNvSpPr/>
          <p:nvPr/>
        </p:nvSpPr>
        <p:spPr bwMode="auto">
          <a:xfrm>
            <a:off x="3547872" y="365760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33142560" name="Shape 22"/>
          <p:cNvSpPr/>
          <p:nvPr/>
        </p:nvSpPr>
        <p:spPr bwMode="auto">
          <a:xfrm>
            <a:off x="3803904" y="3657600"/>
            <a:ext cx="1463040" cy="594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81685901" name="Text 23"/>
          <p:cNvSpPr/>
          <p:nvPr/>
        </p:nvSpPr>
        <p:spPr bwMode="auto">
          <a:xfrm>
            <a:off x="3803904" y="3657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Waypoints</a:t>
            </a:r>
            <a:endParaRPr lang="en-US" sz="1200"/>
          </a:p>
        </p:txBody>
      </p:sp>
      <p:sp>
        <p:nvSpPr>
          <p:cNvPr id="910723790" name="Text 24"/>
          <p:cNvSpPr/>
          <p:nvPr/>
        </p:nvSpPr>
        <p:spPr bwMode="auto">
          <a:xfrm>
            <a:off x="5266944" y="365760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1682059516" name="Shape 25"/>
          <p:cNvSpPr/>
          <p:nvPr/>
        </p:nvSpPr>
        <p:spPr bwMode="auto">
          <a:xfrm>
            <a:off x="5522976" y="3657600"/>
            <a:ext cx="1463040" cy="594360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418645683" name="Text 26"/>
          <p:cNvSpPr/>
          <p:nvPr/>
        </p:nvSpPr>
        <p:spPr bwMode="auto">
          <a:xfrm>
            <a:off x="5522976" y="3657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</a:t>
            </a:r>
            <a:endParaRPr lang="en-US" sz="1200"/>
          </a:p>
        </p:txBody>
      </p:sp>
      <p:sp>
        <p:nvSpPr>
          <p:cNvPr id="1402413454" name="Text 27"/>
          <p:cNvSpPr/>
          <p:nvPr/>
        </p:nvSpPr>
        <p:spPr bwMode="auto">
          <a:xfrm>
            <a:off x="6986016" y="365760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1444334418" name="Shape 28"/>
          <p:cNvSpPr/>
          <p:nvPr/>
        </p:nvSpPr>
        <p:spPr bwMode="auto">
          <a:xfrm>
            <a:off x="7242048" y="3657600"/>
            <a:ext cx="1463040" cy="594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22454861" name="Text 29"/>
          <p:cNvSpPr/>
          <p:nvPr/>
        </p:nvSpPr>
        <p:spPr bwMode="auto">
          <a:xfrm>
            <a:off x="7242048" y="3657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UAV Flight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Slide 8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570921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4116052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65517755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8123619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Algorithmic Path Planning</a:t>
            </a:r>
            <a:endParaRPr lang="en-US" sz="2600"/>
          </a:p>
        </p:txBody>
      </p:sp>
      <p:sp>
        <p:nvSpPr>
          <p:cNvPr id="564436727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84878560" name="Text 5"/>
          <p:cNvSpPr/>
          <p:nvPr/>
        </p:nvSpPr>
        <p:spPr bwMode="auto">
          <a:xfrm>
            <a:off x="365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Key Algorithms:</a:t>
            </a:r>
            <a:endParaRPr lang="en-US" sz="1500"/>
          </a:p>
        </p:txBody>
      </p:sp>
      <p:sp>
        <p:nvSpPr>
          <p:cNvPr id="174022899" name="Shape 6"/>
          <p:cNvSpPr/>
          <p:nvPr/>
        </p:nvSpPr>
        <p:spPr bwMode="auto">
          <a:xfrm>
            <a:off x="365760" y="14173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29313685" name="Shape 7"/>
          <p:cNvSpPr/>
          <p:nvPr/>
        </p:nvSpPr>
        <p:spPr bwMode="auto">
          <a:xfrm>
            <a:off x="365760" y="1417320"/>
            <a:ext cx="1920240" cy="64008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832198928" name="Text 8"/>
          <p:cNvSpPr/>
          <p:nvPr/>
        </p:nvSpPr>
        <p:spPr bwMode="auto">
          <a:xfrm>
            <a:off x="457200" y="15270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A*</a:t>
            </a:r>
            <a:endParaRPr lang="en-US" sz="1500"/>
          </a:p>
        </p:txBody>
      </p:sp>
      <p:sp>
        <p:nvSpPr>
          <p:cNvPr id="1997928467" name="Text 9"/>
          <p:cNvSpPr/>
          <p:nvPr/>
        </p:nvSpPr>
        <p:spPr bwMode="auto"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Optimal heuristic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search algorithm</a:t>
            </a:r>
            <a:endParaRPr lang="en-US" sz="1100"/>
          </a:p>
        </p:txBody>
      </p:sp>
      <p:sp>
        <p:nvSpPr>
          <p:cNvPr id="476650416" name="Shape 10"/>
          <p:cNvSpPr/>
          <p:nvPr/>
        </p:nvSpPr>
        <p:spPr bwMode="auto">
          <a:xfrm>
            <a:off x="2560320" y="14173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960040643" name="Shape 11"/>
          <p:cNvSpPr/>
          <p:nvPr/>
        </p:nvSpPr>
        <p:spPr bwMode="auto">
          <a:xfrm>
            <a:off x="2560320" y="1417320"/>
            <a:ext cx="1920240" cy="64008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653500514" name="Text 12"/>
          <p:cNvSpPr/>
          <p:nvPr/>
        </p:nvSpPr>
        <p:spPr bwMode="auto">
          <a:xfrm>
            <a:off x="2651760" y="15270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Dijkstra</a:t>
            </a:r>
            <a:endParaRPr lang="en-US" sz="1500"/>
          </a:p>
        </p:txBody>
      </p:sp>
      <p:sp>
        <p:nvSpPr>
          <p:cNvPr id="95893044" name="Text 13"/>
          <p:cNvSpPr/>
          <p:nvPr/>
        </p:nvSpPr>
        <p:spPr bwMode="auto">
          <a:xfrm>
            <a:off x="26517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Shortest path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graph traversal</a:t>
            </a:r>
            <a:endParaRPr lang="en-US" sz="1100"/>
          </a:p>
        </p:txBody>
      </p:sp>
      <p:sp>
        <p:nvSpPr>
          <p:cNvPr id="765857186" name="Shape 14"/>
          <p:cNvSpPr/>
          <p:nvPr/>
        </p:nvSpPr>
        <p:spPr bwMode="auto">
          <a:xfrm>
            <a:off x="365760" y="27889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499487" name="Shape 15"/>
          <p:cNvSpPr/>
          <p:nvPr/>
        </p:nvSpPr>
        <p:spPr bwMode="auto">
          <a:xfrm>
            <a:off x="365760" y="2788920"/>
            <a:ext cx="1920240" cy="64008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225720361" name="Text 16"/>
          <p:cNvSpPr/>
          <p:nvPr/>
        </p:nvSpPr>
        <p:spPr bwMode="auto">
          <a:xfrm>
            <a:off x="457200" y="2898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RRT</a:t>
            </a:r>
            <a:endParaRPr lang="en-US" sz="1500"/>
          </a:p>
        </p:txBody>
      </p:sp>
      <p:sp>
        <p:nvSpPr>
          <p:cNvPr id="1058285171" name="Text 17"/>
          <p:cNvSpPr/>
          <p:nvPr/>
        </p:nvSpPr>
        <p:spPr bwMode="auto">
          <a:xfrm>
            <a:off x="45720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Rapidly-exploring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Random Trees</a:t>
            </a:r>
            <a:endParaRPr lang="en-US" sz="1100"/>
          </a:p>
        </p:txBody>
      </p:sp>
      <p:sp>
        <p:nvSpPr>
          <p:cNvPr id="1357644982" name="Shape 18"/>
          <p:cNvSpPr/>
          <p:nvPr/>
        </p:nvSpPr>
        <p:spPr bwMode="auto">
          <a:xfrm>
            <a:off x="2560320" y="27889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86098342" name="Shape 19"/>
          <p:cNvSpPr/>
          <p:nvPr/>
        </p:nvSpPr>
        <p:spPr bwMode="auto">
          <a:xfrm>
            <a:off x="2560320" y="2788920"/>
            <a:ext cx="1920240" cy="64008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2017223230" name="Text 20"/>
          <p:cNvSpPr/>
          <p:nvPr/>
        </p:nvSpPr>
        <p:spPr bwMode="auto">
          <a:xfrm>
            <a:off x="2651760" y="2898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Potential</a:t>
            </a:r>
            <a:endParaRPr lang="en-US" sz="1500"/>
          </a:p>
          <a:p>
            <a:pPr marL="0" indent="0">
              <a:buNone/>
              <a:defRPr/>
            </a:pPr>
            <a:r>
              <a:rPr lang="en-US" sz="15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Fields</a:t>
            </a:r>
            <a:endParaRPr lang="en-US" sz="1500"/>
          </a:p>
        </p:txBody>
      </p:sp>
      <p:sp>
        <p:nvSpPr>
          <p:cNvPr id="1210575098" name="Text 21"/>
          <p:cNvSpPr/>
          <p:nvPr/>
        </p:nvSpPr>
        <p:spPr bwMode="auto">
          <a:xfrm>
            <a:off x="265176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Attraction/repulsion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force model</a:t>
            </a:r>
            <a:endParaRPr lang="en-US" sz="1100"/>
          </a:p>
        </p:txBody>
      </p:sp>
      <p:sp>
        <p:nvSpPr>
          <p:cNvPr id="1392881472" name="Shape 22"/>
          <p:cNvSpPr/>
          <p:nvPr/>
        </p:nvSpPr>
        <p:spPr bwMode="auto">
          <a:xfrm>
            <a:off x="4709160" y="1051560"/>
            <a:ext cx="4114800" cy="182880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0813762" name="Shape 23"/>
          <p:cNvSpPr/>
          <p:nvPr/>
        </p:nvSpPr>
        <p:spPr bwMode="auto"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4015784" name="Shape 24"/>
          <p:cNvSpPr/>
          <p:nvPr/>
        </p:nvSpPr>
        <p:spPr bwMode="auto">
          <a:xfrm>
            <a:off x="4663440" y="1005840"/>
            <a:ext cx="41148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96414672" name="Text 25"/>
          <p:cNvSpPr/>
          <p:nvPr/>
        </p:nvSpPr>
        <p:spPr bwMode="auto">
          <a:xfrm>
            <a:off x="4773168" y="1097280"/>
            <a:ext cx="38953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Focus Areas</a:t>
            </a:r>
            <a:endParaRPr lang="en-US" sz="1400"/>
          </a:p>
        </p:txBody>
      </p:sp>
      <p:sp>
        <p:nvSpPr>
          <p:cNvPr id="736922541" name="Text 26"/>
          <p:cNvSpPr/>
          <p:nvPr/>
        </p:nvSpPr>
        <p:spPr bwMode="auto">
          <a:xfrm>
            <a:off x="4773168" y="1508759"/>
            <a:ext cx="3895343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Optimal path computation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Obstacle avoidance in structured environments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Primarily offline/pre-planned navigation</a:t>
            </a:r>
            <a:endParaRPr lang="en-US" sz="1600"/>
          </a:p>
        </p:txBody>
      </p:sp>
      <p:sp>
        <p:nvSpPr>
          <p:cNvPr id="1860091865" name="Shape 27"/>
          <p:cNvSpPr/>
          <p:nvPr/>
        </p:nvSpPr>
        <p:spPr bwMode="auto">
          <a:xfrm>
            <a:off x="4709160" y="3063240"/>
            <a:ext cx="4114800" cy="164592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91182744" name="Shape 28"/>
          <p:cNvSpPr/>
          <p:nvPr/>
        </p:nvSpPr>
        <p:spPr bwMode="auto">
          <a:xfrm>
            <a:off x="4663440" y="3017519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29104375" name="Shape 29"/>
          <p:cNvSpPr/>
          <p:nvPr/>
        </p:nvSpPr>
        <p:spPr bwMode="auto">
          <a:xfrm>
            <a:off x="4663440" y="3017519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30607753" name="Text 30"/>
          <p:cNvSpPr/>
          <p:nvPr/>
        </p:nvSpPr>
        <p:spPr bwMode="auto">
          <a:xfrm>
            <a:off x="4773168" y="3108960"/>
            <a:ext cx="38953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Key Limitation</a:t>
            </a:r>
            <a:endParaRPr lang="en-US" sz="1400"/>
          </a:p>
        </p:txBody>
      </p:sp>
      <p:sp>
        <p:nvSpPr>
          <p:cNvPr id="1147020424" name="Text 31"/>
          <p:cNvSpPr/>
          <p:nvPr/>
        </p:nvSpPr>
        <p:spPr bwMode="auto">
          <a:xfrm>
            <a:off x="4773168" y="3520440"/>
            <a:ext cx="3895343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Requires structured, numeric input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 natural language understanding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Cannot interpret operator intent directly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Slide 9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102896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7588886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13750646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04126894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Learning-based Approaches</a:t>
            </a:r>
            <a:endParaRPr lang="en-US" sz="2600"/>
          </a:p>
        </p:txBody>
      </p:sp>
      <p:sp>
        <p:nvSpPr>
          <p:cNvPr id="1033718989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43911607" name="Shape 5"/>
          <p:cNvSpPr/>
          <p:nvPr/>
        </p:nvSpPr>
        <p:spPr bwMode="auto">
          <a:xfrm>
            <a:off x="365760" y="105156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3868987" name="Shape 6"/>
          <p:cNvSpPr/>
          <p:nvPr/>
        </p:nvSpPr>
        <p:spPr bwMode="auto">
          <a:xfrm>
            <a:off x="365760" y="1051560"/>
            <a:ext cx="73152" cy="8686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58999857" name="Text 7"/>
          <p:cNvSpPr/>
          <p:nvPr/>
        </p:nvSpPr>
        <p:spPr bwMode="auto">
          <a:xfrm>
            <a:off x="548640" y="1078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Reinforcement Learning</a:t>
            </a:r>
            <a:endParaRPr lang="en-US" sz="1400"/>
          </a:p>
        </p:txBody>
      </p:sp>
      <p:sp>
        <p:nvSpPr>
          <p:cNvPr id="687867606" name="Text 8"/>
          <p:cNvSpPr/>
          <p:nvPr/>
        </p:nvSpPr>
        <p:spPr bwMode="auto">
          <a:xfrm>
            <a:off x="548640" y="13990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Agent learns optimal policy through environment interaction and reward signals</a:t>
            </a:r>
            <a:endParaRPr lang="en-US" sz="1250"/>
          </a:p>
        </p:txBody>
      </p:sp>
      <p:sp>
        <p:nvSpPr>
          <p:cNvPr id="33519154" name="Shape 9"/>
          <p:cNvSpPr/>
          <p:nvPr/>
        </p:nvSpPr>
        <p:spPr bwMode="auto">
          <a:xfrm>
            <a:off x="365760" y="20574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22015944" name="Shape 10"/>
          <p:cNvSpPr/>
          <p:nvPr/>
        </p:nvSpPr>
        <p:spPr bwMode="auto">
          <a:xfrm>
            <a:off x="365760" y="2057400"/>
            <a:ext cx="73152" cy="8686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35114518" name="Text 11"/>
          <p:cNvSpPr/>
          <p:nvPr/>
        </p:nvSpPr>
        <p:spPr bwMode="auto">
          <a:xfrm>
            <a:off x="548640" y="20848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Neural Networks</a:t>
            </a:r>
            <a:endParaRPr lang="en-US" sz="1400"/>
          </a:p>
        </p:txBody>
      </p:sp>
      <p:sp>
        <p:nvSpPr>
          <p:cNvPr id="568715199" name="Text 12"/>
          <p:cNvSpPr/>
          <p:nvPr/>
        </p:nvSpPr>
        <p:spPr bwMode="auto">
          <a:xfrm>
            <a:off x="548640" y="24048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learning models for pattern recognition and decision-making in navigation</a:t>
            </a:r>
            <a:endParaRPr lang="en-US" sz="1250"/>
          </a:p>
        </p:txBody>
      </p:sp>
      <p:sp>
        <p:nvSpPr>
          <p:cNvPr id="983765737" name="Shape 13"/>
          <p:cNvSpPr/>
          <p:nvPr/>
        </p:nvSpPr>
        <p:spPr bwMode="auto">
          <a:xfrm>
            <a:off x="365760" y="306324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87802849" name="Shape 14"/>
          <p:cNvSpPr/>
          <p:nvPr/>
        </p:nvSpPr>
        <p:spPr bwMode="auto">
          <a:xfrm>
            <a:off x="365760" y="3063240"/>
            <a:ext cx="73152" cy="8686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65284308" name="Text 15"/>
          <p:cNvSpPr/>
          <p:nvPr/>
        </p:nvSpPr>
        <p:spPr bwMode="auto">
          <a:xfrm>
            <a:off x="548640" y="3090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Multi-Agent UAV Systems</a:t>
            </a:r>
            <a:endParaRPr lang="en-US" sz="1400"/>
          </a:p>
        </p:txBody>
      </p:sp>
      <p:sp>
        <p:nvSpPr>
          <p:cNvPr id="1315357467" name="Text 16"/>
          <p:cNvSpPr/>
          <p:nvPr/>
        </p:nvSpPr>
        <p:spPr bwMode="auto">
          <a:xfrm>
            <a:off x="548640" y="34107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Coordinated learning across multiple UAV agents for complex missions</a:t>
            </a:r>
            <a:endParaRPr lang="en-US" sz="1250"/>
          </a:p>
        </p:txBody>
      </p:sp>
      <p:sp>
        <p:nvSpPr>
          <p:cNvPr id="73872522" name="Shape 17"/>
          <p:cNvSpPr/>
          <p:nvPr/>
        </p:nvSpPr>
        <p:spPr bwMode="auto">
          <a:xfrm>
            <a:off x="6080760" y="1097280"/>
            <a:ext cx="2743200" cy="137160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380751301" name="Shape 18"/>
          <p:cNvSpPr/>
          <p:nvPr/>
        </p:nvSpPr>
        <p:spPr bwMode="auto">
          <a:xfrm>
            <a:off x="6035039" y="1051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73612752" name="Shape 19"/>
          <p:cNvSpPr/>
          <p:nvPr/>
        </p:nvSpPr>
        <p:spPr bwMode="auto">
          <a:xfrm>
            <a:off x="6035039" y="1051560"/>
            <a:ext cx="274320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89437990" name="Text 20"/>
          <p:cNvSpPr/>
          <p:nvPr/>
        </p:nvSpPr>
        <p:spPr bwMode="auto">
          <a:xfrm>
            <a:off x="6144768" y="11430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6B3C"/>
                </a:solidFill>
                <a:latin typeface="Calibri"/>
                <a:ea typeface="Calibri"/>
                <a:cs typeface="Calibri"/>
              </a:rPr>
              <a:t>✅  Advantage</a:t>
            </a:r>
            <a:endParaRPr lang="en-US" sz="1400"/>
          </a:p>
        </p:txBody>
      </p:sp>
      <p:sp>
        <p:nvSpPr>
          <p:cNvPr id="1229208182" name="Text 21"/>
          <p:cNvSpPr/>
          <p:nvPr/>
        </p:nvSpPr>
        <p:spPr bwMode="auto">
          <a:xfrm>
            <a:off x="6144768" y="1456182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Adaptive behavior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Handles dynamic environments</a:t>
            </a:r>
            <a:endParaRPr lang="en-US" sz="1600"/>
          </a:p>
        </p:txBody>
      </p:sp>
      <p:sp>
        <p:nvSpPr>
          <p:cNvPr id="1785988571" name="Shape 22"/>
          <p:cNvSpPr/>
          <p:nvPr/>
        </p:nvSpPr>
        <p:spPr bwMode="auto">
          <a:xfrm>
            <a:off x="6080760" y="2651760"/>
            <a:ext cx="2743200" cy="141732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97126296" name="Shape 23"/>
          <p:cNvSpPr/>
          <p:nvPr/>
        </p:nvSpPr>
        <p:spPr bwMode="auto">
          <a:xfrm>
            <a:off x="6035039" y="2606040"/>
            <a:ext cx="2743200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74817467" name="Shape 24"/>
          <p:cNvSpPr/>
          <p:nvPr/>
        </p:nvSpPr>
        <p:spPr bwMode="auto">
          <a:xfrm>
            <a:off x="6035039" y="260604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18844300" name="Text 25"/>
          <p:cNvSpPr/>
          <p:nvPr/>
        </p:nvSpPr>
        <p:spPr bwMode="auto">
          <a:xfrm>
            <a:off x="6144768" y="26974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❌  Limitation</a:t>
            </a:r>
            <a:endParaRPr lang="en-US" sz="1400"/>
          </a:p>
        </p:txBody>
      </p:sp>
      <p:sp>
        <p:nvSpPr>
          <p:cNvPr id="301702963" name="Text 26"/>
          <p:cNvSpPr/>
          <p:nvPr/>
        </p:nvSpPr>
        <p:spPr bwMode="auto">
          <a:xfrm>
            <a:off x="6144768" y="306324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 natural language understanding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Cannot interpret mission intent</a:t>
            </a:r>
            <a:endParaRPr lang="en-US" sz="1600"/>
          </a:p>
        </p:txBody>
      </p:sp>
      <p:sp>
        <p:nvSpPr>
          <p:cNvPr id="753566880" name="Text 27"/>
          <p:cNvSpPr/>
          <p:nvPr/>
        </p:nvSpPr>
        <p:spPr bwMode="auto">
          <a:xfrm>
            <a:off x="6035039" y="41833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7F8C8D"/>
                </a:solidFill>
                <a:latin typeface="Segoe UI Symbol"/>
                <a:ea typeface="Segoe UI Symbol"/>
                <a:cs typeface="Segoe UI Symbol"/>
              </a:rPr>
              <a:t>⬇</a:t>
            </a:r>
            <a:endParaRPr lang="en-US" sz="1800"/>
          </a:p>
        </p:txBody>
      </p:sp>
      <p:sp>
        <p:nvSpPr>
          <p:cNvPr id="1029177540" name="Text 28"/>
          <p:cNvSpPr/>
          <p:nvPr/>
        </p:nvSpPr>
        <p:spPr bwMode="auto">
          <a:xfrm>
            <a:off x="57607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Need: Language understanding layer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Slide 10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544255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15621533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114353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46924433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Natural Language Interfaces for UAVs</a:t>
            </a:r>
            <a:endParaRPr lang="en-US" sz="2600"/>
          </a:p>
        </p:txBody>
      </p:sp>
      <p:sp>
        <p:nvSpPr>
          <p:cNvPr id="1816700395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13832257" name="Shape 5"/>
          <p:cNvSpPr/>
          <p:nvPr/>
        </p:nvSpPr>
        <p:spPr bwMode="auto">
          <a:xfrm>
            <a:off x="411480" y="1097280"/>
            <a:ext cx="4023360" cy="173736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610963321" name="Shape 6"/>
          <p:cNvSpPr/>
          <p:nvPr/>
        </p:nvSpPr>
        <p:spPr bwMode="auto">
          <a:xfrm>
            <a:off x="365760" y="10515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56809648" name="Shape 7"/>
          <p:cNvSpPr/>
          <p:nvPr/>
        </p:nvSpPr>
        <p:spPr bwMode="auto">
          <a:xfrm>
            <a:off x="365760" y="1051560"/>
            <a:ext cx="40233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31929888" name="Text 8"/>
          <p:cNvSpPr/>
          <p:nvPr/>
        </p:nvSpPr>
        <p:spPr bwMode="auto">
          <a:xfrm>
            <a:off x="475488" y="114300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Rule-based Systems</a:t>
            </a:r>
            <a:endParaRPr lang="en-US" sz="1400"/>
          </a:p>
        </p:txBody>
      </p:sp>
      <p:sp>
        <p:nvSpPr>
          <p:cNvPr id="247931504" name="Text 9"/>
          <p:cNvSpPr/>
          <p:nvPr/>
        </p:nvSpPr>
        <p:spPr bwMode="auto">
          <a:xfrm>
            <a:off x="475488" y="1554480"/>
            <a:ext cx="38039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Predefined command-response mappings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Keywords trigger specific actions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Simple and fast for known commands</a:t>
            </a:r>
            <a:endParaRPr lang="en-US" sz="1600"/>
          </a:p>
        </p:txBody>
      </p:sp>
      <p:sp>
        <p:nvSpPr>
          <p:cNvPr id="2067173402" name="Shape 10"/>
          <p:cNvSpPr/>
          <p:nvPr/>
        </p:nvSpPr>
        <p:spPr bwMode="auto">
          <a:xfrm>
            <a:off x="4800600" y="1097280"/>
            <a:ext cx="4023360" cy="173736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218066015" name="Shape 11"/>
          <p:cNvSpPr/>
          <p:nvPr/>
        </p:nvSpPr>
        <p:spPr bwMode="auto">
          <a:xfrm>
            <a:off x="4754880" y="10515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98681550" name="Shape 12"/>
          <p:cNvSpPr/>
          <p:nvPr/>
        </p:nvSpPr>
        <p:spPr bwMode="auto">
          <a:xfrm>
            <a:off x="4754880" y="1051560"/>
            <a:ext cx="40233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63493750" name="Text 13"/>
          <p:cNvSpPr/>
          <p:nvPr/>
        </p:nvSpPr>
        <p:spPr bwMode="auto">
          <a:xfrm>
            <a:off x="4864607" y="114300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Voice Command Systems</a:t>
            </a:r>
            <a:endParaRPr lang="en-US" sz="1400"/>
          </a:p>
        </p:txBody>
      </p:sp>
      <p:sp>
        <p:nvSpPr>
          <p:cNvPr id="495821566" name="Text 14"/>
          <p:cNvSpPr/>
          <p:nvPr/>
        </p:nvSpPr>
        <p:spPr bwMode="auto">
          <a:xfrm>
            <a:off x="4864607" y="1554480"/>
            <a:ext cx="38039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Speech-to-text with intent parsing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Used in consumer drones (e.g. DJI Mavic)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Real-time interaction capability</a:t>
            </a:r>
            <a:endParaRPr lang="en-US" sz="1600"/>
          </a:p>
        </p:txBody>
      </p:sp>
      <p:sp>
        <p:nvSpPr>
          <p:cNvPr id="775955639" name="Shape 15"/>
          <p:cNvSpPr/>
          <p:nvPr/>
        </p:nvSpPr>
        <p:spPr bwMode="auto">
          <a:xfrm>
            <a:off x="365760" y="2926080"/>
            <a:ext cx="85039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39918696" name="Text 16"/>
          <p:cNvSpPr/>
          <p:nvPr/>
        </p:nvSpPr>
        <p:spPr bwMode="auto">
          <a:xfrm>
            <a:off x="457200" y="2926080"/>
            <a:ext cx="8321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 of Existing NL Interfaces</a:t>
            </a:r>
            <a:endParaRPr lang="en-US" sz="1500"/>
          </a:p>
        </p:txBody>
      </p:sp>
      <p:sp>
        <p:nvSpPr>
          <p:cNvPr id="384385059" name="Text 17"/>
          <p:cNvSpPr/>
          <p:nvPr/>
        </p:nvSpPr>
        <p:spPr bwMode="auto">
          <a:xfrm>
            <a:off x="548640" y="3337560"/>
            <a:ext cx="8321039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Limited vocabulary — only fixed commands supported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Cannot handle complex, multi-step or spatial instructions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 semantic understanding of mission intent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Fails on ambiguous or varied phrasings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Slide 11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783508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97249388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5705769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4011928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LLM-based UAV Systems</a:t>
            </a:r>
            <a:endParaRPr lang="en-US" sz="2600"/>
          </a:p>
        </p:txBody>
      </p:sp>
      <p:sp>
        <p:nvSpPr>
          <p:cNvPr id="837490401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0467908" name="Text 5"/>
          <p:cNvSpPr/>
          <p:nvPr/>
        </p:nvSpPr>
        <p:spPr bwMode="auto">
          <a:xfrm>
            <a:off x="365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Processing Pipeline:</a:t>
            </a:r>
            <a:endParaRPr lang="en-US" sz="1500"/>
          </a:p>
        </p:txBody>
      </p:sp>
      <p:sp>
        <p:nvSpPr>
          <p:cNvPr id="1380532509" name="Shape 6"/>
          <p:cNvSpPr/>
          <p:nvPr/>
        </p:nvSpPr>
        <p:spPr bwMode="auto">
          <a:xfrm>
            <a:off x="365760" y="1463040"/>
            <a:ext cx="18288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3300876" name="Text 7"/>
          <p:cNvSpPr/>
          <p:nvPr/>
        </p:nvSpPr>
        <p:spPr bwMode="auto">
          <a:xfrm>
            <a:off x="365760" y="14630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Natural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Language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</a:t>
            </a:r>
            <a:endParaRPr lang="en-US" sz="1300"/>
          </a:p>
        </p:txBody>
      </p:sp>
      <p:sp>
        <p:nvSpPr>
          <p:cNvPr id="77150198" name="Text 8"/>
          <p:cNvSpPr/>
          <p:nvPr/>
        </p:nvSpPr>
        <p:spPr bwMode="auto">
          <a:xfrm>
            <a:off x="2194560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3A9BD5"/>
                </a:solidFill>
                <a:latin typeface="Segoe UI Symbol"/>
                <a:ea typeface="Segoe UI Symbol"/>
                <a:cs typeface="Segoe UI Symbol"/>
              </a:rPr>
              <a:t>▶</a:t>
            </a:r>
            <a:endParaRPr lang="en-US" sz="2000"/>
          </a:p>
        </p:txBody>
      </p:sp>
      <p:sp>
        <p:nvSpPr>
          <p:cNvPr id="1197472218" name="Shape 9"/>
          <p:cNvSpPr/>
          <p:nvPr/>
        </p:nvSpPr>
        <p:spPr bwMode="auto">
          <a:xfrm>
            <a:off x="2560320" y="1463040"/>
            <a:ext cx="1828800" cy="13716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01218620" name="Text 10"/>
          <p:cNvSpPr/>
          <p:nvPr/>
        </p:nvSpPr>
        <p:spPr bwMode="auto">
          <a:xfrm>
            <a:off x="2560320" y="14630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Large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Language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lang="en-US" sz="1300"/>
          </a:p>
        </p:txBody>
      </p:sp>
      <p:sp>
        <p:nvSpPr>
          <p:cNvPr id="1592820670" name="Text 11"/>
          <p:cNvSpPr/>
          <p:nvPr/>
        </p:nvSpPr>
        <p:spPr bwMode="auto">
          <a:xfrm>
            <a:off x="4389120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3A9BD5"/>
                </a:solidFill>
                <a:latin typeface="Segoe UI Symbol"/>
                <a:ea typeface="Segoe UI Symbol"/>
                <a:cs typeface="Segoe UI Symbol"/>
              </a:rPr>
              <a:t>▶</a:t>
            </a:r>
            <a:endParaRPr lang="en-US" sz="2000"/>
          </a:p>
        </p:txBody>
      </p:sp>
      <p:sp>
        <p:nvSpPr>
          <p:cNvPr id="487913614" name="Shape 12"/>
          <p:cNvSpPr/>
          <p:nvPr/>
        </p:nvSpPr>
        <p:spPr bwMode="auto">
          <a:xfrm>
            <a:off x="4754880" y="1463040"/>
            <a:ext cx="1828800" cy="1371600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252899660" name="Text 13"/>
          <p:cNvSpPr/>
          <p:nvPr/>
        </p:nvSpPr>
        <p:spPr bwMode="auto">
          <a:xfrm>
            <a:off x="4754880" y="14630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Mission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Parameters</a:t>
            </a:r>
            <a:endParaRPr lang="en-US" sz="1300"/>
          </a:p>
        </p:txBody>
      </p:sp>
      <p:sp>
        <p:nvSpPr>
          <p:cNvPr id="1398695256" name="Text 14"/>
          <p:cNvSpPr/>
          <p:nvPr/>
        </p:nvSpPr>
        <p:spPr bwMode="auto">
          <a:xfrm>
            <a:off x="6583680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3A9BD5"/>
                </a:solidFill>
                <a:latin typeface="Segoe UI Symbol"/>
                <a:ea typeface="Segoe UI Symbol"/>
                <a:cs typeface="Segoe UI Symbol"/>
              </a:rPr>
              <a:t>▶</a:t>
            </a:r>
            <a:endParaRPr lang="en-US" sz="2000"/>
          </a:p>
        </p:txBody>
      </p:sp>
      <p:sp>
        <p:nvSpPr>
          <p:cNvPr id="1225838921" name="Shape 15"/>
          <p:cNvSpPr/>
          <p:nvPr/>
        </p:nvSpPr>
        <p:spPr bwMode="auto">
          <a:xfrm>
            <a:off x="6949440" y="1463040"/>
            <a:ext cx="1828800" cy="13716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42339885" name="Text 16"/>
          <p:cNvSpPr/>
          <p:nvPr/>
        </p:nvSpPr>
        <p:spPr bwMode="auto">
          <a:xfrm>
            <a:off x="6949440" y="14630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UAV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Flight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</a:t>
            </a:r>
            <a:endParaRPr lang="en-US" sz="1300"/>
          </a:p>
        </p:txBody>
      </p:sp>
      <p:sp>
        <p:nvSpPr>
          <p:cNvPr id="347938059" name="Shape 17"/>
          <p:cNvSpPr/>
          <p:nvPr/>
        </p:nvSpPr>
        <p:spPr bwMode="auto">
          <a:xfrm>
            <a:off x="411480" y="3108960"/>
            <a:ext cx="4023360" cy="173736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130497258" name="Shape 18"/>
          <p:cNvSpPr/>
          <p:nvPr/>
        </p:nvSpPr>
        <p:spPr bwMode="auto">
          <a:xfrm>
            <a:off x="365760" y="30632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19130343" name="Shape 19"/>
          <p:cNvSpPr/>
          <p:nvPr/>
        </p:nvSpPr>
        <p:spPr bwMode="auto">
          <a:xfrm>
            <a:off x="365760" y="3063240"/>
            <a:ext cx="402336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77371635" name="Text 20"/>
          <p:cNvSpPr/>
          <p:nvPr/>
        </p:nvSpPr>
        <p:spPr bwMode="auto">
          <a:xfrm>
            <a:off x="475488" y="315468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6B3C"/>
                </a:solidFill>
                <a:latin typeface="Calibri"/>
                <a:ea typeface="Calibri"/>
                <a:cs typeface="Calibri"/>
              </a:rPr>
              <a:t>Advantages</a:t>
            </a:r>
            <a:endParaRPr lang="en-US" sz="1400"/>
          </a:p>
        </p:txBody>
      </p:sp>
      <p:sp>
        <p:nvSpPr>
          <p:cNvPr id="588110511" name="Text 21"/>
          <p:cNvSpPr/>
          <p:nvPr/>
        </p:nvSpPr>
        <p:spPr bwMode="auto">
          <a:xfrm>
            <a:off x="443484" y="3429000"/>
            <a:ext cx="418795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Handles free-form, varied natural language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Flexible — no fixed command vocabulary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Context-aware interpretation of mission goals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Rapidly improving with foundation model advances</a:t>
            </a:r>
            <a:endParaRPr lang="en-US" sz="1400"/>
          </a:p>
        </p:txBody>
      </p:sp>
      <p:sp>
        <p:nvSpPr>
          <p:cNvPr id="1506820605" name="Shape 22"/>
          <p:cNvSpPr/>
          <p:nvPr/>
        </p:nvSpPr>
        <p:spPr bwMode="auto">
          <a:xfrm>
            <a:off x="4709160" y="3108960"/>
            <a:ext cx="4114800" cy="173736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765714105" name="Shape 23"/>
          <p:cNvSpPr/>
          <p:nvPr/>
        </p:nvSpPr>
        <p:spPr bwMode="auto">
          <a:xfrm>
            <a:off x="466344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2896215" name="Shape 24"/>
          <p:cNvSpPr/>
          <p:nvPr/>
        </p:nvSpPr>
        <p:spPr bwMode="auto">
          <a:xfrm>
            <a:off x="4663440" y="3063240"/>
            <a:ext cx="41148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58727371" name="Text 25"/>
          <p:cNvSpPr/>
          <p:nvPr/>
        </p:nvSpPr>
        <p:spPr bwMode="auto">
          <a:xfrm>
            <a:off x="4773168" y="3154680"/>
            <a:ext cx="38953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Notable Systems</a:t>
            </a:r>
            <a:endParaRPr lang="en-US" sz="1400"/>
          </a:p>
        </p:txBody>
      </p:sp>
      <p:sp>
        <p:nvSpPr>
          <p:cNvPr id="789146069" name="Text 26"/>
          <p:cNvSpPr/>
          <p:nvPr/>
        </p:nvSpPr>
        <p:spPr bwMode="auto">
          <a:xfrm>
            <a:off x="4773168" y="3566160"/>
            <a:ext cx="3895343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ChatGPT-based drone controllers (GPT-4)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Code-as-plans (inner monologue) systems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Multi-modal robot command interfaces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Foundation model-driven path executors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62795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67073358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28057355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43708750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 of Existing Work</a:t>
            </a:r>
            <a:endParaRPr lang="en-US" sz="2600"/>
          </a:p>
        </p:txBody>
      </p:sp>
      <p:sp>
        <p:nvSpPr>
          <p:cNvPr id="438606307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8611376" name="Shape 5"/>
          <p:cNvSpPr/>
          <p:nvPr/>
        </p:nvSpPr>
        <p:spPr bwMode="auto">
          <a:xfrm>
            <a:off x="320040" y="105156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</p:spPr>
      </p:sp>
      <p:sp>
        <p:nvSpPr>
          <p:cNvPr id="1860826421" name="Shape 6"/>
          <p:cNvSpPr/>
          <p:nvPr/>
        </p:nvSpPr>
        <p:spPr bwMode="auto">
          <a:xfrm>
            <a:off x="320040" y="1051560"/>
            <a:ext cx="4251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48291001" name="Text 7"/>
          <p:cNvSpPr/>
          <p:nvPr/>
        </p:nvSpPr>
        <p:spPr bwMode="auto">
          <a:xfrm>
            <a:off x="411480" y="116128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☁</a:t>
            </a:r>
            <a:endParaRPr lang="en-US" sz="2600"/>
          </a:p>
        </p:txBody>
      </p:sp>
      <p:sp>
        <p:nvSpPr>
          <p:cNvPr id="1200181342" name="Text 8"/>
          <p:cNvSpPr/>
          <p:nvPr/>
        </p:nvSpPr>
        <p:spPr bwMode="auto">
          <a:xfrm>
            <a:off x="1069848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Cloud Dependency</a:t>
            </a:r>
            <a:endParaRPr lang="en-US" sz="1350"/>
          </a:p>
        </p:txBody>
      </p:sp>
      <p:sp>
        <p:nvSpPr>
          <p:cNvPr id="938245993" name="Text 9"/>
          <p:cNvSpPr/>
          <p:nvPr/>
        </p:nvSpPr>
        <p:spPr bwMode="auto">
          <a:xfrm>
            <a:off x="1069848" y="1508759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 LLM systems require internet and paid APIs — not deployable offline</a:t>
            </a:r>
            <a:endParaRPr lang="en-US" sz="1200"/>
          </a:p>
        </p:txBody>
      </p:sp>
      <p:sp>
        <p:nvSpPr>
          <p:cNvPr id="1966764732" name="Shape 10"/>
          <p:cNvSpPr/>
          <p:nvPr/>
        </p:nvSpPr>
        <p:spPr bwMode="auto">
          <a:xfrm>
            <a:off x="4800600" y="1472184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</p:spPr>
      </p:sp>
      <p:sp>
        <p:nvSpPr>
          <p:cNvPr id="1044871640" name="Shape 11"/>
          <p:cNvSpPr/>
          <p:nvPr/>
        </p:nvSpPr>
        <p:spPr bwMode="auto">
          <a:xfrm>
            <a:off x="4800600" y="1479218"/>
            <a:ext cx="4251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6359945" name="Text 12"/>
          <p:cNvSpPr/>
          <p:nvPr/>
        </p:nvSpPr>
        <p:spPr bwMode="auto">
          <a:xfrm>
            <a:off x="4878323" y="173103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⏳</a:t>
            </a:r>
            <a:endParaRPr lang="en-US" sz="2600"/>
          </a:p>
        </p:txBody>
      </p:sp>
      <p:sp>
        <p:nvSpPr>
          <p:cNvPr id="683254958" name="Text 13"/>
          <p:cNvSpPr/>
          <p:nvPr/>
        </p:nvSpPr>
        <p:spPr bwMode="auto">
          <a:xfrm>
            <a:off x="5569751" y="154287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High Latency</a:t>
            </a:r>
            <a:endParaRPr lang="en-US" sz="1350"/>
          </a:p>
        </p:txBody>
      </p:sp>
      <p:sp>
        <p:nvSpPr>
          <p:cNvPr id="623828931" name="Text 14"/>
          <p:cNvSpPr/>
          <p:nvPr/>
        </p:nvSpPr>
        <p:spPr bwMode="auto">
          <a:xfrm>
            <a:off x="5550408" y="17873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Cloud round-trips introduce delays unsuitable for time-critical UAV tasks</a:t>
            </a:r>
            <a:endParaRPr lang="en-US" sz="1200"/>
          </a:p>
        </p:txBody>
      </p:sp>
      <p:sp>
        <p:nvSpPr>
          <p:cNvPr id="1288125345" name="Shape 15"/>
          <p:cNvSpPr/>
          <p:nvPr/>
        </p:nvSpPr>
        <p:spPr bwMode="auto">
          <a:xfrm>
            <a:off x="320040" y="228600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</p:spPr>
      </p:sp>
      <p:sp>
        <p:nvSpPr>
          <p:cNvPr id="458330528" name="Shape 16"/>
          <p:cNvSpPr/>
          <p:nvPr/>
        </p:nvSpPr>
        <p:spPr bwMode="auto">
          <a:xfrm>
            <a:off x="320040" y="2286000"/>
            <a:ext cx="4251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96533354" name="Text 17"/>
          <p:cNvSpPr/>
          <p:nvPr/>
        </p:nvSpPr>
        <p:spPr bwMode="auto">
          <a:xfrm>
            <a:off x="411480" y="239572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🔬</a:t>
            </a:r>
            <a:endParaRPr lang="en-US" sz="2600"/>
          </a:p>
        </p:txBody>
      </p:sp>
      <p:sp>
        <p:nvSpPr>
          <p:cNvPr id="97606273" name="Text 18"/>
          <p:cNvSpPr/>
          <p:nvPr/>
        </p:nvSpPr>
        <p:spPr bwMode="auto">
          <a:xfrm>
            <a:off x="1069848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Limited Real-world Validation</a:t>
            </a:r>
            <a:endParaRPr lang="en-US" sz="1350"/>
          </a:p>
        </p:txBody>
      </p:sp>
      <p:sp>
        <p:nvSpPr>
          <p:cNvPr id="1705423440" name="Text 19"/>
          <p:cNvSpPr/>
          <p:nvPr/>
        </p:nvSpPr>
        <p:spPr bwMode="auto">
          <a:xfrm>
            <a:off x="1069848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Mostly simulation-only; minimal testing on actual UAV hardware</a:t>
            </a:r>
            <a:endParaRPr lang="en-US" sz="1200"/>
          </a:p>
        </p:txBody>
      </p:sp>
      <p:sp>
        <p:nvSpPr>
          <p:cNvPr id="837513952" name="Shape 20"/>
          <p:cNvSpPr/>
          <p:nvPr/>
        </p:nvSpPr>
        <p:spPr bwMode="auto">
          <a:xfrm>
            <a:off x="4800600" y="306324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</p:spPr>
      </p:sp>
      <p:sp>
        <p:nvSpPr>
          <p:cNvPr id="1083599905" name="Shape 21"/>
          <p:cNvSpPr/>
          <p:nvPr/>
        </p:nvSpPr>
        <p:spPr bwMode="auto">
          <a:xfrm>
            <a:off x="4800600" y="3069922"/>
            <a:ext cx="4251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9562856" name="Text 22"/>
          <p:cNvSpPr/>
          <p:nvPr/>
        </p:nvSpPr>
        <p:spPr bwMode="auto">
          <a:xfrm>
            <a:off x="4905755" y="3163824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🎮</a:t>
            </a:r>
            <a:endParaRPr lang="en-US" sz="2600"/>
          </a:p>
        </p:txBody>
      </p:sp>
      <p:sp>
        <p:nvSpPr>
          <p:cNvPr id="1113857177" name="Text 23"/>
          <p:cNvSpPr/>
          <p:nvPr/>
        </p:nvSpPr>
        <p:spPr bwMode="auto">
          <a:xfrm>
            <a:off x="5569751" y="3127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Control vs Planning Focus</a:t>
            </a:r>
            <a:endParaRPr lang="en-US" sz="1350"/>
          </a:p>
        </p:txBody>
      </p:sp>
      <p:sp>
        <p:nvSpPr>
          <p:cNvPr id="319036262" name="Text 24"/>
          <p:cNvSpPr/>
          <p:nvPr/>
        </p:nvSpPr>
        <p:spPr bwMode="auto">
          <a:xfrm>
            <a:off x="5550408" y="3421263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Prior work focuses on low-level control rather than high-level mission planning</a:t>
            </a:r>
            <a:endParaRPr lang="en-US" sz="1200"/>
          </a:p>
        </p:txBody>
      </p:sp>
      <p:sp>
        <p:nvSpPr>
          <p:cNvPr id="1934047555" name="Shape 25"/>
          <p:cNvSpPr/>
          <p:nvPr/>
        </p:nvSpPr>
        <p:spPr bwMode="auto">
          <a:xfrm>
            <a:off x="320040" y="352044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</p:spPr>
      </p:sp>
      <p:sp>
        <p:nvSpPr>
          <p:cNvPr id="885944668" name="Shape 26"/>
          <p:cNvSpPr/>
          <p:nvPr/>
        </p:nvSpPr>
        <p:spPr bwMode="auto">
          <a:xfrm>
            <a:off x="320040" y="3520440"/>
            <a:ext cx="4251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41963889" name="Text 27"/>
          <p:cNvSpPr/>
          <p:nvPr/>
        </p:nvSpPr>
        <p:spPr bwMode="auto">
          <a:xfrm>
            <a:off x="411480" y="363016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📡</a:t>
            </a:r>
            <a:endParaRPr lang="en-US" sz="2600"/>
          </a:p>
        </p:txBody>
      </p:sp>
      <p:sp>
        <p:nvSpPr>
          <p:cNvPr id="1203442382" name="Text 28"/>
          <p:cNvSpPr/>
          <p:nvPr/>
        </p:nvSpPr>
        <p:spPr bwMode="auto">
          <a:xfrm>
            <a:off x="1069848" y="3611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No MAVLink Integration</a:t>
            </a:r>
            <a:endParaRPr lang="en-US" sz="1350"/>
          </a:p>
        </p:txBody>
      </p:sp>
      <p:sp>
        <p:nvSpPr>
          <p:cNvPr id="1972845588" name="Text 29"/>
          <p:cNvSpPr/>
          <p:nvPr/>
        </p:nvSpPr>
        <p:spPr bwMode="auto">
          <a:xfrm>
            <a:off x="1069848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Lack of direct interface with ArduPilot / MAVLink autopilot stack</a:t>
            </a:r>
            <a:endParaRPr lang="en-US" sz="1200"/>
          </a:p>
        </p:txBody>
      </p:sp>
      <p:sp>
        <p:nvSpPr>
          <p:cNvPr id="1184264355" name="Shape 35"/>
          <p:cNvSpPr/>
          <p:nvPr/>
        </p:nvSpPr>
        <p:spPr bwMode="auto">
          <a:xfrm>
            <a:off x="320040" y="4709160"/>
            <a:ext cx="850392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481768" name="Shape 0"/>
          <p:cNvSpPr/>
          <p:nvPr/>
        </p:nvSpPr>
        <p:spPr bwMode="auto">
          <a:xfrm>
            <a:off x="0" y="0"/>
            <a:ext cx="20116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97921812" name="Shape 1"/>
          <p:cNvSpPr/>
          <p:nvPr/>
        </p:nvSpPr>
        <p:spPr bwMode="auto">
          <a:xfrm>
            <a:off x="201168" y="0"/>
            <a:ext cx="8942832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2812507" name="Shape 2"/>
          <p:cNvSpPr/>
          <p:nvPr/>
        </p:nvSpPr>
        <p:spPr bwMode="auto">
          <a:xfrm>
            <a:off x="201168" y="109728"/>
            <a:ext cx="894283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64174038" name="Text 3"/>
          <p:cNvSpPr/>
          <p:nvPr/>
        </p:nvSpPr>
        <p:spPr bwMode="auto">
          <a:xfrm>
            <a:off x="411480" y="10972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Scope</a:t>
            </a:r>
            <a:endParaRPr lang="en-US" sz="2600"/>
          </a:p>
        </p:txBody>
      </p:sp>
      <p:sp>
        <p:nvSpPr>
          <p:cNvPr id="2116693425" name="Shape 4"/>
          <p:cNvSpPr/>
          <p:nvPr/>
        </p:nvSpPr>
        <p:spPr bwMode="auto">
          <a:xfrm>
            <a:off x="201168" y="4892039"/>
            <a:ext cx="8942832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2393294" name="Shape 5"/>
          <p:cNvSpPr/>
          <p:nvPr/>
        </p:nvSpPr>
        <p:spPr bwMode="auto">
          <a:xfrm>
            <a:off x="411480" y="1097280"/>
            <a:ext cx="4114800" cy="347472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885972508" name="Shape 6"/>
          <p:cNvSpPr/>
          <p:nvPr/>
        </p:nvSpPr>
        <p:spPr bwMode="auto">
          <a:xfrm>
            <a:off x="36576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4713150" name="Shape 7"/>
          <p:cNvSpPr/>
          <p:nvPr/>
        </p:nvSpPr>
        <p:spPr bwMode="auto">
          <a:xfrm>
            <a:off x="365760" y="1051560"/>
            <a:ext cx="411480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91691557" name="Text 8"/>
          <p:cNvSpPr/>
          <p:nvPr/>
        </p:nvSpPr>
        <p:spPr bwMode="auto">
          <a:xfrm>
            <a:off x="475488" y="1143000"/>
            <a:ext cx="38953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6B3C"/>
                </a:solidFill>
                <a:latin typeface="Calibri"/>
                <a:ea typeface="Calibri"/>
                <a:cs typeface="Calibri"/>
              </a:rPr>
              <a:t>✅  In Scope</a:t>
            </a:r>
            <a:endParaRPr lang="en-US" sz="1400"/>
          </a:p>
        </p:txBody>
      </p:sp>
      <p:sp>
        <p:nvSpPr>
          <p:cNvPr id="757718847" name="Text 9"/>
          <p:cNvSpPr/>
          <p:nvPr/>
        </p:nvSpPr>
        <p:spPr bwMode="auto">
          <a:xfrm>
            <a:off x="475488" y="1554480"/>
            <a:ext cx="3895343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Focus on mission-level planning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Grid and waypoint mission types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ArduPilot / MAVLink integration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Simulation-based validation</a:t>
            </a:r>
            <a:endParaRPr lang="en-US" sz="1600"/>
          </a:p>
        </p:txBody>
      </p:sp>
      <p:sp>
        <p:nvSpPr>
          <p:cNvPr id="85303565" name="Shape 10"/>
          <p:cNvSpPr/>
          <p:nvPr/>
        </p:nvSpPr>
        <p:spPr bwMode="auto">
          <a:xfrm>
            <a:off x="4709160" y="1097280"/>
            <a:ext cx="4114800" cy="347472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471976610" name="Shape 11"/>
          <p:cNvSpPr/>
          <p:nvPr/>
        </p:nvSpPr>
        <p:spPr bwMode="auto">
          <a:xfrm>
            <a:off x="466344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44985355" name="Shape 12"/>
          <p:cNvSpPr/>
          <p:nvPr/>
        </p:nvSpPr>
        <p:spPr bwMode="auto">
          <a:xfrm>
            <a:off x="4663440" y="105156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75405534" name="Text 13"/>
          <p:cNvSpPr/>
          <p:nvPr/>
        </p:nvSpPr>
        <p:spPr bwMode="auto">
          <a:xfrm>
            <a:off x="4773168" y="1143000"/>
            <a:ext cx="38953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🚫  Out of Scope</a:t>
            </a:r>
            <a:endParaRPr lang="en-US" sz="1400"/>
          </a:p>
        </p:txBody>
      </p:sp>
      <p:sp>
        <p:nvSpPr>
          <p:cNvPr id="211132601" name="Text 14"/>
          <p:cNvSpPr/>
          <p:nvPr/>
        </p:nvSpPr>
        <p:spPr bwMode="auto">
          <a:xfrm>
            <a:off x="4773168" y="1554480"/>
            <a:ext cx="3895343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Obstacle avoidance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Real-time mission replanning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Multi-UAV coordination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Computer vision integration</a:t>
            </a:r>
            <a:endParaRPr lang="en-US" sz="16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Hardware-level control loops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757140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9419082" name="Text 1"/>
          <p:cNvSpPr/>
          <p:nvPr/>
        </p:nvSpPr>
        <p:spPr bwMode="auto"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</a:rPr>
              <a:t>References</a:t>
            </a:r>
            <a:endParaRPr lang="en-US" sz="2400"/>
          </a:p>
        </p:txBody>
      </p:sp>
      <p:sp>
        <p:nvSpPr>
          <p:cNvPr id="101805901" name=""/>
          <p:cNvSpPr txBox="1"/>
          <p:nvPr/>
        </p:nvSpPr>
        <p:spPr bwMode="auto">
          <a:xfrm rot="0" flipH="0" flipV="0">
            <a:off x="314355" y="693963"/>
            <a:ext cx="8415190" cy="42980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[1] Phadke, A., et al. (2025). "Integrating Large Language Models for UAV Control in Simulated Environments: A Modular Interaction Approach." Preprint.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[2] Yuan, L., et al. (2025). "Next-Generation LLM for UAV: From Natural Language to Autonomous Flight." arXiv preprint arXiv:2510.21739.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3" tooltip=""/>
              </a:rPr>
              <a:t>https://arxiv.org/abs/2510.21739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[3] MAVLink Developer Guide. "Mission Protocol."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4" tooltip=""/>
              </a:rPr>
              <a:t>https://mavlink.io/en/services/mission.html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[4] Chandarana, M., et al. (2017). "Fly Like This: Natural Language Interfaces for UAV Mission Planning." Robotics Institute, Carnegie Mellon University, Proc. ACHI.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5" tooltip=""/>
              </a:rPr>
              <a:t>https://www.ri.cmu.edu/publications/fly-like-this-natural-language-interfaces-for-uav-mission-planning/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[5] ArduPilot Dev Documentation. "Mission Upload / Download."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6" tooltip=""/>
              </a:rPr>
              <a:t>https://ardupilot.org/dev/docs/mavlink-mission-upload-download.html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[6] ArduPilot Documentation. "MAVLink Mission Command Messages."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7" tooltip=""/>
              </a:rPr>
              <a:t>https://ardupilot.org/planner/docs/common-mavlink-mission-command-messages-mav_cmd.html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[7] ArduPilot Dev Documentation. "Copter Commands in Guided Mode."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8" tooltip=""/>
              </a:rPr>
              <a:t>https://ardupilot.org/dev/docs/copter-commands-in-guided-mode.html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[8] QGroundControl GitHub Repository.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9" tooltip=""/>
              </a:rPr>
              <a:t>https://github.com/mavlink/qgroundcontrol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[9] QGroundControl Developer Documentation. "MAVLink Integration Guide." </a:t>
            </a:r>
            <a:r>
              <a:rPr sz="1200" b="0" i="0" u="sng">
                <a:solidFill>
                  <a:schemeClr val="bg1"/>
                </a:solidFill>
                <a:latin typeface="Liberation Sans"/>
                <a:ea typeface="Liberation Sans"/>
                <a:cs typeface="Liberation Sans"/>
                <a:hlinkClick r:id="rId10" tooltip=""/>
              </a:rPr>
              <a:t>https://docs.qgroundcontrol.com/master/en/qgc-dev-guide/custom_build/mavlink.html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[10] Wang, Z., Li, Y., &amp; Zhang, H. (2024). "Large Language Models for Robotics: Opportunities, Challenges and Future Directions." IEEE Access, vol. 12, pp. 21567-21589.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[11] Huang, W., Xia, F., Wang, T., et al. (2023). "Inner Monologue: Embodied Reasoning through Planning with Language Models." In Proceedings of the Conference on Robot Learning (CoRL).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[12] Driess, D., Xia, F., Sajjadi, M., et al. (2023). "PaLM-E: An Embodied Multimodal Language Model." In Proceedings of the IEEE/CVF Conference on Computer Vision and Pattern Recognition (CVPR).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128348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70337857" name="Shape 1"/>
          <p:cNvSpPr/>
          <p:nvPr/>
        </p:nvSpPr>
        <p:spPr bwMode="auto">
          <a:xfrm>
            <a:off x="0" y="5070347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6367553" name="Shape 2"/>
          <p:cNvSpPr/>
          <p:nvPr/>
        </p:nvSpPr>
        <p:spPr bwMode="auto">
          <a:xfrm>
            <a:off x="0" y="73152"/>
            <a:ext cx="54864" cy="49971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74363933" name="Text 3"/>
          <p:cNvSpPr/>
          <p:nvPr/>
        </p:nvSpPr>
        <p:spPr bwMode="auto">
          <a:xfrm>
            <a:off x="525234" y="188595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200" b="1" spc="799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7200"/>
          </a:p>
        </p:txBody>
      </p:sp>
      <p:sp>
        <p:nvSpPr>
          <p:cNvPr id="1183281899" name="Shape 4"/>
          <p:cNvSpPr/>
          <p:nvPr/>
        </p:nvSpPr>
        <p:spPr bwMode="auto">
          <a:xfrm>
            <a:off x="2286000" y="3326672"/>
            <a:ext cx="45720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PRANAVA: Prompt-driven UAV Mission Planning using AI</dc:title>
  <dc:subject>PptxGenJS Presentation</dc:subject>
  <dc:creator>PptxGenJS</dc:creator>
  <cp:lastModifiedBy/>
  <cp:revision>11</cp:revision>
  <dcterms:created xsi:type="dcterms:W3CDTF">2026-04-22T07:25:01Z</dcterms:created>
  <dcterms:modified xsi:type="dcterms:W3CDTF">2026-06-05T05:16:11Z</dcterms:modified>
</cp:coreProperties>
</file>