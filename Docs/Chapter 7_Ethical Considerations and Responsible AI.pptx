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97" r:id="rId2"/>
    <p:sldId id="259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6" r:id="rId11"/>
    <p:sldId id="307" r:id="rId12"/>
    <p:sldId id="308" r:id="rId13"/>
    <p:sldId id="309" r:id="rId14"/>
    <p:sldId id="305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/>
    <p:restoredTop sz="96341"/>
  </p:normalViewPr>
  <p:slideViewPr>
    <p:cSldViewPr snapToGrid="0" snapToObjects="1">
      <p:cViewPr varScale="1">
        <p:scale>
          <a:sx n="71" d="100"/>
          <a:sy n="71" d="100"/>
        </p:scale>
        <p:origin x="82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91581-8E92-E44A-A74B-28A5F73F6E74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4C718-1634-184A-B15B-1076A029BA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070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C97F-66B7-A548-8208-2383890F43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08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DBC97F-66B7-A548-8208-2383890F431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45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4D64AE-1F9A-C0D7-779B-3FA8D85724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" t="22522" r="93237" b="67413"/>
          <a:stretch/>
        </p:blipFill>
        <p:spPr>
          <a:xfrm>
            <a:off x="11391255" y="39223"/>
            <a:ext cx="800746" cy="83235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4BB84D-79EF-7C7E-8DCD-702ED3200C4B}"/>
              </a:ext>
            </a:extLst>
          </p:cNvPr>
          <p:cNvCxnSpPr>
            <a:cxnSpLocks/>
          </p:cNvCxnSpPr>
          <p:nvPr userDrawn="1"/>
        </p:nvCxnSpPr>
        <p:spPr>
          <a:xfrm>
            <a:off x="0" y="806924"/>
            <a:ext cx="12192000" cy="0"/>
          </a:xfrm>
          <a:prstGeom prst="line">
            <a:avLst/>
          </a:prstGeom>
          <a:ln w="25400">
            <a:gradFill flip="none" rotWithShape="1">
              <a:gsLst>
                <a:gs pos="0">
                  <a:srgbClr val="C00000"/>
                </a:gs>
                <a:gs pos="23000">
                  <a:srgbClr val="C00000"/>
                </a:gs>
                <a:gs pos="68000">
                  <a:schemeClr val="accent2">
                    <a:lumMod val="75000"/>
                  </a:schemeClr>
                </a:gs>
                <a:gs pos="89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C603A86-E025-A1EB-39CE-302EAF4AF52D}"/>
              </a:ext>
            </a:extLst>
          </p:cNvPr>
          <p:cNvGrpSpPr/>
          <p:nvPr userDrawn="1"/>
        </p:nvGrpSpPr>
        <p:grpSpPr>
          <a:xfrm>
            <a:off x="0" y="6557961"/>
            <a:ext cx="12192000" cy="300039"/>
            <a:chOff x="0" y="6557961"/>
            <a:chExt cx="12192000" cy="300039"/>
          </a:xfrm>
        </p:grpSpPr>
        <p:sp>
          <p:nvSpPr>
            <p:cNvPr id="12" name="Round Single Corner of Rectangle 11">
              <a:extLst>
                <a:ext uri="{FF2B5EF4-FFF2-40B4-BE49-F238E27FC236}">
                  <a16:creationId xmlns:a16="http://schemas.microsoft.com/office/drawing/2014/main" id="{ECC200A6-E097-B61A-287D-5C651CFA8C43}"/>
                </a:ext>
              </a:extLst>
            </p:cNvPr>
            <p:cNvSpPr/>
            <p:nvPr/>
          </p:nvSpPr>
          <p:spPr>
            <a:xfrm>
              <a:off x="0" y="6557961"/>
              <a:ext cx="1757363" cy="300038"/>
            </a:xfrm>
            <a:prstGeom prst="round1Rect">
              <a:avLst/>
            </a:prstGeom>
            <a:solidFill>
              <a:schemeClr val="tx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sz="1600" b="1" dirty="0">
                  <a:latin typeface="Century Gothic" panose="020B0502020202020204" pitchFamily="34" charset="0"/>
                </a:rPr>
                <a:t>KLE Tech</a:t>
              </a:r>
            </a:p>
          </p:txBody>
        </p:sp>
        <p:sp>
          <p:nvSpPr>
            <p:cNvPr id="13" name="Round Single Corner of Rectangle 12">
              <a:extLst>
                <a:ext uri="{FF2B5EF4-FFF2-40B4-BE49-F238E27FC236}">
                  <a16:creationId xmlns:a16="http://schemas.microsoft.com/office/drawing/2014/main" id="{9ACCC5BC-5D4D-BBB7-E7BA-715BEF206C1F}"/>
                </a:ext>
              </a:extLst>
            </p:cNvPr>
            <p:cNvSpPr/>
            <p:nvPr/>
          </p:nvSpPr>
          <p:spPr>
            <a:xfrm>
              <a:off x="11658599" y="6557962"/>
              <a:ext cx="533401" cy="300038"/>
            </a:xfrm>
            <a:prstGeom prst="round1Rect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ound Single Corner of Rectangle 13">
            <a:extLst>
              <a:ext uri="{FF2B5EF4-FFF2-40B4-BE49-F238E27FC236}">
                <a16:creationId xmlns:a16="http://schemas.microsoft.com/office/drawing/2014/main" id="{613321D0-6E66-A0F5-1700-1C2DD1E60191}"/>
              </a:ext>
            </a:extLst>
          </p:cNvPr>
          <p:cNvSpPr/>
          <p:nvPr userDrawn="1"/>
        </p:nvSpPr>
        <p:spPr>
          <a:xfrm>
            <a:off x="1757362" y="6557962"/>
            <a:ext cx="9901237" cy="300038"/>
          </a:xfrm>
          <a:prstGeom prst="round1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Century Gothic" panose="020B0502020202020204" pitchFamily="34" charset="0"/>
              </a:rPr>
              <a:t>KLE Technological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1911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8C4FC-D2DC-1A49-AFFD-346144887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95EBE-35AC-1B47-BC51-7F35DF96D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528D1-3445-D241-A1CB-77219392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16E2D-A8F3-E347-BEE9-284EFCF99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E5215-A22A-B948-A966-24751FC26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063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3F83-E6DF-8247-90DB-50784533C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53BC0-E34C-0E41-9A5E-0123E4FE31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83A53-6C62-CF4C-A66A-D294E583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9B0BB-1C00-234D-AAFA-65BDB18BE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49944-32E8-864F-9127-3139725B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7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C6235-BF6C-FC44-BFAB-A7D21F93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C9CBE-E6DF-6444-BBD2-14BA610E46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27AFF7-CBC2-A049-8D93-D10605C10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25980-6DD8-BB46-BE6E-0D8F5979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D3875-1DC9-F842-B3CF-4B11C74D8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BBAF7-9C6E-0749-AD05-76355A65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63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565F-6844-814F-8B21-DE056187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C82A53-FCBE-3747-8361-B97C9BC2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04CAD1-EE93-594E-A9DF-F538577AD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2913A-611A-A545-AB4C-6E53DD34A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48CA0-0DBA-5640-82F1-352D4CEF1E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D73A6C-EC9E-D24E-B48F-48F84951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08E41-A8EF-B740-B35C-C8494B482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1E0B0D-511A-FD49-AA5D-0EC462E4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5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9BF7-E520-FC45-93F4-FA626AA2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5C5E9B-8C39-2F4A-BF3F-E6D25803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FBCCB-32A8-6647-AF09-B1F17DF52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56E20-EA08-D64D-A763-FF65322C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229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853D8B-09E3-B544-A222-645F6FB2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539B4-2DA9-7F4F-8E33-8B6B0F8FB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8741B-C145-7244-962D-86B284C24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87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BAB3-1B25-694A-BCCC-309D4939B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46A4A-355E-5447-A9C4-9F4704CF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AD51DA-22E6-F540-B364-44D62444C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12644-C0C0-024F-9E44-C7DB5120D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E2E56-6964-D14A-9985-0B26ED3B7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0643B-316F-F542-B80B-09FF198B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4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CDA6-F29A-2B49-B37F-B488A220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C8ABBF-22C2-1249-84EC-B3926FFAF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2896A-3A1C-E343-8C5B-6A0BD568A1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BEC3C-307A-584F-936D-DE4D8BE41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8F998-247D-654E-A6A9-1CA4B43C0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30F8B-CB62-F04E-8165-CEFC35740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4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6398D-B554-044B-AEE2-DC67F51E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DB96E-4179-F648-8AC9-EF2063C5F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26F93-D6D0-2D41-8157-5481B6221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A0F21-4C48-7041-9443-6C49D85E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F1B8C-DFF6-274D-9EF5-E5C2F1FA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585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FFF1E-E591-074B-B7D1-B92D01A4D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608DD-5D95-AA4F-80F1-A9C436CE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E42A5-5069-D34C-AD64-2948ED5BD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843FA-964E-024A-935A-F7DBBE920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5220A-85E5-A441-AE93-C7360C82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86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E86473-AADE-E648-94C0-2D89A3A3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E0BB2-52B3-D945-9337-8F2201696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8B78B-E280-AA4C-8E66-1826FD927C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BADAE-9641-2546-BB4E-DEF1E0C3F509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C0ACD-2280-C947-B3CD-9769CBB27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34F15-2DA2-8F4C-804A-404DB4698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3F9FF-BD50-204A-8E05-5B6DF473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96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oecd.ai/en/ai-principles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90735-FB82-6346-5064-2A71A187E67E}"/>
              </a:ext>
            </a:extLst>
          </p:cNvPr>
          <p:cNvSpPr txBox="1"/>
          <p:nvPr/>
        </p:nvSpPr>
        <p:spPr>
          <a:xfrm>
            <a:off x="113655" y="2153400"/>
            <a:ext cx="21723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2400" b="1" i="0" dirty="0">
                <a:solidFill>
                  <a:schemeClr val="bg1">
                    <a:lumMod val="50000"/>
                  </a:schemeClr>
                </a:solidFill>
                <a:effectLst/>
                <a:latin typeface="Century Gothic" panose="020B0502020202020204" pitchFamily="34" charset="0"/>
              </a:rPr>
              <a:t>Core Course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04F67-E3C8-8C98-072D-CD5821031FBE}"/>
              </a:ext>
            </a:extLst>
          </p:cNvPr>
          <p:cNvSpPr txBox="1"/>
          <p:nvPr/>
        </p:nvSpPr>
        <p:spPr>
          <a:xfrm>
            <a:off x="113652" y="2613300"/>
            <a:ext cx="68136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36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Generative AI</a:t>
            </a:r>
          </a:p>
          <a:p>
            <a:pPr marL="0" marR="0" indent="0" algn="l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2400" b="0" i="0" dirty="0" err="1">
                <a:solidFill>
                  <a:srgbClr val="374151"/>
                </a:solidFill>
                <a:effectLst/>
                <a:latin typeface="Century Gothic" panose="020B0502020202020204" pitchFamily="34" charset="0"/>
              </a:rPr>
              <a:t>VI</a:t>
            </a:r>
            <a:r>
              <a:rPr lang="en-IN" sz="2400" b="0" i="0" baseline="30000" dirty="0" err="1">
                <a:solidFill>
                  <a:srgbClr val="374151"/>
                </a:solidFill>
                <a:effectLst/>
                <a:latin typeface="Century Gothic" panose="020B0502020202020204" pitchFamily="34" charset="0"/>
              </a:rPr>
              <a:t>th</a:t>
            </a:r>
            <a:r>
              <a:rPr lang="en-IN" sz="2400" b="0" i="0" dirty="0">
                <a:solidFill>
                  <a:srgbClr val="374151"/>
                </a:solidFill>
                <a:effectLst/>
                <a:latin typeface="Century Gothic" panose="020B0502020202020204" pitchFamily="34" charset="0"/>
              </a:rPr>
              <a:t> Semester AY 2024-25</a:t>
            </a:r>
            <a:endParaRPr lang="en-IN" sz="2400" b="1" i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05673B-1272-FC42-4CF2-80BFF1DF69CD}"/>
              </a:ext>
            </a:extLst>
          </p:cNvPr>
          <p:cNvSpPr txBox="1"/>
          <p:nvPr/>
        </p:nvSpPr>
        <p:spPr>
          <a:xfrm>
            <a:off x="113652" y="3580564"/>
            <a:ext cx="66992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2000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entury Gothic" panose="020B0502020202020204" pitchFamily="34" charset="0"/>
              </a:rPr>
              <a:t>(2-0-1)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5A5EA8-8544-458A-65C0-EF604226B2CA}"/>
              </a:ext>
            </a:extLst>
          </p:cNvPr>
          <p:cNvSpPr txBox="1"/>
          <p:nvPr/>
        </p:nvSpPr>
        <p:spPr>
          <a:xfrm>
            <a:off x="6562165" y="3118899"/>
            <a:ext cx="5629835" cy="1261884"/>
          </a:xfrm>
          <a:prstGeom prst="rect">
            <a:avLst/>
          </a:prstGeom>
          <a:solidFill>
            <a:srgbClr val="AC0204"/>
          </a:solidFill>
        </p:spPr>
        <p:txBody>
          <a:bodyPr wrap="square">
            <a:spAutoFit/>
          </a:bodyPr>
          <a:lstStyle/>
          <a:p>
            <a:pPr marL="0" marR="0" indent="0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2000" b="1" i="0" dirty="0"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Chapter-7</a:t>
            </a:r>
          </a:p>
          <a:p>
            <a:pPr marL="0" marR="0" indent="0" rtl="0" fontAlgn="base" latinLnBrk="0">
              <a:spcBef>
                <a:spcPts val="0"/>
              </a:spcBef>
              <a:spcAft>
                <a:spcPts val="0"/>
              </a:spcAft>
            </a:pPr>
            <a:r>
              <a:rPr lang="en-IN" sz="28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Ethical Considerations and Responsible AI in Generative AI</a:t>
            </a:r>
          </a:p>
        </p:txBody>
      </p:sp>
    </p:spTree>
    <p:extLst>
      <p:ext uri="{BB962C8B-B14F-4D97-AF65-F5344CB8AC3E}">
        <p14:creationId xmlns:p14="http://schemas.microsoft.com/office/powerpoint/2010/main" val="2413101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1234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ptos" panose="020B0004020202020204" pitchFamily="34" charset="0"/>
              </a:rPr>
              <a:t>Agenda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Aptos" panose="020B0004020202020204" pitchFamily="34" charset="0"/>
              </a:rPr>
              <a:t>Bias and Fairness in Generative AI</a:t>
            </a:r>
          </a:p>
          <a:p>
            <a:r>
              <a:rPr lang="en-IN" sz="2400" dirty="0">
                <a:latin typeface="Aptos" panose="020B0004020202020204" pitchFamily="34" charset="0"/>
              </a:rPr>
              <a:t>Privacy Concerns and Data Protection</a:t>
            </a:r>
          </a:p>
          <a:p>
            <a:r>
              <a:rPr lang="en-IN" sz="2400" dirty="0">
                <a:latin typeface="Aptos" panose="020B0004020202020204" pitchFamily="34" charset="0"/>
              </a:rPr>
              <a:t>Responsible Use of Generative Models</a:t>
            </a:r>
          </a:p>
          <a:p>
            <a:r>
              <a:rPr lang="en-IN" sz="2400" dirty="0">
                <a:latin typeface="Aptos" panose="020B0004020202020204" pitchFamily="34" charset="0"/>
              </a:rPr>
              <a:t>Best Practices &amp; Frameworks</a:t>
            </a:r>
          </a:p>
        </p:txBody>
      </p:sp>
    </p:spTree>
    <p:extLst>
      <p:ext uri="{BB962C8B-B14F-4D97-AF65-F5344CB8AC3E}">
        <p14:creationId xmlns:p14="http://schemas.microsoft.com/office/powerpoint/2010/main" val="293797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4886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What is Bias in AI?</a:t>
            </a:r>
            <a:br>
              <a:rPr lang="en-IN" sz="2400" dirty="0">
                <a:latin typeface="Aptos" panose="020B0004020202020204" pitchFamily="34" charset="0"/>
              </a:rPr>
            </a:br>
            <a:r>
              <a:rPr lang="en-IN" sz="2400" dirty="0">
                <a:latin typeface="Aptos" panose="020B0004020202020204" pitchFamily="34" charset="0"/>
              </a:rPr>
              <a:t>AI models reflecting or amplifying societal prejudices.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Types of Bias: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i="1" dirty="0">
                <a:latin typeface="Aptos" panose="020B0004020202020204" pitchFamily="34" charset="0"/>
              </a:rPr>
              <a:t>Data Bias:</a:t>
            </a:r>
            <a:r>
              <a:rPr lang="en-IN" sz="2000" dirty="0">
                <a:latin typeface="Aptos" panose="020B0004020202020204" pitchFamily="34" charset="0"/>
              </a:rPr>
              <a:t> Skewed training data</a:t>
            </a:r>
          </a:p>
          <a:p>
            <a:pPr lvl="1"/>
            <a:r>
              <a:rPr lang="en-IN" sz="2000" i="1" dirty="0">
                <a:latin typeface="Aptos" panose="020B0004020202020204" pitchFamily="34" charset="0"/>
              </a:rPr>
              <a:t>Algorithmic Bias:</a:t>
            </a:r>
            <a:r>
              <a:rPr lang="en-IN" sz="2000" dirty="0">
                <a:latin typeface="Aptos" panose="020B0004020202020204" pitchFamily="34" charset="0"/>
              </a:rPr>
              <a:t> Unequal model </a:t>
            </a:r>
            <a:r>
              <a:rPr lang="en-IN" sz="2000" dirty="0" err="1">
                <a:latin typeface="Aptos" panose="020B0004020202020204" pitchFamily="34" charset="0"/>
              </a:rPr>
              <a:t>behavior</a:t>
            </a:r>
            <a:endParaRPr lang="en-IN" sz="2000" dirty="0">
              <a:latin typeface="Aptos" panose="020B0004020202020204" pitchFamily="34" charset="0"/>
            </a:endParaRPr>
          </a:p>
          <a:p>
            <a:pPr lvl="1"/>
            <a:r>
              <a:rPr lang="en-IN" sz="2000" i="1" dirty="0">
                <a:latin typeface="Aptos" panose="020B0004020202020204" pitchFamily="34" charset="0"/>
              </a:rPr>
              <a:t>Representation Bias:</a:t>
            </a:r>
            <a:r>
              <a:rPr lang="en-IN" sz="2000" dirty="0">
                <a:latin typeface="Aptos" panose="020B0004020202020204" pitchFamily="34" charset="0"/>
              </a:rPr>
              <a:t> Underrepresentation of groups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Implications: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Stereotyping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Discrimination in outputs (e.g., hiring tools, image generators)</a:t>
            </a:r>
          </a:p>
        </p:txBody>
      </p:sp>
    </p:spTree>
    <p:extLst>
      <p:ext uri="{BB962C8B-B14F-4D97-AF65-F5344CB8AC3E}">
        <p14:creationId xmlns:p14="http://schemas.microsoft.com/office/powerpoint/2010/main" val="534754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74820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 : Examples of Bias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Image Generators:</a:t>
            </a:r>
            <a:r>
              <a:rPr lang="en-IN" sz="2400" dirty="0">
                <a:latin typeface="Aptos" panose="020B0004020202020204" pitchFamily="34" charset="0"/>
              </a:rPr>
              <a:t> Over-representation of certain ethnicities in professional roles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Text Generators:</a:t>
            </a:r>
            <a:r>
              <a:rPr lang="en-IN" sz="2400" dirty="0">
                <a:latin typeface="Aptos" panose="020B0004020202020204" pitchFamily="34" charset="0"/>
              </a:rPr>
              <a:t> Gender biases in occupational descriptions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Chatbots:</a:t>
            </a:r>
            <a:r>
              <a:rPr lang="en-IN" sz="2400" dirty="0">
                <a:latin typeface="Aptos" panose="020B0004020202020204" pitchFamily="34" charset="0"/>
              </a:rPr>
              <a:t> Toxic or offensive content under adversarial prompts</a:t>
            </a:r>
          </a:p>
          <a:p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24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62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Privacy and Data Protection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What’s at Risk: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Personal data leakage in generated outputs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Unintended memorization of sensitive info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Key Concerns: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GDPR &amp; data compliance</a:t>
            </a:r>
            <a:r>
              <a:rPr lang="en-US" sz="1600" dirty="0"/>
              <a:t> (GDPR is a law that protects people’s personal data and privacy, mostly in Europe)</a:t>
            </a:r>
            <a:endParaRPr lang="en-IN" sz="20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User consent &amp; transparency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Synthetic data misuse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Real-world Risk: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Re-identification attacks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Training on private, copyrighted, or scraped data</a:t>
            </a:r>
          </a:p>
          <a:p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57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9176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</a:t>
            </a: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Addressing Privacy Concerns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Solutions:</a:t>
            </a: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Differential Privacy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Data anonymization before training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Federated Learning (privacy-preserving)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4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Best Practices:</a:t>
            </a: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Explicit user data handling policies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Prompt filtering and output moderation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Auditability of training data sources</a:t>
            </a:r>
          </a:p>
          <a:p>
            <a:endParaRPr lang="en-IN" sz="20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6643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884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Responsible Use in Society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Ethical Dilemmas: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Deepfakes &amp; misinformation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Fake academic or journalistic content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Identity spoofing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Societal Impact: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Trust erosion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Job displacement fears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Content authenticity crisis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26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93809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Principles for Responsible Use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Transparency:</a:t>
            </a:r>
            <a:r>
              <a:rPr lang="en-IN" sz="2400" dirty="0">
                <a:latin typeface="Aptos" panose="020B0004020202020204" pitchFamily="34" charset="0"/>
              </a:rPr>
              <a:t> Clear disclosures when using AI-generated content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Accountability:</a:t>
            </a:r>
            <a:r>
              <a:rPr lang="en-IN" sz="2400" dirty="0">
                <a:latin typeface="Aptos" panose="020B0004020202020204" pitchFamily="34" charset="0"/>
              </a:rPr>
              <a:t> Developers &amp; deployers must be answerable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Inclusivity:</a:t>
            </a:r>
            <a:r>
              <a:rPr lang="en-IN" sz="2400" dirty="0">
                <a:latin typeface="Aptos" panose="020B0004020202020204" pitchFamily="34" charset="0"/>
              </a:rPr>
              <a:t> Broad representation during design and testing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Governance:</a:t>
            </a:r>
            <a:r>
              <a:rPr lang="en-IN" sz="2400" dirty="0">
                <a:latin typeface="Aptos" panose="020B0004020202020204" pitchFamily="34" charset="0"/>
              </a:rPr>
              <a:t> Use of ethical review boards or oversight committees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093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2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Standards and Frameworks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latin typeface="Aptos" panose="020B0004020202020204" pitchFamily="34" charset="0"/>
              </a:rPr>
              <a:t>Guidelines from Major Bodies: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OECD AI Principles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UNESCO’s AI Ethics Framework</a:t>
            </a:r>
          </a:p>
          <a:p>
            <a:pPr lvl="1"/>
            <a:r>
              <a:rPr lang="en-IN" sz="2000" dirty="0">
                <a:latin typeface="Aptos" panose="020B0004020202020204" pitchFamily="34" charset="0"/>
              </a:rPr>
              <a:t>EU AI Act</a:t>
            </a:r>
          </a:p>
          <a:p>
            <a:r>
              <a:rPr lang="en-IN" sz="2400" b="1" dirty="0">
                <a:latin typeface="Aptos" panose="020B0004020202020204" pitchFamily="34" charset="0"/>
              </a:rPr>
              <a:t>Corporate Commitments:</a:t>
            </a:r>
            <a:endParaRPr lang="en-IN" sz="2400" dirty="0">
              <a:latin typeface="Aptos" panose="020B0004020202020204" pitchFamily="34" charset="0"/>
            </a:endParaRPr>
          </a:p>
          <a:p>
            <a:pPr lvl="1"/>
            <a:r>
              <a:rPr lang="en-IN" sz="2000" dirty="0" err="1">
                <a:latin typeface="Aptos" panose="020B0004020202020204" pitchFamily="34" charset="0"/>
              </a:rPr>
              <a:t>OpenAI</a:t>
            </a:r>
            <a:r>
              <a:rPr lang="en-IN" sz="2000" dirty="0">
                <a:latin typeface="Aptos" panose="020B0004020202020204" pitchFamily="34" charset="0"/>
              </a:rPr>
              <a:t>, Google DeepMind, Microsoft Responsible AI initiatives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60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2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Standards and Frameworks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OECD AI Principles. 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  <a:hlinkClick r:id="rId2"/>
              </a:rPr>
              <a:t>https://oecd.ai/en/ai-principles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</a:t>
            </a:r>
          </a:p>
          <a:p>
            <a:pPr algn="l"/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Adopted in May 2019, the 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OECD AI Principles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are the first intergovernmental standard on AI, promoting innovative and trustworthy AI that respects human rights and democratic values. </a:t>
            </a:r>
          </a:p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Core Principles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Inclusive Growth, Sustainable Development, and Well-being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should benefit people and the planet by driving inclusive growth, sustainable development, and well-being. 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Human-centred Values and Fairness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should be designed in a way that respects the rule of law, human rights, democratic values, and diversity, and should include appropriate safeguards to ensure a fair and just society.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Transparency and </a:t>
            </a:r>
            <a:r>
              <a:rPr lang="en-IN" sz="2000" b="1" i="0" u="none" strike="noStrike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Explainability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should be transparent and explainable to ensure accountability and trust. 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Robustness, Security, and Safety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should function in a robust, secure, and safe way throughout their life cycles and potential risks should be continually assessed and managed.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Accountability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Organizations and individuals developing, deploying, or operating AI systems should be held accountable for their proper functioning in line with the above principles.</a:t>
            </a:r>
            <a:endParaRPr lang="en-IN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These principles are supported by recommendations for policy makers to facilitate their implementation.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17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2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Standards and Frameworks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UNESCO’s Recommendation on the Ethics of Artificial Intelligence</a:t>
            </a:r>
          </a:p>
          <a:p>
            <a:pPr algn="l"/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In November 2021, UNESCO adopted the 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Recommendation on the Ethics of Artificial Intelligence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, the first global standard-setting instrument on the subject, applicable to all 194 member states. </a:t>
            </a:r>
          </a:p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Core Values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Respect for Human Rights and Human Dignity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should respect, protect, and promote human rights and fundamental freedoms. 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Living in Peaceful, Just, and Interconnected Societies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should contribute to the achievement of peaceful and just societies, fostering interconnectedness and solidarity.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Ensuring Diversity and Inclusiveness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should be designed and implemented to promote diversity and inclusiveness, avoiding biases and discrimination.</a:t>
            </a:r>
          </a:p>
          <a:p>
            <a:pPr lvl="1">
              <a:buFont typeface="+mj-lt"/>
              <a:buAutoNum type="arabicPeriod"/>
            </a:pP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Environment and Ecosystem Flourishing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should be developed and used with consideration for its impact on the environment and ecosystems, promoting sustainability.</a:t>
            </a:r>
          </a:p>
          <a:p>
            <a:pPr algn="l"/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Recommendation provides a comprehensive framework for the ethical development and deployment of AI, guiding countries in building legal frameworks to ensure AI is deployed as a force for the common good.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9312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2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Standards and Frameworks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EU Artificial Intelligence Act (AI Act)</a:t>
            </a:r>
          </a:p>
          <a:p>
            <a:pPr algn="l"/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 </a:t>
            </a:r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EU AI Act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 is a comprehensive regulation governing artificial intelligence within the European Union, aiming to promote the uptake of human-centric AI while ensuring a high level of protection of health, safety, and fundamental rights.</a:t>
            </a:r>
          </a:p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Key Features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Risk-Based Approach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The Act categorizes AI systems into four risk levels: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Unacceptable Risk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that pose a threat to safety, livelihoods, and rights of people are prohibited.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High Risk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used in critical areas like infrastructure, education, employment, and law enforcement are subject to strict obligations before they can be put on the market.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Limited Risk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AI systems with specific transparency obligations, such as chatbots, where users should be aware they are interacting with a machine.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Minimal Risk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All other AI systems can be developed and used with minimal legal intervention.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20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892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Standards and Frameworks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EU Artificial Intelligence Act (AI Act)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Transparency and Accountability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The Act mandates clear information for users and robust documentation for high-risk AI systems to ensure transparency and accountability.</a:t>
            </a:r>
          </a:p>
          <a:p>
            <a:pPr lvl="1"/>
            <a:r>
              <a:rPr lang="en-IN" sz="2000" b="1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Governance and Enforcement</a:t>
            </a:r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 Establishes national supervisory authorities and a European Artificial Intelligence Board to ensure consistent application and enforcement across the EU.</a:t>
            </a:r>
          </a:p>
          <a:p>
            <a:pPr lvl="1"/>
            <a:r>
              <a:rPr lang="en-IN" sz="2000" b="0" i="0" u="none" strike="noStrike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The final text of the AI Act was published in the Official Journal of the European Union on 12 July 2024.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IN" sz="20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095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B2CE09-6D33-CA67-7A3B-70F03266372A}"/>
              </a:ext>
            </a:extLst>
          </p:cNvPr>
          <p:cNvSpPr txBox="1"/>
          <p:nvPr/>
        </p:nvSpPr>
        <p:spPr>
          <a:xfrm>
            <a:off x="0" y="238780"/>
            <a:ext cx="7183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Aptos" panose="020B0004020202020204" pitchFamily="34" charset="0"/>
              </a:rPr>
              <a:t>Bias and Fairness in Generative AI: Key Takeaways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4001B0D-3980-B4EA-A176-A89D32D5A5C2}"/>
              </a:ext>
            </a:extLst>
          </p:cNvPr>
          <p:cNvSpPr txBox="1">
            <a:spLocks/>
          </p:cNvSpPr>
          <p:nvPr/>
        </p:nvSpPr>
        <p:spPr>
          <a:xfrm>
            <a:off x="94672" y="956448"/>
            <a:ext cx="11641668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Aptos" panose="020B0004020202020204" pitchFamily="34" charset="0"/>
              </a:rPr>
              <a:t>Generative AI holds immense promise, but must be handled ethically</a:t>
            </a:r>
          </a:p>
          <a:p>
            <a:r>
              <a:rPr lang="en-IN" sz="2400" dirty="0">
                <a:latin typeface="Aptos" panose="020B0004020202020204" pitchFamily="34" charset="0"/>
              </a:rPr>
              <a:t>Bias and privacy challenges are real and measurable</a:t>
            </a:r>
          </a:p>
          <a:p>
            <a:r>
              <a:rPr lang="en-IN" sz="2400" dirty="0">
                <a:latin typeface="Aptos" panose="020B0004020202020204" pitchFamily="34" charset="0"/>
              </a:rPr>
              <a:t>Responsible design, governance, and deployment are critical</a:t>
            </a:r>
          </a:p>
          <a:p>
            <a:r>
              <a:rPr lang="en-IN" sz="2400" dirty="0">
                <a:latin typeface="Aptos" panose="020B0004020202020204" pitchFamily="34" charset="0"/>
              </a:rPr>
              <a:t>Building trust in generative models requires transparency, fairness, and human oversight</a:t>
            </a:r>
          </a:p>
          <a:p>
            <a:pPr marL="0" indent="0" algn="l">
              <a:buNone/>
            </a:pPr>
            <a:endParaRPr lang="en-IN" sz="2400" b="0" i="0" u="none" strike="noStrike" dirty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412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26A9-52B6-3E27-3930-17DB7C89C0B5}"/>
              </a:ext>
            </a:extLst>
          </p:cNvPr>
          <p:cNvSpPr txBox="1">
            <a:spLocks/>
          </p:cNvSpPr>
          <p:nvPr/>
        </p:nvSpPr>
        <p:spPr>
          <a:xfrm>
            <a:off x="0" y="3144020"/>
            <a:ext cx="4844955" cy="569959"/>
          </a:xfrm>
          <a:prstGeom prst="rect">
            <a:avLst/>
          </a:prstGeom>
          <a:solidFill>
            <a:srgbClr val="AC0204"/>
          </a:solidFill>
          <a:ln>
            <a:noFill/>
          </a:ln>
        </p:spPr>
        <p:txBody>
          <a:bodyPr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b="1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9812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11136</TotalTime>
  <Words>1080</Words>
  <Application>Microsoft Office PowerPoint</Application>
  <PresentationFormat>Widescreen</PresentationFormat>
  <Paragraphs>106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Satish Chickmath</cp:lastModifiedBy>
  <cp:revision>49</cp:revision>
  <dcterms:created xsi:type="dcterms:W3CDTF">2022-03-04T09:26:42Z</dcterms:created>
  <dcterms:modified xsi:type="dcterms:W3CDTF">2025-05-26T04:29:34Z</dcterms:modified>
</cp:coreProperties>
</file>