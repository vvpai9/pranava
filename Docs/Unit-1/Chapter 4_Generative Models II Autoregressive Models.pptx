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embeddedFontLst>
    <p:embeddedFont>
      <p:font typeface="Helvetica Neue"/>
      <p:regular r:id="rId34"/>
      <p:bold r:id="rId35"/>
      <p:italic r:id="rId36"/>
      <p:boldItalic r:id="rId37"/>
    </p:embeddedFont>
    <p:embeddedFont>
      <p:font typeface="Century Gothic"/>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hxPMpQreLx3qM6ZncDjZWdfsNE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CenturyGothic-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HelveticaNeue-bold.fntdata"/><Relationship Id="rId12" Type="http://schemas.openxmlformats.org/officeDocument/2006/relationships/slide" Target="slides/slide8.xml"/><Relationship Id="rId34" Type="http://schemas.openxmlformats.org/officeDocument/2006/relationships/font" Target="fonts/HelveticaNeue-regular.fntdata"/><Relationship Id="rId15" Type="http://schemas.openxmlformats.org/officeDocument/2006/relationships/slide" Target="slides/slide11.xml"/><Relationship Id="rId37" Type="http://schemas.openxmlformats.org/officeDocument/2006/relationships/font" Target="fonts/HelveticaNeue-boldItalic.fntdata"/><Relationship Id="rId14" Type="http://schemas.openxmlformats.org/officeDocument/2006/relationships/slide" Target="slides/slide10.xml"/><Relationship Id="rId36" Type="http://schemas.openxmlformats.org/officeDocument/2006/relationships/font" Target="fonts/HelveticaNeue-italic.fntdata"/><Relationship Id="rId17" Type="http://schemas.openxmlformats.org/officeDocument/2006/relationships/slide" Target="slides/slide13.xml"/><Relationship Id="rId39" Type="http://schemas.openxmlformats.org/officeDocument/2006/relationships/font" Target="fonts/CenturyGothic-bold.fntdata"/><Relationship Id="rId16" Type="http://schemas.openxmlformats.org/officeDocument/2006/relationships/slide" Target="slides/slide12.xml"/><Relationship Id="rId38" Type="http://schemas.openxmlformats.org/officeDocument/2006/relationships/font" Target="fonts/CenturyGothic-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e95c23c488_48_68"/>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5" name="Google Shape;15;g3e95c23c488_48_68"/>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e95c23c488_48_6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e95c23c488_48_72"/>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g3e95c23c488_48_7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e95c23c488_48_7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e95c23c488_48_75"/>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g3e95c23c488_48_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e95c23c488_48_7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6" name="Google Shape;26;g3e95c23c488_48_79"/>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g3e95c23c488_48_79"/>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e95c23c488_48_7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e95c23c488_48_8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1" name="Google Shape;31;g3e95c23c488_48_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e95c23c488_48_8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g3e95c23c488_48_8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g3e95c23c488_48_8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e95c23c488_48_91"/>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8" name="Google Shape;38;g3e95c23c488_48_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e95c23c488_48_94"/>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e95c23c488_48_94"/>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g3e95c23c488_48_94"/>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e95c23c488_48_94"/>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4" name="Google Shape;44;g3e95c23c488_48_9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e95c23c488_48_10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7" name="Google Shape;47;g3e95c23c488_48_10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e95c23c488_48_103"/>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g3e95c23c488_48_103"/>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1" name="Google Shape;51;g3e95c23c488_48_10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e95c23c488_48_10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4" name="Shape 54"/>
        <p:cNvGrpSpPr/>
        <p:nvPr/>
      </p:nvGrpSpPr>
      <p:grpSpPr>
        <a:xfrm>
          <a:off x="0" y="0"/>
          <a:ext cx="0" cy="0"/>
          <a:chOff x="0" y="0"/>
          <a:chExt cx="0" cy="0"/>
        </a:xfrm>
      </p:grpSpPr>
      <p:pic>
        <p:nvPicPr>
          <p:cNvPr id="55" name="Google Shape;55;g3e95c23c488_48_109"/>
          <p:cNvPicPr preferRelativeResize="0"/>
          <p:nvPr/>
        </p:nvPicPr>
        <p:blipFill rotWithShape="1">
          <a:blip r:embed="rId2">
            <a:alphaModFix/>
          </a:blip>
          <a:srcRect b="67412" l="1317" r="93237" t="22522"/>
          <a:stretch/>
        </p:blipFill>
        <p:spPr>
          <a:xfrm>
            <a:off x="11391255" y="39223"/>
            <a:ext cx="800746" cy="832351"/>
          </a:xfrm>
          <a:prstGeom prst="rect">
            <a:avLst/>
          </a:prstGeom>
          <a:noFill/>
          <a:ln>
            <a:noFill/>
          </a:ln>
        </p:spPr>
      </p:pic>
      <p:cxnSp>
        <p:nvCxnSpPr>
          <p:cNvPr id="56" name="Google Shape;56;g3e95c23c488_48_109"/>
          <p:cNvCxnSpPr/>
          <p:nvPr/>
        </p:nvCxnSpPr>
        <p:spPr>
          <a:xfrm>
            <a:off x="0" y="806924"/>
            <a:ext cx="12192000" cy="0"/>
          </a:xfrm>
          <a:prstGeom prst="straightConnector1">
            <a:avLst/>
          </a:prstGeom>
          <a:noFill/>
          <a:ln cap="flat" cmpd="sng" w="25400">
            <a:solidFill>
              <a:srgbClr val="C00000"/>
            </a:solidFill>
            <a:prstDash val="solid"/>
            <a:miter lim="800000"/>
            <a:headEnd len="sm" w="sm" type="none"/>
            <a:tailEnd len="sm" w="sm" type="none"/>
          </a:ln>
        </p:spPr>
      </p:cxnSp>
      <p:grpSp>
        <p:nvGrpSpPr>
          <p:cNvPr id="57" name="Google Shape;57;g3e95c23c488_48_109"/>
          <p:cNvGrpSpPr/>
          <p:nvPr/>
        </p:nvGrpSpPr>
        <p:grpSpPr>
          <a:xfrm>
            <a:off x="0" y="6557961"/>
            <a:ext cx="12191999" cy="300001"/>
            <a:chOff x="0" y="6557961"/>
            <a:chExt cx="12191999" cy="300001"/>
          </a:xfrm>
        </p:grpSpPr>
        <p:sp>
          <p:nvSpPr>
            <p:cNvPr id="58" name="Google Shape;58;g3e95c23c488_48_109"/>
            <p:cNvSpPr/>
            <p:nvPr/>
          </p:nvSpPr>
          <p:spPr>
            <a:xfrm>
              <a:off x="0" y="6557961"/>
              <a:ext cx="1757400" cy="300000"/>
            </a:xfrm>
            <a:prstGeom prst="round1Rect">
              <a:avLst>
                <a:gd fmla="val 16667" name="adj"/>
              </a:avLst>
            </a:prstGeom>
            <a:solidFill>
              <a:schemeClr val="dk1"/>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1600" u="none" cap="none" strike="noStrike">
                  <a:solidFill>
                    <a:schemeClr val="lt1"/>
                  </a:solidFill>
                  <a:latin typeface="Century Gothic"/>
                  <a:ea typeface="Century Gothic"/>
                  <a:cs typeface="Century Gothic"/>
                  <a:sym typeface="Century Gothic"/>
                </a:rPr>
                <a:t>KLE Tech</a:t>
              </a:r>
              <a:endParaRPr/>
            </a:p>
          </p:txBody>
        </p:sp>
        <p:sp>
          <p:nvSpPr>
            <p:cNvPr id="59" name="Google Shape;59;g3e95c23c488_48_109"/>
            <p:cNvSpPr/>
            <p:nvPr/>
          </p:nvSpPr>
          <p:spPr>
            <a:xfrm>
              <a:off x="11658599" y="6557962"/>
              <a:ext cx="533400" cy="300000"/>
            </a:xfrm>
            <a:prstGeom prst="round1Rect">
              <a:avLst>
                <a:gd fmla="val 16667" name="adj"/>
              </a:avLst>
            </a:prstGeom>
            <a:solidFill>
              <a:schemeClr val="dk1"/>
            </a:solid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60" name="Google Shape;60;g3e95c23c488_48_109"/>
          <p:cNvSpPr/>
          <p:nvPr/>
        </p:nvSpPr>
        <p:spPr>
          <a:xfrm>
            <a:off x="1757362" y="6557962"/>
            <a:ext cx="9901200" cy="300000"/>
          </a:xfrm>
          <a:prstGeom prst="round1Rect">
            <a:avLst>
              <a:gd fmla="val 16667" name="adj"/>
            </a:avLst>
          </a:prstGeom>
          <a:gradFill>
            <a:gsLst>
              <a:gs pos="0">
                <a:srgbClr val="770000"/>
              </a:gs>
              <a:gs pos="50000">
                <a:srgbClr val="AC0000"/>
              </a:gs>
              <a:gs pos="100000">
                <a:srgbClr val="CE0000"/>
              </a:gs>
            </a:gsLst>
            <a:lin ang="2700006"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chemeClr val="lt1"/>
                </a:solidFill>
                <a:latin typeface="Century Gothic"/>
                <a:ea typeface="Century Gothic"/>
                <a:cs typeface="Century Gothic"/>
                <a:sym typeface="Century Gothic"/>
              </a:rPr>
              <a:t>KLE Technological University</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TITLE_AND_BODY_1">
    <p:spTree>
      <p:nvGrpSpPr>
        <p:cNvPr id="61" name="Shape 61"/>
        <p:cNvGrpSpPr/>
        <p:nvPr/>
      </p:nvGrpSpPr>
      <p:grpSpPr>
        <a:xfrm>
          <a:off x="0" y="0"/>
          <a:ext cx="0" cy="0"/>
          <a:chOff x="0" y="0"/>
          <a:chExt cx="0" cy="0"/>
        </a:xfrm>
      </p:grpSpPr>
      <p:pic>
        <p:nvPicPr>
          <p:cNvPr descr="Picture 6" id="62" name="Google Shape;62;g3e95c23c488_48_116"/>
          <p:cNvPicPr preferRelativeResize="0"/>
          <p:nvPr/>
        </p:nvPicPr>
        <p:blipFill rotWithShape="1">
          <a:blip r:embed="rId2">
            <a:alphaModFix/>
          </a:blip>
          <a:srcRect b="67412" l="1317" r="93237" t="22522"/>
          <a:stretch/>
        </p:blipFill>
        <p:spPr>
          <a:xfrm>
            <a:off x="11391255" y="39222"/>
            <a:ext cx="800746" cy="832353"/>
          </a:xfrm>
          <a:prstGeom prst="rect">
            <a:avLst/>
          </a:prstGeom>
          <a:noFill/>
          <a:ln>
            <a:noFill/>
          </a:ln>
        </p:spPr>
      </p:pic>
      <p:cxnSp>
        <p:nvCxnSpPr>
          <p:cNvPr id="63" name="Google Shape;63;g3e95c23c488_48_116"/>
          <p:cNvCxnSpPr/>
          <p:nvPr/>
        </p:nvCxnSpPr>
        <p:spPr>
          <a:xfrm>
            <a:off x="0" y="806924"/>
            <a:ext cx="12192000" cy="0"/>
          </a:xfrm>
          <a:prstGeom prst="straightConnector1">
            <a:avLst/>
          </a:prstGeom>
          <a:noFill/>
          <a:ln cap="flat" cmpd="sng" w="50800">
            <a:solidFill>
              <a:srgbClr val="E08080"/>
            </a:solidFill>
            <a:prstDash val="solid"/>
            <a:miter lim="8000"/>
            <a:headEnd len="sm" w="sm" type="none"/>
            <a:tailEnd len="sm" w="sm" type="none"/>
          </a:ln>
        </p:spPr>
      </p:cxnSp>
      <p:grpSp>
        <p:nvGrpSpPr>
          <p:cNvPr id="64" name="Google Shape;64;g3e95c23c488_48_116"/>
          <p:cNvGrpSpPr/>
          <p:nvPr/>
        </p:nvGrpSpPr>
        <p:grpSpPr>
          <a:xfrm>
            <a:off x="-1" y="6492539"/>
            <a:ext cx="12192011" cy="430950"/>
            <a:chOff x="0" y="-91792"/>
            <a:chExt cx="24384022" cy="861900"/>
          </a:xfrm>
        </p:grpSpPr>
        <p:grpSp>
          <p:nvGrpSpPr>
            <p:cNvPr id="65" name="Google Shape;65;g3e95c23c488_48_116"/>
            <p:cNvGrpSpPr/>
            <p:nvPr/>
          </p:nvGrpSpPr>
          <p:grpSpPr>
            <a:xfrm>
              <a:off x="0" y="-91792"/>
              <a:ext cx="3514752" cy="861900"/>
              <a:chOff x="0" y="-91792"/>
              <a:chExt cx="3514752" cy="861900"/>
            </a:xfrm>
          </p:grpSpPr>
          <p:sp>
            <p:nvSpPr>
              <p:cNvPr id="66" name="Google Shape;66;g3e95c23c488_48_116"/>
              <p:cNvSpPr/>
              <p:nvPr/>
            </p:nvSpPr>
            <p:spPr>
              <a:xfrm>
                <a:off x="0" y="39052"/>
                <a:ext cx="3514752" cy="600102"/>
              </a:xfrm>
              <a:custGeom>
                <a:rect b="b" l="l" r="r" t="t"/>
                <a:pathLst>
                  <a:path extrusionOk="0" h="21600" w="21600">
                    <a:moveTo>
                      <a:pt x="0" y="0"/>
                    </a:moveTo>
                    <a:lnTo>
                      <a:pt x="20985" y="0"/>
                    </a:lnTo>
                    <a:cubicBezTo>
                      <a:pt x="21325" y="0"/>
                      <a:pt x="21600" y="1612"/>
                      <a:pt x="21600" y="3600"/>
                    </a:cubicBezTo>
                    <a:lnTo>
                      <a:pt x="21600" y="21600"/>
                    </a:lnTo>
                    <a:lnTo>
                      <a:pt x="0" y="21600"/>
                    </a:lnTo>
                    <a:close/>
                  </a:path>
                </a:pathLst>
              </a:custGeom>
              <a:solidFill>
                <a:srgbClr val="000000"/>
              </a:solidFill>
              <a:ln cap="flat" cmpd="sng" w="12700">
                <a:solidFill>
                  <a:srgbClr val="80808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g3e95c23c488_48_116"/>
              <p:cNvSpPr/>
              <p:nvPr/>
            </p:nvSpPr>
            <p:spPr>
              <a:xfrm>
                <a:off x="97790" y="-91792"/>
                <a:ext cx="3289842" cy="861900"/>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91425" lIns="91425" spcFirstLastPara="1" rIns="91425" wrap="square" tIns="91425">
                <a:noAutofit/>
              </a:bodyPr>
              <a:lstStyle/>
              <a:p>
                <a:pPr indent="0" lvl="0" marL="0" marR="0" rtl="0" algn="r">
                  <a:spcBef>
                    <a:spcPts val="0"/>
                  </a:spcBef>
                  <a:spcAft>
                    <a:spcPts val="0"/>
                  </a:spcAft>
                  <a:buNone/>
                </a:pPr>
                <a:r>
                  <a:rPr b="1" lang="en-US" sz="1600">
                    <a:solidFill>
                      <a:srgbClr val="FFFFFF"/>
                    </a:solidFill>
                    <a:latin typeface="Century Gothic"/>
                    <a:ea typeface="Century Gothic"/>
                    <a:cs typeface="Century Gothic"/>
                    <a:sym typeface="Century Gothic"/>
                  </a:rPr>
                  <a:t>KLE Tech</a:t>
                </a:r>
                <a:endParaRPr/>
              </a:p>
            </p:txBody>
          </p:sp>
        </p:grpSp>
        <p:sp>
          <p:nvSpPr>
            <p:cNvPr id="68" name="Google Shape;68;g3e95c23c488_48_116"/>
            <p:cNvSpPr/>
            <p:nvPr/>
          </p:nvSpPr>
          <p:spPr>
            <a:xfrm>
              <a:off x="23317198" y="39054"/>
              <a:ext cx="1066824" cy="600102"/>
            </a:xfrm>
            <a:custGeom>
              <a:rect b="b" l="l" r="r" t="t"/>
              <a:pathLst>
                <a:path extrusionOk="0" h="21600" w="21600">
                  <a:moveTo>
                    <a:pt x="0" y="0"/>
                  </a:moveTo>
                  <a:lnTo>
                    <a:pt x="19575" y="0"/>
                  </a:lnTo>
                  <a:cubicBezTo>
                    <a:pt x="20693" y="0"/>
                    <a:pt x="21600" y="1612"/>
                    <a:pt x="21600" y="3600"/>
                  </a:cubicBezTo>
                  <a:lnTo>
                    <a:pt x="21600" y="21600"/>
                  </a:lnTo>
                  <a:lnTo>
                    <a:pt x="0" y="21600"/>
                  </a:lnTo>
                  <a:close/>
                </a:path>
              </a:pathLst>
            </a:custGeom>
            <a:solidFill>
              <a:srgbClr val="000000"/>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 name="Google Shape;69;g3e95c23c488_48_116"/>
          <p:cNvGrpSpPr/>
          <p:nvPr/>
        </p:nvGrpSpPr>
        <p:grpSpPr>
          <a:xfrm>
            <a:off x="1757361" y="6492540"/>
            <a:ext cx="9901251" cy="430950"/>
            <a:chOff x="0" y="-91793"/>
            <a:chExt cx="19802502" cy="861900"/>
          </a:xfrm>
        </p:grpSpPr>
        <p:sp>
          <p:nvSpPr>
            <p:cNvPr id="70" name="Google Shape;70;g3e95c23c488_48_116"/>
            <p:cNvSpPr/>
            <p:nvPr/>
          </p:nvSpPr>
          <p:spPr>
            <a:xfrm>
              <a:off x="0" y="39051"/>
              <a:ext cx="19802502" cy="600102"/>
            </a:xfrm>
            <a:custGeom>
              <a:rect b="b" l="l" r="r" t="t"/>
              <a:pathLst>
                <a:path extrusionOk="0" h="21600" w="21600">
                  <a:moveTo>
                    <a:pt x="0" y="0"/>
                  </a:moveTo>
                  <a:lnTo>
                    <a:pt x="21491" y="0"/>
                  </a:lnTo>
                  <a:cubicBezTo>
                    <a:pt x="21551" y="0"/>
                    <a:pt x="21600" y="1612"/>
                    <a:pt x="21600" y="3600"/>
                  </a:cubicBezTo>
                  <a:lnTo>
                    <a:pt x="21600" y="21600"/>
                  </a:lnTo>
                  <a:lnTo>
                    <a:pt x="0" y="21600"/>
                  </a:lnTo>
                  <a:close/>
                </a:path>
              </a:pathLst>
            </a:custGeom>
            <a:gradFill>
              <a:gsLst>
                <a:gs pos="0">
                  <a:srgbClr val="6F0000"/>
                </a:gs>
                <a:gs pos="50000">
                  <a:srgbClr val="A10000"/>
                </a:gs>
                <a:gs pos="100000">
                  <a:srgbClr val="C00000"/>
                </a:gs>
              </a:gsLst>
              <a:lin ang="2700006" scaled="0"/>
            </a:gra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g3e95c23c488_48_116"/>
            <p:cNvSpPr/>
            <p:nvPr/>
          </p:nvSpPr>
          <p:spPr>
            <a:xfrm>
              <a:off x="91440" y="-91793"/>
              <a:ext cx="19590282" cy="861900"/>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US" sz="1600">
                  <a:solidFill>
                    <a:srgbClr val="FFFFFF"/>
                  </a:solidFill>
                  <a:latin typeface="Century Gothic"/>
                  <a:ea typeface="Century Gothic"/>
                  <a:cs typeface="Century Gothic"/>
                  <a:sym typeface="Century Gothic"/>
                </a:rPr>
                <a:t>KLE Technological University</a:t>
              </a:r>
              <a:endParaRPr/>
            </a:p>
          </p:txBody>
        </p:sp>
      </p:grpSp>
      <p:sp>
        <p:nvSpPr>
          <p:cNvPr id="72" name="Google Shape;72;g3e95c23c488_48_116"/>
          <p:cNvSpPr txBox="1"/>
          <p:nvPr>
            <p:ph idx="12" type="sldNum"/>
          </p:nvPr>
        </p:nvSpPr>
        <p:spPr>
          <a:xfrm>
            <a:off x="5892800" y="6172200"/>
            <a:ext cx="2844900" cy="368400"/>
          </a:xfrm>
          <a:prstGeom prst="rect">
            <a:avLst/>
          </a:prstGeom>
          <a:noFill/>
          <a:ln>
            <a:noFill/>
          </a:ln>
        </p:spPr>
        <p:txBody>
          <a:bodyPr anchorCtr="0" anchor="ctr" bIns="91425" lIns="91425" spcFirstLastPara="1" rIns="91425" wrap="square" tIns="91425">
            <a:normAutofit lnSpcReduction="10000"/>
          </a:bodyPr>
          <a:lstStyle>
            <a:lvl1pPr indent="0" lvl="0" marL="0" algn="r">
              <a:spcBef>
                <a:spcPts val="0"/>
              </a:spcBef>
              <a:buNone/>
              <a:defRPr>
                <a:solidFill>
                  <a:srgbClr val="888888"/>
                </a:solidFill>
                <a:latin typeface="Calibri"/>
                <a:ea typeface="Calibri"/>
                <a:cs typeface="Calibri"/>
                <a:sym typeface="Calibri"/>
              </a:defRPr>
            </a:lvl1pPr>
            <a:lvl2pPr indent="0" lvl="1" marL="0" algn="r">
              <a:spcBef>
                <a:spcPts val="0"/>
              </a:spcBef>
              <a:buNone/>
              <a:defRPr>
                <a:solidFill>
                  <a:srgbClr val="888888"/>
                </a:solidFill>
                <a:latin typeface="Calibri"/>
                <a:ea typeface="Calibri"/>
                <a:cs typeface="Calibri"/>
                <a:sym typeface="Calibri"/>
              </a:defRPr>
            </a:lvl2pPr>
            <a:lvl3pPr indent="0" lvl="2" marL="0" algn="r">
              <a:spcBef>
                <a:spcPts val="0"/>
              </a:spcBef>
              <a:buNone/>
              <a:defRPr>
                <a:solidFill>
                  <a:srgbClr val="888888"/>
                </a:solidFill>
                <a:latin typeface="Calibri"/>
                <a:ea typeface="Calibri"/>
                <a:cs typeface="Calibri"/>
                <a:sym typeface="Calibri"/>
              </a:defRPr>
            </a:lvl3pPr>
            <a:lvl4pPr indent="0" lvl="3" marL="0" algn="r">
              <a:spcBef>
                <a:spcPts val="0"/>
              </a:spcBef>
              <a:buNone/>
              <a:defRPr>
                <a:solidFill>
                  <a:srgbClr val="888888"/>
                </a:solidFill>
                <a:latin typeface="Calibri"/>
                <a:ea typeface="Calibri"/>
                <a:cs typeface="Calibri"/>
                <a:sym typeface="Calibri"/>
              </a:defRPr>
            </a:lvl4pPr>
            <a:lvl5pPr indent="0" lvl="4" marL="0" algn="r">
              <a:spcBef>
                <a:spcPts val="0"/>
              </a:spcBef>
              <a:buNone/>
              <a:defRPr>
                <a:solidFill>
                  <a:srgbClr val="888888"/>
                </a:solidFill>
                <a:latin typeface="Calibri"/>
                <a:ea typeface="Calibri"/>
                <a:cs typeface="Calibri"/>
                <a:sym typeface="Calibri"/>
              </a:defRPr>
            </a:lvl5pPr>
            <a:lvl6pPr indent="0" lvl="5" marL="0" algn="r">
              <a:spcBef>
                <a:spcPts val="0"/>
              </a:spcBef>
              <a:buNone/>
              <a:defRPr>
                <a:solidFill>
                  <a:srgbClr val="888888"/>
                </a:solidFill>
                <a:latin typeface="Calibri"/>
                <a:ea typeface="Calibri"/>
                <a:cs typeface="Calibri"/>
                <a:sym typeface="Calibri"/>
              </a:defRPr>
            </a:lvl6pPr>
            <a:lvl7pPr indent="0" lvl="6" marL="0" algn="r">
              <a:spcBef>
                <a:spcPts val="0"/>
              </a:spcBef>
              <a:buNone/>
              <a:defRPr>
                <a:solidFill>
                  <a:srgbClr val="888888"/>
                </a:solidFill>
                <a:latin typeface="Calibri"/>
                <a:ea typeface="Calibri"/>
                <a:cs typeface="Calibri"/>
                <a:sym typeface="Calibri"/>
              </a:defRPr>
            </a:lvl7pPr>
            <a:lvl8pPr indent="0" lvl="7" marL="0" algn="r">
              <a:spcBef>
                <a:spcPts val="0"/>
              </a:spcBef>
              <a:buNone/>
              <a:defRPr>
                <a:solidFill>
                  <a:srgbClr val="888888"/>
                </a:solidFill>
                <a:latin typeface="Calibri"/>
                <a:ea typeface="Calibri"/>
                <a:cs typeface="Calibri"/>
                <a:sym typeface="Calibri"/>
              </a:defRPr>
            </a:lvl8pPr>
            <a:lvl9pPr indent="0" lvl="8" marL="0" algn="r">
              <a:spcBef>
                <a:spcPts val="0"/>
              </a:spcBef>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e95c23c488_48_6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g3e95c23c488_48_6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2" name="Google Shape;12;g3e95c23c488_48_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3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4.png"/><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22.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nvSpPr>
        <p:spPr>
          <a:xfrm>
            <a:off x="113655" y="2153400"/>
            <a:ext cx="21723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7F7F7F"/>
                </a:solidFill>
                <a:latin typeface="Century Gothic"/>
                <a:ea typeface="Century Gothic"/>
                <a:cs typeface="Century Gothic"/>
                <a:sym typeface="Century Gothic"/>
              </a:rPr>
              <a:t>Core Course </a:t>
            </a:r>
            <a:endParaRPr/>
          </a:p>
        </p:txBody>
      </p:sp>
      <p:sp>
        <p:nvSpPr>
          <p:cNvPr id="79" name="Google Shape;79;p1"/>
          <p:cNvSpPr txBox="1"/>
          <p:nvPr/>
        </p:nvSpPr>
        <p:spPr>
          <a:xfrm>
            <a:off x="56477" y="2615075"/>
            <a:ext cx="68136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a:solidFill>
                  <a:srgbClr val="262626"/>
                </a:solidFill>
                <a:latin typeface="Century Gothic"/>
                <a:ea typeface="Century Gothic"/>
                <a:cs typeface="Century Gothic"/>
                <a:sym typeface="Century Gothic"/>
              </a:rPr>
              <a:t>Generative AI</a:t>
            </a:r>
            <a:endParaRPr/>
          </a:p>
          <a:p>
            <a:pPr indent="0" lvl="0" marL="0" marR="0" rtl="0" algn="l">
              <a:spcBef>
                <a:spcPts val="0"/>
              </a:spcBef>
              <a:spcAft>
                <a:spcPts val="0"/>
              </a:spcAft>
              <a:buNone/>
            </a:pPr>
            <a:r>
              <a:rPr b="0" i="0" lang="en-US" sz="2400">
                <a:solidFill>
                  <a:srgbClr val="374151"/>
                </a:solidFill>
                <a:latin typeface="Century Gothic"/>
                <a:ea typeface="Century Gothic"/>
                <a:cs typeface="Century Gothic"/>
                <a:sym typeface="Century Gothic"/>
              </a:rPr>
              <a:t>VI</a:t>
            </a:r>
            <a:r>
              <a:rPr b="0" baseline="30000" i="0" lang="en-US" sz="2400">
                <a:solidFill>
                  <a:srgbClr val="374151"/>
                </a:solidFill>
                <a:latin typeface="Century Gothic"/>
                <a:ea typeface="Century Gothic"/>
                <a:cs typeface="Century Gothic"/>
                <a:sym typeface="Century Gothic"/>
              </a:rPr>
              <a:t>th</a:t>
            </a:r>
            <a:r>
              <a:rPr b="0" i="0" lang="en-US" sz="2400">
                <a:solidFill>
                  <a:srgbClr val="374151"/>
                </a:solidFill>
                <a:latin typeface="Century Gothic"/>
                <a:ea typeface="Century Gothic"/>
                <a:cs typeface="Century Gothic"/>
                <a:sym typeface="Century Gothic"/>
              </a:rPr>
              <a:t> Semester AY 2024-25</a:t>
            </a:r>
            <a:endParaRPr b="1" i="0" sz="2400">
              <a:solidFill>
                <a:srgbClr val="262626"/>
              </a:solidFill>
              <a:latin typeface="Century Gothic"/>
              <a:ea typeface="Century Gothic"/>
              <a:cs typeface="Century Gothic"/>
              <a:sym typeface="Century Gothic"/>
            </a:endParaRPr>
          </a:p>
        </p:txBody>
      </p:sp>
      <p:sp>
        <p:nvSpPr>
          <p:cNvPr id="80" name="Google Shape;80;p1"/>
          <p:cNvSpPr txBox="1"/>
          <p:nvPr/>
        </p:nvSpPr>
        <p:spPr>
          <a:xfrm>
            <a:off x="113652" y="3705239"/>
            <a:ext cx="6699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a:solidFill>
                  <a:srgbClr val="262626"/>
                </a:solidFill>
                <a:latin typeface="Century Gothic"/>
                <a:ea typeface="Century Gothic"/>
                <a:cs typeface="Century Gothic"/>
                <a:sym typeface="Century Gothic"/>
              </a:rPr>
              <a:t>(2-0-1)</a:t>
            </a:r>
            <a:endParaRPr/>
          </a:p>
        </p:txBody>
      </p:sp>
      <p:sp>
        <p:nvSpPr>
          <p:cNvPr id="81" name="Google Shape;81;p1"/>
          <p:cNvSpPr txBox="1"/>
          <p:nvPr/>
        </p:nvSpPr>
        <p:spPr>
          <a:xfrm>
            <a:off x="6927273" y="3118899"/>
            <a:ext cx="5264727" cy="1261884"/>
          </a:xfrm>
          <a:prstGeom prst="rect">
            <a:avLst/>
          </a:prstGeom>
          <a:solidFill>
            <a:srgbClr val="AC0204"/>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a:solidFill>
                  <a:schemeClr val="lt1"/>
                </a:solidFill>
                <a:latin typeface="Century Gothic"/>
                <a:ea typeface="Century Gothic"/>
                <a:cs typeface="Century Gothic"/>
                <a:sym typeface="Century Gothic"/>
              </a:rPr>
              <a:t>Chapter-4</a:t>
            </a:r>
            <a:endParaRPr/>
          </a:p>
          <a:p>
            <a:pPr indent="0" lvl="0" marL="0" marR="0" rtl="0" algn="l">
              <a:spcBef>
                <a:spcPts val="0"/>
              </a:spcBef>
              <a:spcAft>
                <a:spcPts val="0"/>
              </a:spcAft>
              <a:buNone/>
            </a:pPr>
            <a:r>
              <a:rPr b="1" i="0" lang="en-US" sz="2800">
                <a:solidFill>
                  <a:schemeClr val="lt1"/>
                </a:solidFill>
                <a:latin typeface="Century Gothic"/>
                <a:ea typeface="Century Gothic"/>
                <a:cs typeface="Century Gothic"/>
                <a:sym typeface="Century Gothic"/>
              </a:rPr>
              <a:t>Generative Models II: Autoregressive Models</a:t>
            </a:r>
            <a:endParaRPr b="1" i="0" sz="1400">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nvSpPr>
        <p:spPr>
          <a:xfrm>
            <a:off x="113654" y="191935"/>
            <a:ext cx="111071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8B0505"/>
                </a:solidFill>
                <a:latin typeface="Century Gothic"/>
                <a:ea typeface="Century Gothic"/>
                <a:cs typeface="Century Gothic"/>
                <a:sym typeface="Century Gothic"/>
              </a:rPr>
              <a:t>Agenda:</a:t>
            </a:r>
            <a:endParaRPr/>
          </a:p>
        </p:txBody>
      </p:sp>
      <p:sp>
        <p:nvSpPr>
          <p:cNvPr id="88" name="Google Shape;88;p2"/>
          <p:cNvSpPr txBox="1"/>
          <p:nvPr/>
        </p:nvSpPr>
        <p:spPr>
          <a:xfrm>
            <a:off x="145350" y="1059750"/>
            <a:ext cx="11901300" cy="48948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rgbClr val="C55A11"/>
              </a:buClr>
              <a:buSzPts val="2400"/>
              <a:buFont typeface="Arial"/>
              <a:buChar char="•"/>
            </a:pPr>
            <a:r>
              <a:rPr b="1" lang="en-US" sz="2400">
                <a:solidFill>
                  <a:srgbClr val="C55A11"/>
                </a:solidFill>
                <a:latin typeface="Calibri"/>
                <a:ea typeface="Calibri"/>
                <a:cs typeface="Calibri"/>
                <a:sym typeface="Calibri"/>
              </a:rPr>
              <a:t>Definition and Principle:</a:t>
            </a:r>
            <a:r>
              <a:rPr lang="en-US" sz="2400">
                <a:solidFill>
                  <a:srgbClr val="C55A11"/>
                </a:solidFill>
                <a:latin typeface="Calibri"/>
                <a:ea typeface="Calibri"/>
                <a:cs typeface="Calibri"/>
                <a:sym typeface="Calibri"/>
              </a:rPr>
              <a:t> </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Autoregressive Property, </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Conditional Dependence, </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Autoregressive Process</a:t>
            </a:r>
            <a:endParaRPr/>
          </a:p>
          <a:p>
            <a:pPr indent="-342900" lvl="0" marL="342900" marR="0" rtl="0" algn="just">
              <a:lnSpc>
                <a:spcPct val="150000"/>
              </a:lnSpc>
              <a:spcBef>
                <a:spcPts val="0"/>
              </a:spcBef>
              <a:spcAft>
                <a:spcPts val="0"/>
              </a:spcAft>
              <a:buClr>
                <a:srgbClr val="C55A11"/>
              </a:buClr>
              <a:buSzPts val="2400"/>
              <a:buFont typeface="Arial"/>
              <a:buChar char="•"/>
            </a:pPr>
            <a:r>
              <a:rPr b="1" lang="en-US" sz="2400">
                <a:solidFill>
                  <a:srgbClr val="C55A11"/>
                </a:solidFill>
                <a:latin typeface="Calibri"/>
                <a:ea typeface="Calibri"/>
                <a:cs typeface="Calibri"/>
                <a:sym typeface="Calibri"/>
              </a:rPr>
              <a:t>Examples of Autoregressive Models: </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AR Models in Time Series Analysis, </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Autoregressive Integrated Moving Average (ARIMA)</a:t>
            </a:r>
            <a:endParaRPr/>
          </a:p>
          <a:p>
            <a:pPr indent="-342900" lvl="0" marL="342900" marR="0" rtl="0" algn="just">
              <a:lnSpc>
                <a:spcPct val="150000"/>
              </a:lnSpc>
              <a:spcBef>
                <a:spcPts val="0"/>
              </a:spcBef>
              <a:spcAft>
                <a:spcPts val="0"/>
              </a:spcAft>
              <a:buClr>
                <a:srgbClr val="C55A11"/>
              </a:buClr>
              <a:buSzPts val="2400"/>
              <a:buFont typeface="Arial"/>
              <a:buChar char="•"/>
            </a:pPr>
            <a:r>
              <a:rPr b="1" lang="en-US" sz="2400">
                <a:solidFill>
                  <a:srgbClr val="C55A11"/>
                </a:solidFill>
                <a:latin typeface="Calibri"/>
                <a:ea typeface="Calibri"/>
                <a:cs typeface="Calibri"/>
                <a:sym typeface="Calibri"/>
              </a:rPr>
              <a:t>Autoregressive Models for Generative AI: </a:t>
            </a:r>
            <a:endParaRPr/>
          </a:p>
          <a:p>
            <a:pPr indent="-342900" lvl="1" marL="800100" marR="0" rtl="0" algn="l">
              <a:lnSpc>
                <a:spcPct val="15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a:t>
            </a:r>
            <a:r>
              <a:rPr b="0" i="0" lang="en-US" sz="2400" u="none" cap="none" strike="noStrike">
                <a:solidFill>
                  <a:schemeClr val="dk1"/>
                </a:solidFill>
                <a:latin typeface="Calibri"/>
                <a:ea typeface="Calibri"/>
                <a:cs typeface="Calibri"/>
                <a:sym typeface="Calibri"/>
              </a:rPr>
              <a:t>PixelCNN, WaveNet)- Overview, Architecture, Training, Applications </a:t>
            </a:r>
            <a:endParaRPr b="0" i="0" sz="3200" u="none" cap="none" strike="noStrike">
              <a:solidFill>
                <a:schemeClr val="accent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163286" y="207219"/>
            <a:ext cx="6103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Definition and Principle</a:t>
            </a:r>
            <a:endParaRPr/>
          </a:p>
        </p:txBody>
      </p:sp>
      <p:sp>
        <p:nvSpPr>
          <p:cNvPr id="95" name="Google Shape;95;p3"/>
          <p:cNvSpPr txBox="1"/>
          <p:nvPr/>
        </p:nvSpPr>
        <p:spPr>
          <a:xfrm>
            <a:off x="175950" y="1081200"/>
            <a:ext cx="11681400" cy="23088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just">
              <a:spcBef>
                <a:spcPts val="0"/>
              </a:spcBef>
              <a:spcAft>
                <a:spcPts val="0"/>
              </a:spcAft>
              <a:buNone/>
            </a:pPr>
            <a:r>
              <a:rPr b="1" lang="en-US" sz="2800">
                <a:solidFill>
                  <a:schemeClr val="dk1"/>
                </a:solidFill>
                <a:latin typeface="Century Gothic"/>
                <a:ea typeface="Century Gothic"/>
                <a:cs typeface="Century Gothic"/>
                <a:sym typeface="Century Gothic"/>
              </a:rPr>
              <a:t>Definition</a:t>
            </a:r>
            <a:endParaRPr/>
          </a:p>
          <a:p>
            <a:pPr indent="-342900" lvl="0" marL="342900" marR="0" rtl="0" algn="just">
              <a:spcBef>
                <a:spcPts val="0"/>
              </a:spcBef>
              <a:spcAft>
                <a:spcPts val="0"/>
              </a:spcAft>
              <a:buClr>
                <a:schemeClr val="dk1"/>
              </a:buClr>
              <a:buSzPts val="2200"/>
              <a:buFont typeface="Arial"/>
              <a:buChar char="•"/>
            </a:pPr>
            <a:r>
              <a:rPr lang="en-US" sz="2200">
                <a:solidFill>
                  <a:schemeClr val="dk1"/>
                </a:solidFill>
                <a:latin typeface="Century Gothic"/>
                <a:ea typeface="Century Gothic"/>
                <a:cs typeface="Century Gothic"/>
                <a:sym typeface="Century Gothic"/>
              </a:rPr>
              <a:t>Autoregressive models are a class of machine learning models that automatically predict the next component in a sequence by taking measurements from previous inputs in the sequence. </a:t>
            </a:r>
            <a:endParaRPr sz="2200">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200"/>
              <a:buFont typeface="Arial"/>
              <a:buChar char="•"/>
            </a:pPr>
            <a:r>
              <a:rPr lang="en-US" sz="2200">
                <a:solidFill>
                  <a:schemeClr val="dk1"/>
                </a:solidFill>
                <a:latin typeface="Century Gothic"/>
                <a:ea typeface="Century Gothic"/>
                <a:cs typeface="Century Gothic"/>
                <a:sym typeface="Century Gothic"/>
              </a:rPr>
              <a:t>They are statistical models used for time series analysis, where current values are predicted based on a linear combination of past values</a:t>
            </a:r>
            <a:r>
              <a:rPr lang="en-US" sz="2000">
                <a:solidFill>
                  <a:schemeClr val="dk1"/>
                </a:solidFill>
                <a:latin typeface="Century Gothic"/>
                <a:ea typeface="Century Gothic"/>
                <a:cs typeface="Century Gothic"/>
                <a:sym typeface="Century Gothic"/>
              </a:rPr>
              <a:t>.</a:t>
            </a:r>
            <a:endParaRPr/>
          </a:p>
        </p:txBody>
      </p:sp>
      <p:sp>
        <p:nvSpPr>
          <p:cNvPr id="96" name="Google Shape;96;p3"/>
          <p:cNvSpPr txBox="1"/>
          <p:nvPr/>
        </p:nvSpPr>
        <p:spPr>
          <a:xfrm>
            <a:off x="275895" y="3448766"/>
            <a:ext cx="11681400" cy="2872500"/>
          </a:xfrm>
          <a:prstGeom prst="rect">
            <a:avLst/>
          </a:prstGeom>
          <a:blipFill rotWithShape="1">
            <a:blip r:embed="rId3">
              <a:alphaModFix/>
            </a:blip>
            <a:stretch>
              <a:fillRect b="-1950" l="-1080" r="-520" t="-8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163286" y="207219"/>
            <a:ext cx="61032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Property</a:t>
            </a:r>
            <a:endParaRPr/>
          </a:p>
        </p:txBody>
      </p:sp>
      <p:sp>
        <p:nvSpPr>
          <p:cNvPr id="103" name="Google Shape;103;p4"/>
          <p:cNvSpPr txBox="1"/>
          <p:nvPr/>
        </p:nvSpPr>
        <p:spPr>
          <a:xfrm>
            <a:off x="163286" y="917913"/>
            <a:ext cx="11927114" cy="1723547"/>
          </a:xfrm>
          <a:prstGeom prst="rect">
            <a:avLst/>
          </a:prstGeom>
          <a:solidFill>
            <a:srgbClr val="FFFFFF"/>
          </a:solidFill>
          <a:ln>
            <a:noFill/>
          </a:ln>
        </p:spPr>
        <p:txBody>
          <a:bodyPr anchorCtr="0" anchor="t" bIns="91425" lIns="91425" spcFirstLastPara="1" rIns="91425" wrap="square" tIns="91425">
            <a:spAutoFit/>
          </a:bodyPr>
          <a:lstStyle/>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The </a:t>
            </a:r>
            <a:r>
              <a:rPr b="1" lang="en-US" sz="2000">
                <a:solidFill>
                  <a:schemeClr val="dk1"/>
                </a:solidFill>
                <a:latin typeface="Century Gothic"/>
                <a:ea typeface="Century Gothic"/>
                <a:cs typeface="Century Gothic"/>
                <a:sym typeface="Century Gothic"/>
              </a:rPr>
              <a:t>autoregressive property</a:t>
            </a:r>
            <a:r>
              <a:rPr lang="en-US" sz="2000">
                <a:solidFill>
                  <a:schemeClr val="dk1"/>
                </a:solidFill>
                <a:latin typeface="Century Gothic"/>
                <a:ea typeface="Century Gothic"/>
                <a:cs typeface="Century Gothic"/>
                <a:sym typeface="Century Gothic"/>
              </a:rPr>
              <a:t> refers to the fact that the model’s predictions for future values are made </a:t>
            </a:r>
            <a:r>
              <a:rPr b="1" lang="en-US" sz="2000">
                <a:solidFill>
                  <a:schemeClr val="dk1"/>
                </a:solidFill>
                <a:latin typeface="Century Gothic"/>
                <a:ea typeface="Century Gothic"/>
                <a:cs typeface="Century Gothic"/>
                <a:sym typeface="Century Gothic"/>
              </a:rPr>
              <a:t>only based on past observations</a:t>
            </a:r>
            <a:r>
              <a:rPr lang="en-US" sz="2000">
                <a:solidFill>
                  <a:schemeClr val="dk1"/>
                </a:solidFill>
                <a:latin typeface="Century Gothic"/>
                <a:ea typeface="Century Gothic"/>
                <a:cs typeface="Century Gothic"/>
                <a:sym typeface="Century Gothic"/>
              </a:rPr>
              <a:t> of the same series. </a:t>
            </a:r>
            <a:endParaRPr sz="2000">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In other words, an AR model assumes a direct dependency of the current value on its previous values. </a:t>
            </a:r>
            <a:endParaRPr sz="2000">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000"/>
              <a:buFont typeface="Arial"/>
              <a:buChar char="•"/>
            </a:pPr>
            <a:r>
              <a:rPr lang="en-US" sz="2000">
                <a:solidFill>
                  <a:schemeClr val="dk1"/>
                </a:solidFill>
                <a:latin typeface="Century Gothic"/>
                <a:ea typeface="Century Gothic"/>
                <a:cs typeface="Century Gothic"/>
                <a:sym typeface="Century Gothic"/>
              </a:rPr>
              <a:t>This recursive dependence on past values gives the model its name "</a:t>
            </a:r>
            <a:r>
              <a:rPr b="1" lang="en-US" sz="2000">
                <a:solidFill>
                  <a:schemeClr val="dk1"/>
                </a:solidFill>
                <a:latin typeface="Century Gothic"/>
                <a:ea typeface="Century Gothic"/>
                <a:cs typeface="Century Gothic"/>
                <a:sym typeface="Century Gothic"/>
              </a:rPr>
              <a:t>autoregressive</a:t>
            </a:r>
            <a:r>
              <a:rPr lang="en-US" sz="2000">
                <a:solidFill>
                  <a:schemeClr val="dk1"/>
                </a:solidFill>
                <a:latin typeface="Century Gothic"/>
                <a:ea typeface="Century Gothic"/>
                <a:cs typeface="Century Gothic"/>
                <a:sym typeface="Century Gothic"/>
              </a:rPr>
              <a:t>."</a:t>
            </a:r>
            <a:endParaRPr/>
          </a:p>
        </p:txBody>
      </p:sp>
      <p:sp>
        <p:nvSpPr>
          <p:cNvPr id="104" name="Google Shape;104;p4"/>
          <p:cNvSpPr txBox="1"/>
          <p:nvPr/>
        </p:nvSpPr>
        <p:spPr>
          <a:xfrm>
            <a:off x="3462106" y="2845443"/>
            <a:ext cx="4745082" cy="105041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05" name="Google Shape;105;p4"/>
          <p:cNvSpPr txBox="1"/>
          <p:nvPr/>
        </p:nvSpPr>
        <p:spPr>
          <a:xfrm>
            <a:off x="280474" y="4099841"/>
            <a:ext cx="6073800" cy="2120400"/>
          </a:xfrm>
          <a:prstGeom prst="rect">
            <a:avLst/>
          </a:prstGeom>
          <a:blipFill rotWithShape="1">
            <a:blip r:embed="rId4">
              <a:alphaModFix/>
            </a:blip>
            <a:stretch>
              <a:fillRect b="-2299" l="0" r="-80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nvSpPr>
        <p:spPr>
          <a:xfrm>
            <a:off x="46032" y="217385"/>
            <a:ext cx="459773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Conditional Dependence</a:t>
            </a:r>
            <a:endParaRPr/>
          </a:p>
        </p:txBody>
      </p:sp>
      <p:sp>
        <p:nvSpPr>
          <p:cNvPr id="111" name="Google Shape;111;p5"/>
          <p:cNvSpPr txBox="1"/>
          <p:nvPr/>
        </p:nvSpPr>
        <p:spPr>
          <a:xfrm>
            <a:off x="193826" y="1157628"/>
            <a:ext cx="11596500" cy="3108600"/>
          </a:xfrm>
          <a:prstGeom prst="rect">
            <a:avLst/>
          </a:prstGeom>
          <a:blipFill rotWithShape="1">
            <a:blip r:embed="rId3">
              <a:alphaModFix/>
            </a:blip>
            <a:stretch>
              <a:fillRect b="-2549" l="-577" r="-526" t="-9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12" name="Google Shape;112;p5"/>
          <p:cNvSpPr txBox="1"/>
          <p:nvPr/>
        </p:nvSpPr>
        <p:spPr>
          <a:xfrm>
            <a:off x="4615541" y="4683254"/>
            <a:ext cx="3518400" cy="5541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13" name="Google Shape;113;p5"/>
          <p:cNvSpPr txBox="1"/>
          <p:nvPr/>
        </p:nvSpPr>
        <p:spPr>
          <a:xfrm>
            <a:off x="3714448" y="5633553"/>
            <a:ext cx="5160965" cy="400110"/>
          </a:xfrm>
          <a:prstGeom prst="rect">
            <a:avLst/>
          </a:prstGeom>
          <a:blipFill rotWithShape="1">
            <a:blip r:embed="rId5">
              <a:alphaModFix/>
            </a:blip>
            <a:stretch>
              <a:fillRect b="-25757" l="-1181" r="0" t="-757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nvSpPr>
        <p:spPr>
          <a:xfrm>
            <a:off x="115088" y="223971"/>
            <a:ext cx="506795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(AR) Model</a:t>
            </a:r>
            <a:endParaRPr/>
          </a:p>
        </p:txBody>
      </p:sp>
      <p:sp>
        <p:nvSpPr>
          <p:cNvPr id="119" name="Google Shape;119;p7"/>
          <p:cNvSpPr txBox="1"/>
          <p:nvPr/>
        </p:nvSpPr>
        <p:spPr>
          <a:xfrm>
            <a:off x="115088" y="952141"/>
            <a:ext cx="11805300" cy="1938900"/>
          </a:xfrm>
          <a:prstGeom prst="rect">
            <a:avLst/>
          </a:prstGeom>
          <a:blipFill rotWithShape="1">
            <a:blip r:embed="rId3">
              <a:alphaModFix/>
            </a:blip>
            <a:stretch>
              <a:fillRect b="-4716" l="-567" r="-567" t="-157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20" name="Google Shape;120;p7"/>
          <p:cNvSpPr txBox="1"/>
          <p:nvPr/>
        </p:nvSpPr>
        <p:spPr>
          <a:xfrm>
            <a:off x="3723459" y="3254421"/>
            <a:ext cx="4745100" cy="10503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21" name="Google Shape;121;p7"/>
          <p:cNvSpPr txBox="1"/>
          <p:nvPr/>
        </p:nvSpPr>
        <p:spPr>
          <a:xfrm>
            <a:off x="311899" y="4409537"/>
            <a:ext cx="4891500" cy="1323300"/>
          </a:xfrm>
          <a:prstGeom prst="rect">
            <a:avLst/>
          </a:prstGeom>
          <a:blipFill rotWithShape="1">
            <a:blip r:embed="rId5">
              <a:alphaModFix/>
            </a:blip>
            <a:stretch>
              <a:fillRect b="-7372" l="-1371" r="-748" t="-230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nvSpPr>
        <p:spPr>
          <a:xfrm>
            <a:off x="115100" y="941099"/>
            <a:ext cx="11375400" cy="4975800"/>
          </a:xfrm>
          <a:prstGeom prst="rect">
            <a:avLst/>
          </a:prstGeom>
          <a:blipFill rotWithShape="1">
            <a:blip r:embed="rId3">
              <a:alphaModFix/>
            </a:blip>
            <a:stretch>
              <a:fillRect b="-1714" l="-761" r="0" t="-979"/>
            </a:stretch>
          </a:blip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27" name="Google Shape;127;p8"/>
          <p:cNvSpPr txBox="1"/>
          <p:nvPr/>
        </p:nvSpPr>
        <p:spPr>
          <a:xfrm>
            <a:off x="115088" y="223971"/>
            <a:ext cx="506795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(AR)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nvSpPr>
        <p:spPr>
          <a:xfrm>
            <a:off x="150115" y="190902"/>
            <a:ext cx="526297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Moving Average (MA) Model</a:t>
            </a:r>
            <a:endParaRPr/>
          </a:p>
        </p:txBody>
      </p:sp>
      <p:sp>
        <p:nvSpPr>
          <p:cNvPr id="133" name="Google Shape;133;p9"/>
          <p:cNvSpPr txBox="1"/>
          <p:nvPr/>
        </p:nvSpPr>
        <p:spPr>
          <a:xfrm>
            <a:off x="150115" y="956703"/>
            <a:ext cx="11891772" cy="1744388"/>
          </a:xfrm>
          <a:prstGeom prst="rect">
            <a:avLst/>
          </a:prstGeom>
          <a:blipFill rotWithShape="1">
            <a:blip r:embed="rId3">
              <a:alphaModFix/>
            </a:blip>
            <a:stretch>
              <a:fillRect b="-1398" l="-563" r="-563" t="-209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34" name="Google Shape;134;p9"/>
          <p:cNvSpPr txBox="1"/>
          <p:nvPr/>
        </p:nvSpPr>
        <p:spPr>
          <a:xfrm>
            <a:off x="4141337" y="2790972"/>
            <a:ext cx="3998595" cy="904543"/>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35" name="Google Shape;135;p9"/>
          <p:cNvSpPr txBox="1"/>
          <p:nvPr/>
        </p:nvSpPr>
        <p:spPr>
          <a:xfrm>
            <a:off x="1498582" y="4262276"/>
            <a:ext cx="6414600" cy="1631100"/>
          </a:xfrm>
          <a:prstGeom prst="rect">
            <a:avLst/>
          </a:prstGeom>
          <a:blipFill rotWithShape="1">
            <a:blip r:embed="rId5">
              <a:alphaModFix/>
            </a:blip>
            <a:stretch>
              <a:fillRect b="-5597" l="-1046" r="-285" t="-186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nvSpPr>
        <p:spPr>
          <a:xfrm>
            <a:off x="150115" y="854053"/>
            <a:ext cx="11767317" cy="5528565"/>
          </a:xfrm>
          <a:prstGeom prst="rect">
            <a:avLst/>
          </a:prstGeom>
          <a:blipFill rotWithShape="1">
            <a:blip r:embed="rId3">
              <a:alphaModFix/>
            </a:blip>
            <a:stretch>
              <a:fillRect b="-1322" l="-674"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41" name="Google Shape;141;p10"/>
          <p:cNvSpPr txBox="1"/>
          <p:nvPr/>
        </p:nvSpPr>
        <p:spPr>
          <a:xfrm>
            <a:off x="150115" y="190902"/>
            <a:ext cx="526297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Moving Average (MA) Model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nvSpPr>
        <p:spPr>
          <a:xfrm>
            <a:off x="18676" y="179725"/>
            <a:ext cx="841608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Moving Average (ARMA) Model</a:t>
            </a:r>
            <a:endParaRPr/>
          </a:p>
        </p:txBody>
      </p:sp>
      <p:sp>
        <p:nvSpPr>
          <p:cNvPr id="147" name="Google Shape;147;p11"/>
          <p:cNvSpPr txBox="1"/>
          <p:nvPr/>
        </p:nvSpPr>
        <p:spPr>
          <a:xfrm>
            <a:off x="18676" y="892375"/>
            <a:ext cx="12048406" cy="1836400"/>
          </a:xfrm>
          <a:prstGeom prst="rect">
            <a:avLst/>
          </a:prstGeom>
          <a:blipFill rotWithShape="1">
            <a:blip r:embed="rId3">
              <a:alphaModFix/>
            </a:blip>
            <a:stretch>
              <a:fillRect b="-4635" l="-505" r="-505" t="-165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48" name="Google Shape;148;p11"/>
          <p:cNvSpPr txBox="1"/>
          <p:nvPr/>
        </p:nvSpPr>
        <p:spPr>
          <a:xfrm>
            <a:off x="3615016" y="2777324"/>
            <a:ext cx="5320624" cy="83484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49" name="Google Shape;149;p11"/>
          <p:cNvSpPr txBox="1"/>
          <p:nvPr/>
        </p:nvSpPr>
        <p:spPr>
          <a:xfrm>
            <a:off x="289492" y="4342358"/>
            <a:ext cx="4481700" cy="1169700"/>
          </a:xfrm>
          <a:prstGeom prst="rect">
            <a:avLst/>
          </a:prstGeom>
          <a:blipFill rotWithShape="1">
            <a:blip r:embed="rId5">
              <a:alphaModFix/>
            </a:blip>
            <a:stretch>
              <a:fillRect b="-8332" l="-1358" r="-542" t="-26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50" name="Google Shape;150;p11"/>
          <p:cNvSpPr txBox="1"/>
          <p:nvPr/>
        </p:nvSpPr>
        <p:spPr>
          <a:xfrm>
            <a:off x="6042879" y="4287797"/>
            <a:ext cx="4561500" cy="1140300"/>
          </a:xfrm>
          <a:prstGeom prst="rect">
            <a:avLst/>
          </a:prstGeom>
          <a:blipFill rotWithShape="1">
            <a:blip r:embed="rId6">
              <a:alphaModFix/>
            </a:blip>
            <a:stretch>
              <a:fillRect b="-8020" l="-1334" r="-534" t="-37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nvSpPr>
        <p:spPr>
          <a:xfrm>
            <a:off x="208777" y="984763"/>
            <a:ext cx="11557396" cy="534505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Century Gothic"/>
                <a:ea typeface="Century Gothic"/>
                <a:cs typeface="Century Gothic"/>
                <a:sym typeface="Century Gothic"/>
              </a:rPr>
              <a:t>Key Highlights:</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ARMA models capture both the autoregressive patterns and moving average patterns in a time series</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Suitable for stationary time series</a:t>
            </a:r>
            <a:endParaRPr/>
          </a:p>
          <a:p>
            <a:pPr indent="0" lvl="0" marL="0" marR="0" rtl="0" algn="just">
              <a:spcBef>
                <a:spcPts val="1550"/>
              </a:spcBef>
              <a:spcAft>
                <a:spcPts val="0"/>
              </a:spcAft>
              <a:buNone/>
            </a:pPr>
            <a:r>
              <a:rPr b="1" lang="en-US" sz="2400">
                <a:solidFill>
                  <a:schemeClr val="dk1"/>
                </a:solidFill>
                <a:latin typeface="Century Gothic"/>
                <a:ea typeface="Century Gothic"/>
                <a:cs typeface="Century Gothic"/>
                <a:sym typeface="Century Gothic"/>
              </a:rPr>
              <a:t>Advantages:</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Captures both past values and residuals for more accurate modeling</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Flexible and can model various types of time series</a:t>
            </a:r>
            <a:endParaRPr/>
          </a:p>
          <a:p>
            <a:pPr indent="0" lvl="0" marL="0" marR="0" rtl="0" algn="just">
              <a:spcBef>
                <a:spcPts val="1550"/>
              </a:spcBef>
              <a:spcAft>
                <a:spcPts val="0"/>
              </a:spcAft>
              <a:buNone/>
            </a:pPr>
            <a:r>
              <a:rPr b="1" lang="en-US" sz="2400">
                <a:solidFill>
                  <a:schemeClr val="dk1"/>
                </a:solidFill>
                <a:latin typeface="Century Gothic"/>
                <a:ea typeface="Century Gothic"/>
                <a:cs typeface="Century Gothic"/>
                <a:sym typeface="Century Gothic"/>
              </a:rPr>
              <a:t>Disadvantages:</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Assumes stationarity, which may not hold for real-world data</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Selecting appropriate values of p and q can be challenging</a:t>
            </a:r>
            <a:endParaRPr/>
          </a:p>
          <a:p>
            <a:pPr indent="0" lvl="0" marL="0" marR="0" rtl="0" algn="just">
              <a:spcBef>
                <a:spcPts val="1550"/>
              </a:spcBef>
              <a:spcAft>
                <a:spcPts val="0"/>
              </a:spcAft>
              <a:buNone/>
            </a:pPr>
            <a:r>
              <a:rPr b="1" lang="en-US" sz="2400">
                <a:solidFill>
                  <a:schemeClr val="dk1"/>
                </a:solidFill>
                <a:latin typeface="Century Gothic"/>
                <a:ea typeface="Century Gothic"/>
                <a:cs typeface="Century Gothic"/>
                <a:sym typeface="Century Gothic"/>
              </a:rPr>
              <a:t>Application: </a:t>
            </a:r>
            <a:endParaRPr sz="2400">
              <a:solidFill>
                <a:schemeClr val="dk1"/>
              </a:solidFill>
              <a:latin typeface="Calibri"/>
              <a:ea typeface="Calibri"/>
              <a:cs typeface="Calibri"/>
              <a:sym typeface="Calibri"/>
            </a:endParaRPr>
          </a:p>
          <a:p>
            <a:pPr indent="-342900" lvl="1" marL="800100" marR="0" rtl="0" algn="just">
              <a:spcBef>
                <a:spcPts val="155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Economic data forecasting</a:t>
            </a:r>
            <a:endParaRPr/>
          </a:p>
        </p:txBody>
      </p:sp>
      <p:sp>
        <p:nvSpPr>
          <p:cNvPr id="156" name="Google Shape;156;p12"/>
          <p:cNvSpPr txBox="1"/>
          <p:nvPr/>
        </p:nvSpPr>
        <p:spPr>
          <a:xfrm>
            <a:off x="18676" y="179725"/>
            <a:ext cx="841608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Moving Average (ARMA) Model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nvSpPr>
        <p:spPr>
          <a:xfrm>
            <a:off x="143148" y="191901"/>
            <a:ext cx="92272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Integrated Moving Average (ARIMA)</a:t>
            </a:r>
            <a:endParaRPr/>
          </a:p>
        </p:txBody>
      </p:sp>
      <p:sp>
        <p:nvSpPr>
          <p:cNvPr id="162" name="Google Shape;162;p13"/>
          <p:cNvSpPr txBox="1"/>
          <p:nvPr/>
        </p:nvSpPr>
        <p:spPr>
          <a:xfrm>
            <a:off x="143148" y="928643"/>
            <a:ext cx="11905705" cy="1938992"/>
          </a:xfrm>
          <a:prstGeom prst="rect">
            <a:avLst/>
          </a:prstGeom>
          <a:blipFill rotWithShape="1">
            <a:blip r:embed="rId3">
              <a:alphaModFix/>
            </a:blip>
            <a:stretch>
              <a:fillRect b="-4716" l="-511" r="-511" t="-157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63" name="Google Shape;163;p13"/>
          <p:cNvSpPr txBox="1"/>
          <p:nvPr/>
        </p:nvSpPr>
        <p:spPr>
          <a:xfrm>
            <a:off x="2935256" y="3093646"/>
            <a:ext cx="7072705" cy="8967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64" name="Google Shape;164;p13"/>
          <p:cNvSpPr txBox="1"/>
          <p:nvPr/>
        </p:nvSpPr>
        <p:spPr>
          <a:xfrm>
            <a:off x="245033" y="4465498"/>
            <a:ext cx="4304512" cy="967188"/>
          </a:xfrm>
          <a:prstGeom prst="rect">
            <a:avLst/>
          </a:prstGeom>
          <a:blipFill rotWithShape="1">
            <a:blip r:embed="rId5">
              <a:alphaModFix/>
            </a:blip>
            <a:stretch>
              <a:fillRect b="-10758" l="-1558" r="-113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nvSpPr>
        <p:spPr>
          <a:xfrm>
            <a:off x="143148" y="988998"/>
            <a:ext cx="11779200" cy="5509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Calibri"/>
                <a:ea typeface="Calibri"/>
                <a:cs typeface="Calibri"/>
                <a:sym typeface="Calibri"/>
              </a:rPr>
              <a:t>Key Highlights:</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Differencing is used to make a non-stationary series stationary</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Can handle both short-term and long-term dependencies</a:t>
            </a:r>
            <a:endParaRPr/>
          </a:p>
          <a:p>
            <a:pPr indent="0" lvl="0" marL="0" marR="0" rtl="0" algn="just">
              <a:spcBef>
                <a:spcPts val="1550"/>
              </a:spcBef>
              <a:spcAft>
                <a:spcPts val="0"/>
              </a:spcAft>
              <a:buNone/>
            </a:pPr>
            <a:r>
              <a:rPr b="1" lang="en-US" sz="2400">
                <a:solidFill>
                  <a:schemeClr val="dk1"/>
                </a:solidFill>
                <a:latin typeface="Calibri"/>
                <a:ea typeface="Calibri"/>
                <a:cs typeface="Calibri"/>
                <a:sym typeface="Calibri"/>
              </a:rPr>
              <a:t>Advantages:</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Handles non-stationary data effectively through differencing</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Widely applicable for a variety of time series types</a:t>
            </a:r>
            <a:endParaRPr/>
          </a:p>
          <a:p>
            <a:pPr indent="0" lvl="0" marL="0" marR="0" rtl="0" algn="just">
              <a:spcBef>
                <a:spcPts val="1550"/>
              </a:spcBef>
              <a:spcAft>
                <a:spcPts val="0"/>
              </a:spcAft>
              <a:buNone/>
            </a:pPr>
            <a:r>
              <a:rPr b="1" lang="en-US" sz="2400">
                <a:solidFill>
                  <a:schemeClr val="dk1"/>
                </a:solidFill>
                <a:latin typeface="Calibri"/>
                <a:ea typeface="Calibri"/>
                <a:cs typeface="Calibri"/>
                <a:sym typeface="Calibri"/>
              </a:rPr>
              <a:t>Disadvantages:</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Selecting appropriate p,d,q values can be complex</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model assumes linear relationships, which may not always be true</a:t>
            </a:r>
            <a:endParaRPr/>
          </a:p>
          <a:p>
            <a:pPr indent="0" lvl="0" marL="0" marR="0" rtl="0" algn="just">
              <a:spcBef>
                <a:spcPts val="1550"/>
              </a:spcBef>
              <a:spcAft>
                <a:spcPts val="0"/>
              </a:spcAft>
              <a:buNone/>
            </a:pPr>
            <a:r>
              <a:rPr b="1" lang="en-US" sz="2400">
                <a:solidFill>
                  <a:schemeClr val="dk1"/>
                </a:solidFill>
                <a:latin typeface="Calibri"/>
                <a:ea typeface="Calibri"/>
                <a:cs typeface="Calibri"/>
                <a:sym typeface="Calibri"/>
              </a:rPr>
              <a:t>Application: Sales forecasting</a:t>
            </a:r>
            <a:endParaRPr/>
          </a:p>
        </p:txBody>
      </p:sp>
      <p:sp>
        <p:nvSpPr>
          <p:cNvPr id="170" name="Google Shape;170;p14"/>
          <p:cNvSpPr txBox="1"/>
          <p:nvPr/>
        </p:nvSpPr>
        <p:spPr>
          <a:xfrm>
            <a:off x="143148" y="191901"/>
            <a:ext cx="9227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Autoregressive Integrated Moving Average (ARIMA)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nvSpPr>
        <p:spPr>
          <a:xfrm>
            <a:off x="143148" y="191901"/>
            <a:ext cx="1901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a:t>
            </a:r>
            <a:endParaRPr b="1" sz="2800">
              <a:solidFill>
                <a:srgbClr val="8B0505"/>
              </a:solidFill>
              <a:latin typeface="Century Gothic"/>
              <a:ea typeface="Century Gothic"/>
              <a:cs typeface="Century Gothic"/>
              <a:sym typeface="Century Gothic"/>
            </a:endParaRPr>
          </a:p>
        </p:txBody>
      </p:sp>
      <p:sp>
        <p:nvSpPr>
          <p:cNvPr id="176" name="Google Shape;176;p15"/>
          <p:cNvSpPr txBox="1"/>
          <p:nvPr/>
        </p:nvSpPr>
        <p:spPr>
          <a:xfrm>
            <a:off x="0" y="756088"/>
            <a:ext cx="11947200" cy="21240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Pixel CNN is a deep learning architecture primarily used for generative tasks, such as generating images pixel by pixel.</a:t>
            </a:r>
            <a:endParaRPr/>
          </a:p>
          <a:p>
            <a:pPr indent="-285750" lvl="0" marL="28575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is a type of Convolutional Neural Network (CNN) designed to model the distribution of pixel values in images by treating the pixel values as conditioned on their neighbors. `</a:t>
            </a:r>
            <a:endParaRPr sz="2400">
              <a:solidFill>
                <a:schemeClr val="dk1"/>
              </a:solidFill>
              <a:latin typeface="Calibri"/>
              <a:ea typeface="Calibri"/>
              <a:cs typeface="Calibri"/>
              <a:sym typeface="Calibri"/>
            </a:endParaRPr>
          </a:p>
        </p:txBody>
      </p:sp>
      <p:sp>
        <p:nvSpPr>
          <p:cNvPr id="177" name="Google Shape;177;p15"/>
          <p:cNvSpPr txBox="1"/>
          <p:nvPr/>
        </p:nvSpPr>
        <p:spPr>
          <a:xfrm>
            <a:off x="159657" y="3048270"/>
            <a:ext cx="11787595" cy="335906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a:solidFill>
                  <a:schemeClr val="accent2"/>
                </a:solidFill>
                <a:latin typeface="Calibri"/>
                <a:ea typeface="Calibri"/>
                <a:cs typeface="Calibri"/>
                <a:sym typeface="Calibri"/>
              </a:rPr>
              <a:t>Coming back to generative modeling, can the idea of autoregression be applied to Image generation as well?</a:t>
            </a:r>
            <a:r>
              <a:rPr b="0" i="0" lang="en-US" sz="2400">
                <a:solidFill>
                  <a:schemeClr val="accent2"/>
                </a:solidFill>
                <a:latin typeface="Calibri"/>
                <a:ea typeface="Calibri"/>
                <a:cs typeface="Calibri"/>
                <a:sym typeface="Calibri"/>
              </a:rPr>
              <a:t> </a:t>
            </a:r>
            <a:endParaRPr/>
          </a:p>
          <a:p>
            <a:pPr indent="0" lvl="0" marL="0" marR="0" rtl="0" algn="l">
              <a:spcBef>
                <a:spcPts val="0"/>
              </a:spcBef>
              <a:spcAft>
                <a:spcPts val="0"/>
              </a:spcAft>
              <a:buNone/>
            </a:pPr>
            <a:r>
              <a:rPr b="0" i="0" lang="en-US" sz="2400">
                <a:solidFill>
                  <a:srgbClr val="242424"/>
                </a:solidFill>
                <a:latin typeface="Calibri"/>
                <a:ea typeface="Calibri"/>
                <a:cs typeface="Calibri"/>
                <a:sym typeface="Calibri"/>
              </a:rPr>
              <a:t>that means,</a:t>
            </a:r>
            <a:endParaRPr/>
          </a:p>
          <a:p>
            <a:pPr indent="-342900" lvl="0" marL="342900" marR="0" rtl="0" algn="just">
              <a:lnSpc>
                <a:spcPct val="150000"/>
              </a:lnSpc>
              <a:spcBef>
                <a:spcPts val="0"/>
              </a:spcBef>
              <a:spcAft>
                <a:spcPts val="0"/>
              </a:spcAft>
              <a:buClr>
                <a:srgbClr val="242424"/>
              </a:buClr>
              <a:buSzPts val="2400"/>
              <a:buFont typeface="Arial"/>
              <a:buChar char="•"/>
            </a:pPr>
            <a:r>
              <a:rPr b="0" i="0" lang="en-US" sz="2400">
                <a:solidFill>
                  <a:srgbClr val="242424"/>
                </a:solidFill>
                <a:latin typeface="Calibri"/>
                <a:ea typeface="Calibri"/>
                <a:cs typeface="Calibri"/>
                <a:sym typeface="Calibri"/>
              </a:rPr>
              <a:t>We start considering images as a sequence of pixels (flatten the image, then this can make sense)</a:t>
            </a:r>
            <a:endParaRPr/>
          </a:p>
          <a:p>
            <a:pPr indent="-342900" lvl="0" marL="342900" marR="0" rtl="0" algn="just">
              <a:lnSpc>
                <a:spcPct val="150000"/>
              </a:lnSpc>
              <a:spcBef>
                <a:spcPts val="0"/>
              </a:spcBef>
              <a:spcAft>
                <a:spcPts val="0"/>
              </a:spcAft>
              <a:buClr>
                <a:srgbClr val="242424"/>
              </a:buClr>
              <a:buSzPts val="2400"/>
              <a:buFont typeface="Arial"/>
              <a:buChar char="•"/>
            </a:pPr>
            <a:r>
              <a:rPr b="0" i="0" lang="en-US" sz="2400">
                <a:solidFill>
                  <a:srgbClr val="242424"/>
                </a:solidFill>
                <a:latin typeface="Calibri"/>
                <a:ea typeface="Calibri"/>
                <a:cs typeface="Calibri"/>
                <a:sym typeface="Calibri"/>
              </a:rPr>
              <a:t>Using past pixels, predict the next pixel </a:t>
            </a:r>
            <a:endParaRPr/>
          </a:p>
          <a:p>
            <a:pPr indent="-342900" lvl="0" marL="342900" marR="0" rtl="0" algn="just">
              <a:lnSpc>
                <a:spcPct val="150000"/>
              </a:lnSpc>
              <a:spcBef>
                <a:spcPts val="0"/>
              </a:spcBef>
              <a:spcAft>
                <a:spcPts val="0"/>
              </a:spcAft>
              <a:buClr>
                <a:srgbClr val="242424"/>
              </a:buClr>
              <a:buSzPts val="2400"/>
              <a:buFont typeface="Arial"/>
              <a:buChar char="•"/>
            </a:pPr>
            <a:r>
              <a:rPr b="0" i="0" lang="en-US" sz="2400">
                <a:solidFill>
                  <a:srgbClr val="242424"/>
                </a:solidFill>
                <a:latin typeface="Calibri"/>
                <a:ea typeface="Calibri"/>
                <a:cs typeface="Calibri"/>
                <a:sym typeface="Calibri"/>
              </a:rPr>
              <a:t>This is what the idea of PixelCNN is based 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nvSpPr>
        <p:spPr>
          <a:xfrm>
            <a:off x="143148" y="191901"/>
            <a:ext cx="1901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a:t>
            </a:r>
            <a:endParaRPr b="1" sz="2800">
              <a:solidFill>
                <a:srgbClr val="8B0505"/>
              </a:solidFill>
              <a:latin typeface="Century Gothic"/>
              <a:ea typeface="Century Gothic"/>
              <a:cs typeface="Century Gothic"/>
              <a:sym typeface="Century Gothic"/>
            </a:endParaRPr>
          </a:p>
        </p:txBody>
      </p:sp>
      <p:sp>
        <p:nvSpPr>
          <p:cNvPr id="183" name="Google Shape;183;p16"/>
          <p:cNvSpPr txBox="1"/>
          <p:nvPr/>
        </p:nvSpPr>
        <p:spPr>
          <a:xfrm>
            <a:off x="0" y="907371"/>
            <a:ext cx="12090400" cy="563231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2400">
                <a:solidFill>
                  <a:schemeClr val="accent2"/>
                </a:solidFill>
                <a:latin typeface="Calibri"/>
                <a:ea typeface="Calibri"/>
                <a:cs typeface="Calibri"/>
                <a:sym typeface="Calibri"/>
              </a:rPr>
              <a:t>PixelCNN vs CNN?</a:t>
            </a:r>
            <a:endParaRPr/>
          </a:p>
          <a:p>
            <a:pPr indent="-342900" lvl="1" marL="800100" marR="0" rtl="0" algn="just">
              <a:spcBef>
                <a:spcPts val="0"/>
              </a:spcBef>
              <a:spcAft>
                <a:spcPts val="0"/>
              </a:spcAft>
              <a:buClr>
                <a:srgbClr val="242424"/>
              </a:buClr>
              <a:buSzPts val="2400"/>
              <a:buFont typeface="Arial"/>
              <a:buChar char="•"/>
            </a:pPr>
            <a:r>
              <a:rPr b="0" i="0" lang="en-US" sz="2400" u="none" cap="none" strike="noStrike">
                <a:solidFill>
                  <a:srgbClr val="242424"/>
                </a:solidFill>
                <a:latin typeface="Calibri"/>
                <a:ea typeface="Calibri"/>
                <a:cs typeface="Calibri"/>
                <a:sym typeface="Calibri"/>
              </a:rPr>
              <a:t>So, in a conventional CNN, we don’t consider the image as a sequence of pixels, but we take the whole image as input, apply filters using Conv Layer, max/avg pool, and other operations and get to the output.</a:t>
            </a:r>
            <a:endParaRPr/>
          </a:p>
          <a:p>
            <a:pPr indent="-342900" lvl="1" marL="800100" marR="0" rtl="0" algn="just">
              <a:spcBef>
                <a:spcPts val="0"/>
              </a:spcBef>
              <a:spcAft>
                <a:spcPts val="0"/>
              </a:spcAft>
              <a:buClr>
                <a:srgbClr val="242424"/>
              </a:buClr>
              <a:buSzPts val="2400"/>
              <a:buFont typeface="Arial"/>
              <a:buChar char="•"/>
            </a:pPr>
            <a:r>
              <a:rPr b="0" i="0" lang="en-US" sz="2400" u="none" cap="none" strike="noStrike">
                <a:solidFill>
                  <a:srgbClr val="242424"/>
                </a:solidFill>
                <a:latin typeface="Calibri"/>
                <a:ea typeface="Calibri"/>
                <a:cs typeface="Calibri"/>
                <a:sym typeface="Calibri"/>
              </a:rPr>
              <a:t>In the case of PixelCNN, we are doing the same things but using the Masked version on the kernel in Conv Layers.</a:t>
            </a:r>
            <a:endParaRPr/>
          </a:p>
          <a:p>
            <a:pPr indent="0" lvl="0" marL="0" marR="0" rtl="0" algn="just">
              <a:spcBef>
                <a:spcPts val="0"/>
              </a:spcBef>
              <a:spcAft>
                <a:spcPts val="0"/>
              </a:spcAft>
              <a:buNone/>
            </a:pPr>
            <a:r>
              <a:rPr b="1" i="0" lang="en-US" sz="2400">
                <a:solidFill>
                  <a:srgbClr val="242424"/>
                </a:solidFill>
                <a:latin typeface="Calibri"/>
                <a:ea typeface="Calibri"/>
                <a:cs typeface="Calibri"/>
                <a:sym typeface="Calibri"/>
              </a:rPr>
              <a:t>What is Masking?</a:t>
            </a:r>
            <a:endParaRPr/>
          </a:p>
          <a:p>
            <a:pPr indent="-342900" lvl="1" marL="800100" marR="0" rtl="0" algn="just">
              <a:spcBef>
                <a:spcPts val="0"/>
              </a:spcBef>
              <a:spcAft>
                <a:spcPts val="0"/>
              </a:spcAft>
              <a:buClr>
                <a:srgbClr val="242424"/>
              </a:buClr>
              <a:buSzPts val="2400"/>
              <a:buFont typeface="Arial"/>
              <a:buChar char="•"/>
            </a:pPr>
            <a:r>
              <a:rPr b="0" i="0" lang="en-US" sz="2400" u="none" cap="none" strike="noStrike">
                <a:solidFill>
                  <a:srgbClr val="242424"/>
                </a:solidFill>
                <a:latin typeface="Calibri"/>
                <a:ea typeface="Calibri"/>
                <a:cs typeface="Calibri"/>
                <a:sym typeface="Calibri"/>
              </a:rPr>
              <a:t>We will apply any filter in the Conv Layer to not all values but to a few values hence masking certain values for the model</a:t>
            </a:r>
            <a:endParaRPr/>
          </a:p>
          <a:p>
            <a:pPr indent="0" lvl="0" marL="0" marR="0" rtl="0" algn="just">
              <a:spcBef>
                <a:spcPts val="0"/>
              </a:spcBef>
              <a:spcAft>
                <a:spcPts val="0"/>
              </a:spcAft>
              <a:buNone/>
            </a:pPr>
            <a:r>
              <a:rPr b="0" i="0" lang="en-US" sz="2400">
                <a:solidFill>
                  <a:srgbClr val="242424"/>
                </a:solidFill>
                <a:latin typeface="Calibri"/>
                <a:ea typeface="Calibri"/>
                <a:cs typeface="Calibri"/>
                <a:sym typeface="Calibri"/>
              </a:rPr>
              <a:t>So if we,</a:t>
            </a:r>
            <a:endParaRPr/>
          </a:p>
          <a:p>
            <a:pPr indent="-342900" lvl="1" marL="800100" marR="0" rtl="0" algn="just">
              <a:spcBef>
                <a:spcPts val="0"/>
              </a:spcBef>
              <a:spcAft>
                <a:spcPts val="0"/>
              </a:spcAft>
              <a:buClr>
                <a:srgbClr val="242424"/>
              </a:buClr>
              <a:buSzPts val="2400"/>
              <a:buFont typeface="Arial"/>
              <a:buChar char="•"/>
            </a:pPr>
            <a:r>
              <a:rPr b="0" i="0" lang="en-US" sz="2400" u="none" cap="none" strike="noStrike">
                <a:solidFill>
                  <a:srgbClr val="242424"/>
                </a:solidFill>
                <a:latin typeface="Calibri"/>
                <a:ea typeface="Calibri"/>
                <a:cs typeface="Calibri"/>
                <a:sym typeface="Calibri"/>
              </a:rPr>
              <a:t>Flatten the image (append each row one behind the other to form a 1D array).</a:t>
            </a:r>
            <a:endParaRPr/>
          </a:p>
          <a:p>
            <a:pPr indent="0" lvl="0" marL="0" marR="0" rtl="0" algn="just">
              <a:spcBef>
                <a:spcPts val="0"/>
              </a:spcBef>
              <a:spcAft>
                <a:spcPts val="0"/>
              </a:spcAft>
              <a:buNone/>
            </a:pPr>
            <a:r>
              <a:t/>
            </a:r>
            <a:endParaRPr b="1" i="0" sz="2400">
              <a:solidFill>
                <a:schemeClr val="accent2"/>
              </a:solidFill>
              <a:latin typeface="Calibri"/>
              <a:ea typeface="Calibri"/>
              <a:cs typeface="Calibri"/>
              <a:sym typeface="Calibri"/>
            </a:endParaRPr>
          </a:p>
          <a:p>
            <a:pPr indent="0" lvl="0" marL="0" marR="0" rtl="0" algn="just">
              <a:spcBef>
                <a:spcPts val="0"/>
              </a:spcBef>
              <a:spcAft>
                <a:spcPts val="0"/>
              </a:spcAft>
              <a:buNone/>
            </a:pPr>
            <a:r>
              <a:rPr b="1" i="0" lang="en-US" sz="2400">
                <a:solidFill>
                  <a:schemeClr val="accent2"/>
                </a:solidFill>
                <a:latin typeface="Calibri"/>
                <a:ea typeface="Calibri"/>
                <a:cs typeface="Calibri"/>
                <a:sym typeface="Calibri"/>
              </a:rPr>
              <a:t>Note:</a:t>
            </a:r>
            <a:r>
              <a:rPr b="0" i="0" lang="en-US" sz="2400">
                <a:solidFill>
                  <a:schemeClr val="accent2"/>
                </a:solidFill>
                <a:latin typeface="Calibri"/>
                <a:ea typeface="Calibri"/>
                <a:cs typeface="Calibri"/>
                <a:sym typeface="Calibri"/>
              </a:rPr>
              <a:t> This is just an assumption to make you visualize better, we won’t be flattening the image.</a:t>
            </a:r>
            <a:endParaRPr/>
          </a:p>
          <a:p>
            <a:pPr indent="-342900" lvl="1" marL="800100" marR="0" rtl="0" algn="just">
              <a:spcBef>
                <a:spcPts val="0"/>
              </a:spcBef>
              <a:spcAft>
                <a:spcPts val="0"/>
              </a:spcAft>
              <a:buClr>
                <a:srgbClr val="242424"/>
              </a:buClr>
              <a:buSzPts val="2400"/>
              <a:buFont typeface="Arial"/>
              <a:buChar char="•"/>
            </a:pPr>
            <a:r>
              <a:rPr b="0" i="0" lang="en-US" sz="2400" u="none" cap="none" strike="noStrike">
                <a:solidFill>
                  <a:srgbClr val="242424"/>
                </a:solidFill>
                <a:latin typeface="Calibri"/>
                <a:ea typeface="Calibri"/>
                <a:cs typeface="Calibri"/>
                <a:sym typeface="Calibri"/>
              </a:rPr>
              <a:t>Predict one pixel at a time using the previously predicted pixels. So if you are predicting the 25th pixel in the 1D array, use only the previous 24 pixels already pixel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nvSpPr>
        <p:spPr>
          <a:xfrm>
            <a:off x="143148" y="191901"/>
            <a:ext cx="343074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CNN-working</a:t>
            </a:r>
            <a:endParaRPr b="1" sz="2800">
              <a:solidFill>
                <a:srgbClr val="8B0505"/>
              </a:solidFill>
              <a:latin typeface="Century Gothic"/>
              <a:ea typeface="Century Gothic"/>
              <a:cs typeface="Century Gothic"/>
              <a:sym typeface="Century Gothic"/>
            </a:endParaRPr>
          </a:p>
        </p:txBody>
      </p:sp>
      <p:sp>
        <p:nvSpPr>
          <p:cNvPr id="189" name="Google Shape;189;p17"/>
          <p:cNvSpPr txBox="1"/>
          <p:nvPr/>
        </p:nvSpPr>
        <p:spPr>
          <a:xfrm>
            <a:off x="143148" y="902677"/>
            <a:ext cx="11932738"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alibri"/>
                <a:ea typeface="Calibri"/>
                <a:cs typeface="Calibri"/>
                <a:sym typeface="Calibri"/>
              </a:rPr>
              <a:t>1. Conditional Distribution</a:t>
            </a:r>
            <a:endParaRPr/>
          </a:p>
          <a:p>
            <a:pPr indent="0" lvl="0" marL="0" marR="0" rtl="0" algn="l">
              <a:spcBef>
                <a:spcPts val="0"/>
              </a:spcBef>
              <a:spcAft>
                <a:spcPts val="0"/>
              </a:spcAft>
              <a:buNone/>
            </a:pPr>
            <a:r>
              <a:t/>
            </a:r>
            <a:endParaRPr b="1" sz="2400">
              <a:solidFill>
                <a:schemeClr val="accent2"/>
              </a:solidFill>
              <a:latin typeface="Calibri"/>
              <a:ea typeface="Calibri"/>
              <a:cs typeface="Calibri"/>
              <a:sym typeface="Calibri"/>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PixelCNN is a </a:t>
            </a:r>
            <a:r>
              <a:rPr b="1" i="0" lang="en-US" sz="2400" u="none" cap="none" strike="noStrike">
                <a:solidFill>
                  <a:schemeClr val="dk1"/>
                </a:solidFill>
                <a:latin typeface="Calibri"/>
                <a:ea typeface="Calibri"/>
                <a:cs typeface="Calibri"/>
                <a:sym typeface="Calibri"/>
              </a:rPr>
              <a:t>autoregressive model</a:t>
            </a:r>
            <a:r>
              <a:rPr b="0" i="0" lang="en-US" sz="2400" u="none" cap="none" strike="noStrike">
                <a:solidFill>
                  <a:schemeClr val="dk1"/>
                </a:solidFill>
                <a:latin typeface="Calibri"/>
                <a:ea typeface="Calibri"/>
                <a:cs typeface="Calibri"/>
                <a:sym typeface="Calibri"/>
              </a:rPr>
              <a:t> that models the joint distribution of pixels as the product of conditional probabilities:</a:t>
            </a:r>
            <a:endParaRPr/>
          </a:p>
        </p:txBody>
      </p:sp>
      <p:sp>
        <p:nvSpPr>
          <p:cNvPr id="190" name="Google Shape;190;p17"/>
          <p:cNvSpPr txBox="1"/>
          <p:nvPr/>
        </p:nvSpPr>
        <p:spPr>
          <a:xfrm>
            <a:off x="1094200" y="2926600"/>
            <a:ext cx="4947900" cy="12117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91" name="Google Shape;191;p17"/>
          <p:cNvSpPr txBox="1"/>
          <p:nvPr/>
        </p:nvSpPr>
        <p:spPr>
          <a:xfrm>
            <a:off x="143150" y="5309825"/>
            <a:ext cx="10609800" cy="1015800"/>
          </a:xfrm>
          <a:prstGeom prst="rect">
            <a:avLst/>
          </a:prstGeom>
          <a:blipFill rotWithShape="1">
            <a:blip r:embed="rId4">
              <a:alphaModFix/>
            </a:blip>
            <a:stretch>
              <a:fillRect b="-9580" l="-551" r="-274" t="-299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pic>
        <p:nvPicPr>
          <p:cNvPr descr="Pixel context" id="192" name="Google Shape;192;p17"/>
          <p:cNvPicPr preferRelativeResize="0"/>
          <p:nvPr/>
        </p:nvPicPr>
        <p:blipFill rotWithShape="1">
          <a:blip r:embed="rId5">
            <a:alphaModFix/>
          </a:blip>
          <a:srcRect b="0" l="0" r="0" t="0"/>
          <a:stretch/>
        </p:blipFill>
        <p:spPr>
          <a:xfrm>
            <a:off x="7706447" y="2158093"/>
            <a:ext cx="3526963" cy="36374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nvSpPr>
        <p:spPr>
          <a:xfrm>
            <a:off x="143148" y="191901"/>
            <a:ext cx="663194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CNN-Architectural Components</a:t>
            </a:r>
            <a:endParaRPr b="1" sz="2800">
              <a:solidFill>
                <a:srgbClr val="8B0505"/>
              </a:solidFill>
              <a:latin typeface="Century Gothic"/>
              <a:ea typeface="Century Gothic"/>
              <a:cs typeface="Century Gothic"/>
              <a:sym typeface="Century Gothic"/>
            </a:endParaRPr>
          </a:p>
        </p:txBody>
      </p:sp>
      <p:pic>
        <p:nvPicPr>
          <p:cNvPr descr="A single layer in the Gated PixelCNN architecture" id="198" name="Google Shape;198;p20"/>
          <p:cNvPicPr preferRelativeResize="0"/>
          <p:nvPr/>
        </p:nvPicPr>
        <p:blipFill rotWithShape="1">
          <a:blip r:embed="rId3">
            <a:alphaModFix/>
          </a:blip>
          <a:srcRect b="0" l="0" r="0" t="0"/>
          <a:stretch/>
        </p:blipFill>
        <p:spPr>
          <a:xfrm>
            <a:off x="1229598" y="884666"/>
            <a:ext cx="9732803" cy="3047294"/>
          </a:xfrm>
          <a:prstGeom prst="rect">
            <a:avLst/>
          </a:prstGeom>
          <a:noFill/>
          <a:ln>
            <a:noFill/>
          </a:ln>
        </p:spPr>
      </p:pic>
      <p:sp>
        <p:nvSpPr>
          <p:cNvPr id="199" name="Google Shape;199;p20"/>
          <p:cNvSpPr txBox="1"/>
          <p:nvPr/>
        </p:nvSpPr>
        <p:spPr>
          <a:xfrm>
            <a:off x="228597" y="5349311"/>
            <a:ext cx="11596800" cy="1040400"/>
          </a:xfrm>
          <a:prstGeom prst="rect">
            <a:avLst/>
          </a:prstGeom>
          <a:blipFill rotWithShape="1">
            <a:blip r:embed="rId4">
              <a:alphaModFix/>
            </a:blip>
            <a:stretch>
              <a:fillRect b="-9356" l="-524" r="-524" t="-292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00" name="Google Shape;200;p20"/>
          <p:cNvSpPr txBox="1"/>
          <p:nvPr/>
        </p:nvSpPr>
        <p:spPr>
          <a:xfrm>
            <a:off x="297541" y="3931960"/>
            <a:ext cx="11459029" cy="1001172"/>
          </a:xfrm>
          <a:prstGeom prst="rect">
            <a:avLst/>
          </a:prstGeom>
          <a:blipFill rotWithShape="1">
            <a:blip r:embed="rId5">
              <a:alphaModFix/>
            </a:blip>
            <a:stretch>
              <a:fillRect b="-3658" l="-478" r="0" t="-304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nvSpPr>
        <p:spPr>
          <a:xfrm>
            <a:off x="143148" y="191901"/>
            <a:ext cx="343074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CNN-working</a:t>
            </a:r>
            <a:endParaRPr b="1" sz="2800">
              <a:solidFill>
                <a:srgbClr val="8B0505"/>
              </a:solidFill>
              <a:latin typeface="Century Gothic"/>
              <a:ea typeface="Century Gothic"/>
              <a:cs typeface="Century Gothic"/>
              <a:sym typeface="Century Gothic"/>
            </a:endParaRPr>
          </a:p>
        </p:txBody>
      </p:sp>
      <p:sp>
        <p:nvSpPr>
          <p:cNvPr id="206" name="Google Shape;206;p18"/>
          <p:cNvSpPr txBox="1"/>
          <p:nvPr/>
        </p:nvSpPr>
        <p:spPr>
          <a:xfrm>
            <a:off x="309000" y="1045400"/>
            <a:ext cx="11574000" cy="5264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2"/>
                </a:solidFill>
                <a:latin typeface="Calibri"/>
                <a:ea typeface="Calibri"/>
                <a:cs typeface="Calibri"/>
                <a:sym typeface="Calibri"/>
              </a:rPr>
              <a:t>2. Masked Convolutions for Autoregression</a:t>
            </a:r>
            <a:endParaRPr/>
          </a:p>
          <a:p>
            <a:pPr indent="-285750" lvl="1" marL="74295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PixelCNN uses </a:t>
            </a:r>
            <a:r>
              <a:rPr b="1" i="0" lang="en-US" sz="2400" u="none" cap="none" strike="noStrike">
                <a:solidFill>
                  <a:schemeClr val="dk1"/>
                </a:solidFill>
                <a:latin typeface="Calibri"/>
                <a:ea typeface="Calibri"/>
                <a:cs typeface="Calibri"/>
                <a:sym typeface="Calibri"/>
              </a:rPr>
              <a:t>causal convolutions</a:t>
            </a:r>
            <a:r>
              <a:rPr b="0" i="0" lang="en-US" sz="2400" u="none" cap="none" strike="noStrike">
                <a:solidFill>
                  <a:schemeClr val="dk1"/>
                </a:solidFill>
                <a:latin typeface="Calibri"/>
                <a:ea typeface="Calibri"/>
                <a:cs typeface="Calibri"/>
                <a:sym typeface="Calibri"/>
              </a:rPr>
              <a:t> (also called "masked convolutions") to ensure t</a:t>
            </a:r>
            <a:r>
              <a:rPr lang="en-US" sz="2400">
                <a:solidFill>
                  <a:schemeClr val="dk1"/>
                </a:solidFill>
                <a:latin typeface="Calibri"/>
                <a:ea typeface="Calibri"/>
                <a:cs typeface="Calibri"/>
                <a:sym typeface="Calibri"/>
              </a:rPr>
              <a:t>h</a:t>
            </a:r>
            <a:r>
              <a:rPr b="0" i="0" lang="en-US" sz="2400" u="none" cap="none" strike="noStrike">
                <a:solidFill>
                  <a:schemeClr val="dk1"/>
                </a:solidFill>
                <a:latin typeface="Calibri"/>
                <a:ea typeface="Calibri"/>
                <a:cs typeface="Calibri"/>
                <a:sym typeface="Calibri"/>
              </a:rPr>
              <a:t>at the model doesn’t use future pixels when predicting a pixel. </a:t>
            </a:r>
            <a:endParaRPr/>
          </a:p>
          <a:p>
            <a:pPr indent="-285750" lvl="1" marL="74295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Convolutional filters are </a:t>
            </a:r>
            <a:r>
              <a:rPr b="1" i="0" lang="en-US" sz="2400" u="none" cap="none" strike="noStrike">
                <a:solidFill>
                  <a:schemeClr val="dk1"/>
                </a:solidFill>
                <a:latin typeface="Calibri"/>
                <a:ea typeface="Calibri"/>
                <a:cs typeface="Calibri"/>
                <a:sym typeface="Calibri"/>
              </a:rPr>
              <a:t>masked</a:t>
            </a:r>
            <a:r>
              <a:rPr b="0" i="0" lang="en-US" sz="2400" u="none" cap="none" strike="noStrike">
                <a:solidFill>
                  <a:schemeClr val="dk1"/>
                </a:solidFill>
                <a:latin typeface="Calibri"/>
                <a:ea typeface="Calibri"/>
                <a:cs typeface="Calibri"/>
                <a:sym typeface="Calibri"/>
              </a:rPr>
              <a:t> so that each filter only takes into account pixels from the previous rows or columns and not future ones.</a:t>
            </a:r>
            <a:endParaRPr/>
          </a:p>
          <a:p>
            <a:pPr indent="0" lvl="1" marL="457200" marR="0" rtl="0" algn="just">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342900" lvl="0" marL="342900" marR="0" rtl="0" algn="just">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Masking in Horizontal Convolutions: </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pixel can only be conditioned on the pixels that have already been predicted (i.e., the pixels to its left). </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This is achieved by masking the convolutional kernel so that it only interacts with the left-side pixels and the current pixel during prediction.</a:t>
            </a:r>
            <a:endParaRPr sz="2400">
              <a:solidFill>
                <a:schemeClr val="dk1"/>
              </a:solidFill>
              <a:latin typeface="Calibri"/>
              <a:ea typeface="Calibri"/>
              <a:cs typeface="Calibri"/>
              <a:sym typeface="Calibri"/>
            </a:endParaRPr>
          </a:p>
          <a:p>
            <a:pPr indent="-342900" lvl="0" marL="342900" marR="0" rtl="0" algn="just">
              <a:spcBef>
                <a:spcPts val="0"/>
              </a:spcBef>
              <a:spcAft>
                <a:spcPts val="0"/>
              </a:spcAft>
              <a:buClr>
                <a:schemeClr val="accent1"/>
              </a:buClr>
              <a:buSzPts val="2400"/>
              <a:buFont typeface="Arial"/>
              <a:buChar char="•"/>
            </a:pPr>
            <a:r>
              <a:rPr b="1" lang="en-US" sz="2400">
                <a:solidFill>
                  <a:schemeClr val="accent1"/>
                </a:solidFill>
                <a:latin typeface="Calibri"/>
                <a:ea typeface="Calibri"/>
                <a:cs typeface="Calibri"/>
                <a:sym typeface="Calibri"/>
              </a:rPr>
              <a:t>Masking in Vertical Convolutions: </a:t>
            </a:r>
            <a:endParaRPr/>
          </a:p>
          <a:p>
            <a:pPr indent="-342900" lvl="1" marL="8001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Similarly, the convolutional kernel is masked in the vertical direction so that each pixel is only conditioned on the pixels above it in the image grid.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nvSpPr>
        <p:spPr>
          <a:xfrm>
            <a:off x="143148" y="191901"/>
            <a:ext cx="663194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CNN-Architectural Components</a:t>
            </a:r>
            <a:endParaRPr b="1" sz="2800">
              <a:solidFill>
                <a:srgbClr val="8B0505"/>
              </a:solidFill>
              <a:latin typeface="Century Gothic"/>
              <a:ea typeface="Century Gothic"/>
              <a:cs typeface="Century Gothic"/>
              <a:sym typeface="Century Gothic"/>
            </a:endParaRPr>
          </a:p>
        </p:txBody>
      </p:sp>
      <p:sp>
        <p:nvSpPr>
          <p:cNvPr id="212" name="Google Shape;212;p19"/>
          <p:cNvSpPr txBox="1"/>
          <p:nvPr/>
        </p:nvSpPr>
        <p:spPr>
          <a:xfrm>
            <a:off x="143148" y="915964"/>
            <a:ext cx="11947252" cy="22606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a. Convolutional Layers</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core of PixelCNN is based on convolutional layers. </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These layers are stacked to form a deep network. </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 the original PixelCNN paper (by van den Oord et al.), the network consists of several layers of 2D convolutions with increasing kernel sizes.</a:t>
            </a:r>
            <a:endParaRPr/>
          </a:p>
        </p:txBody>
      </p:sp>
      <p:sp>
        <p:nvSpPr>
          <p:cNvPr id="213" name="Google Shape;213;p19"/>
          <p:cNvSpPr txBox="1"/>
          <p:nvPr/>
        </p:nvSpPr>
        <p:spPr>
          <a:xfrm>
            <a:off x="101599" y="3115027"/>
            <a:ext cx="11947251" cy="318394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b. Gated Activation Units</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Instead of using traditional activation functions like ReLU or Sigmoid, PixelCNN uses a more advanced activation function called gated activations. </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This is inspired by the Gated Recurrent Unit (GRU), which is typically used in recurrent neural networks (RNNs). </a:t>
            </a:r>
            <a:endParaRPr/>
          </a:p>
          <a:p>
            <a:pPr indent="-285750" lvl="1" marL="742950" marR="0" rtl="0" algn="just">
              <a:lnSpc>
                <a:spcPct val="15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gated activation function is used to control the flow of information between layers and makes the network more flexible and expressive.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nvSpPr>
        <p:spPr>
          <a:xfrm>
            <a:off x="143148" y="191901"/>
            <a:ext cx="663194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CNN-Architectural Components</a:t>
            </a:r>
            <a:endParaRPr b="1" sz="2800">
              <a:solidFill>
                <a:srgbClr val="8B0505"/>
              </a:solidFill>
              <a:latin typeface="Century Gothic"/>
              <a:ea typeface="Century Gothic"/>
              <a:cs typeface="Century Gothic"/>
              <a:sym typeface="Century Gothic"/>
            </a:endParaRPr>
          </a:p>
        </p:txBody>
      </p:sp>
      <p:sp>
        <p:nvSpPr>
          <p:cNvPr id="219" name="Google Shape;219;p21"/>
          <p:cNvSpPr txBox="1"/>
          <p:nvPr/>
        </p:nvSpPr>
        <p:spPr>
          <a:xfrm>
            <a:off x="143148" y="1272450"/>
            <a:ext cx="11947200" cy="4525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c. Residual Connections</a:t>
            </a:r>
            <a:endParaRPr/>
          </a:p>
          <a:p>
            <a:pPr indent="-342900" lvl="1" marL="8001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To improve the flow of information and enable the network to learn more complex representations, PixelCNN uses </a:t>
            </a:r>
            <a:r>
              <a:rPr b="1" i="0" lang="en-US" sz="2400" u="none" cap="none" strike="noStrike">
                <a:solidFill>
                  <a:schemeClr val="dk1"/>
                </a:solidFill>
                <a:latin typeface="Calibri"/>
                <a:ea typeface="Calibri"/>
                <a:cs typeface="Calibri"/>
                <a:sym typeface="Calibri"/>
              </a:rPr>
              <a:t>residual connections</a:t>
            </a:r>
            <a:r>
              <a:rPr b="0" i="0" lang="en-US" sz="2400" u="none" cap="none" strike="noStrike">
                <a:solidFill>
                  <a:schemeClr val="dk1"/>
                </a:solidFill>
                <a:latin typeface="Calibri"/>
                <a:ea typeface="Calibri"/>
                <a:cs typeface="Calibri"/>
                <a:sym typeface="Calibri"/>
              </a:rPr>
              <a:t>. </a:t>
            </a:r>
            <a:endParaRPr/>
          </a:p>
          <a:p>
            <a:pPr indent="-342900" lvl="1" marL="8001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These connections help the model avoid vanishing gradient problems, making it easier to train deeper networks. </a:t>
            </a:r>
            <a:endParaRPr/>
          </a:p>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d. Output Layer</a:t>
            </a:r>
            <a:endParaRPr/>
          </a:p>
          <a:p>
            <a:pPr indent="-342900" lvl="1" marL="8001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final output layer of PixelCNN generates the predicted pixel values. </a:t>
            </a:r>
            <a:endParaRPr/>
          </a:p>
          <a:p>
            <a:pPr indent="-342900" lvl="1" marL="8001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For image generation tasks, PixelCNN typically uses a </a:t>
            </a:r>
            <a:r>
              <a:rPr b="1" i="0" lang="en-US" sz="2400" u="none" cap="none" strike="noStrike">
                <a:solidFill>
                  <a:schemeClr val="dk1"/>
                </a:solidFill>
                <a:latin typeface="Calibri"/>
                <a:ea typeface="Calibri"/>
                <a:cs typeface="Calibri"/>
                <a:sym typeface="Calibri"/>
              </a:rPr>
              <a:t>softmax</a:t>
            </a:r>
            <a:r>
              <a:rPr b="0" i="0" lang="en-US" sz="2400" u="none" cap="none" strike="noStrike">
                <a:solidFill>
                  <a:schemeClr val="dk1"/>
                </a:solidFill>
                <a:latin typeface="Calibri"/>
                <a:ea typeface="Calibri"/>
                <a:cs typeface="Calibri"/>
                <a:sym typeface="Calibri"/>
              </a:rPr>
              <a:t> function (for discrete pixel values) or a </a:t>
            </a:r>
            <a:r>
              <a:rPr b="1" i="0" lang="en-US" sz="2400" u="none" cap="none" strike="noStrike">
                <a:solidFill>
                  <a:schemeClr val="dk1"/>
                </a:solidFill>
                <a:latin typeface="Calibri"/>
                <a:ea typeface="Calibri"/>
                <a:cs typeface="Calibri"/>
                <a:sym typeface="Calibri"/>
              </a:rPr>
              <a:t>Gaussian distribution</a:t>
            </a:r>
            <a:r>
              <a:rPr b="0" i="0" lang="en-US" sz="2400" u="none" cap="none" strike="noStrike">
                <a:solidFill>
                  <a:schemeClr val="dk1"/>
                </a:solidFill>
                <a:latin typeface="Calibri"/>
                <a:ea typeface="Calibri"/>
                <a:cs typeface="Calibri"/>
                <a:sym typeface="Calibri"/>
              </a:rPr>
              <a:t> (for continuous pixel values).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txBox="1"/>
          <p:nvPr/>
        </p:nvSpPr>
        <p:spPr>
          <a:xfrm>
            <a:off x="143148" y="191901"/>
            <a:ext cx="33954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Pixel CNN-Training</a:t>
            </a:r>
            <a:endParaRPr b="1" sz="2800">
              <a:solidFill>
                <a:srgbClr val="8B0505"/>
              </a:solidFill>
              <a:latin typeface="Century Gothic"/>
              <a:ea typeface="Century Gothic"/>
              <a:cs typeface="Century Gothic"/>
              <a:sym typeface="Century Gothic"/>
            </a:endParaRPr>
          </a:p>
        </p:txBody>
      </p:sp>
      <p:sp>
        <p:nvSpPr>
          <p:cNvPr id="225" name="Google Shape;225;p22"/>
          <p:cNvSpPr txBox="1"/>
          <p:nvPr/>
        </p:nvSpPr>
        <p:spPr>
          <a:xfrm>
            <a:off x="143148" y="941495"/>
            <a:ext cx="11716657" cy="225106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Training PixelCNN is done in a standard supervised learning manner. </a:t>
            </a:r>
            <a:endParaRPr/>
          </a:p>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model learns to predict each pixel given the previous pixels using maximum likelihood estimation (MLE). </a:t>
            </a:r>
            <a:endParaRPr/>
          </a:p>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objective is to maximize the log-likelihood of the observed pixels:</a:t>
            </a:r>
            <a:endParaRPr sz="2400">
              <a:solidFill>
                <a:schemeClr val="dk1"/>
              </a:solidFill>
              <a:latin typeface="Calibri"/>
              <a:ea typeface="Calibri"/>
              <a:cs typeface="Calibri"/>
              <a:sym typeface="Calibri"/>
            </a:endParaRPr>
          </a:p>
        </p:txBody>
      </p:sp>
      <p:sp>
        <p:nvSpPr>
          <p:cNvPr id="226" name="Google Shape;226;p22"/>
          <p:cNvSpPr txBox="1"/>
          <p:nvPr/>
        </p:nvSpPr>
        <p:spPr>
          <a:xfrm>
            <a:off x="3790349" y="3067102"/>
            <a:ext cx="4623600" cy="12117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27" name="Google Shape;227;p22"/>
          <p:cNvSpPr txBox="1"/>
          <p:nvPr/>
        </p:nvSpPr>
        <p:spPr>
          <a:xfrm>
            <a:off x="143148" y="4626241"/>
            <a:ext cx="11918100" cy="1787400"/>
          </a:xfrm>
          <a:prstGeom prst="rect">
            <a:avLst/>
          </a:prstGeom>
          <a:blipFill rotWithShape="1">
            <a:blip r:embed="rId4">
              <a:alphaModFix/>
            </a:blip>
            <a:stretch>
              <a:fillRect b="-4081"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nvSpPr>
        <p:spPr>
          <a:xfrm>
            <a:off x="143148" y="191901"/>
            <a:ext cx="17780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t>
            </a:r>
            <a:endParaRPr b="1" sz="2800">
              <a:solidFill>
                <a:srgbClr val="8B0505"/>
              </a:solidFill>
              <a:latin typeface="Century Gothic"/>
              <a:ea typeface="Century Gothic"/>
              <a:cs typeface="Century Gothic"/>
              <a:sym typeface="Century Gothic"/>
            </a:endParaRPr>
          </a:p>
        </p:txBody>
      </p:sp>
      <p:sp>
        <p:nvSpPr>
          <p:cNvPr id="233" name="Google Shape;233;p23"/>
          <p:cNvSpPr txBox="1"/>
          <p:nvPr/>
        </p:nvSpPr>
        <p:spPr>
          <a:xfrm>
            <a:off x="501825" y="1482250"/>
            <a:ext cx="11438100" cy="43407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WaveNet is a deep generative model for audio, first introduced by DeepMind in 2016. </a:t>
            </a:r>
            <a:endParaRPr/>
          </a:p>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Unlike traditional audio synthesis models that rely on handcrafted features or spectral representations (such as spectrograms), WaveNet generates audio directly in the raw waveform domain, pixel by pixel (or sample by sample in the case of audio).</a:t>
            </a:r>
            <a:endParaRPr/>
          </a:p>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models the distribution of audio samples conditioned on past samples in an autoregressive manner.</a:t>
            </a:r>
            <a:endParaRPr/>
          </a:p>
          <a:p>
            <a:pPr indent="-342900" lvl="0" marL="3429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WaveNet has become a crucial model in areas such as </a:t>
            </a:r>
            <a:r>
              <a:rPr b="1" lang="en-US" sz="2400">
                <a:solidFill>
                  <a:schemeClr val="dk1"/>
                </a:solidFill>
                <a:latin typeface="Calibri"/>
                <a:ea typeface="Calibri"/>
                <a:cs typeface="Calibri"/>
                <a:sym typeface="Calibri"/>
              </a:rPr>
              <a:t>speech synthesis</a:t>
            </a:r>
            <a:r>
              <a:rPr lang="en-US" sz="24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audio generation</a:t>
            </a:r>
            <a:r>
              <a:rPr lang="en-US" sz="2400">
                <a:solidFill>
                  <a:schemeClr val="dk1"/>
                </a:solidFill>
                <a:latin typeface="Calibri"/>
                <a:ea typeface="Calibri"/>
                <a:cs typeface="Calibri"/>
                <a:sym typeface="Calibri"/>
              </a:rPr>
              <a:t>, and </a:t>
            </a:r>
            <a:r>
              <a:rPr b="1" lang="en-US" sz="2400">
                <a:solidFill>
                  <a:schemeClr val="dk1"/>
                </a:solidFill>
                <a:latin typeface="Calibri"/>
                <a:ea typeface="Calibri"/>
                <a:cs typeface="Calibri"/>
                <a:sym typeface="Calibri"/>
              </a:rPr>
              <a:t>signal processing</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The entire architecture" id="238" name="Google Shape;238;p24"/>
          <p:cNvPicPr preferRelativeResize="0"/>
          <p:nvPr/>
        </p:nvPicPr>
        <p:blipFill rotWithShape="1">
          <a:blip r:embed="rId3">
            <a:alphaModFix/>
          </a:blip>
          <a:srcRect b="0" l="0" r="0" t="0"/>
          <a:stretch/>
        </p:blipFill>
        <p:spPr>
          <a:xfrm>
            <a:off x="159657" y="977938"/>
            <a:ext cx="11683998" cy="5488176"/>
          </a:xfrm>
          <a:prstGeom prst="rect">
            <a:avLst/>
          </a:prstGeom>
          <a:noFill/>
          <a:ln>
            <a:noFill/>
          </a:ln>
        </p:spPr>
      </p:pic>
      <p:sp>
        <p:nvSpPr>
          <p:cNvPr id="239" name="Google Shape;239;p24"/>
          <p:cNvSpPr txBox="1"/>
          <p:nvPr/>
        </p:nvSpPr>
        <p:spPr>
          <a:xfrm>
            <a:off x="143148" y="191901"/>
            <a:ext cx="40735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WaveNet-Architecture</a:t>
            </a:r>
            <a:endParaRPr b="1" sz="2800">
              <a:solidFill>
                <a:srgbClr val="8B0505"/>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nvSpPr>
        <p:spPr>
          <a:xfrm>
            <a:off x="181660" y="715096"/>
            <a:ext cx="11916300" cy="5664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chemeClr val="accent1"/>
                </a:solidFill>
                <a:latin typeface="Calibri"/>
                <a:ea typeface="Calibri"/>
                <a:cs typeface="Calibri"/>
                <a:sym typeface="Calibri"/>
              </a:rPr>
              <a:t>Key Components:</a:t>
            </a:r>
            <a:endParaRPr/>
          </a:p>
          <a:p>
            <a:pPr indent="-127000" lvl="0" marL="0" marR="0" rtl="0" algn="just">
              <a:lnSpc>
                <a:spcPct val="150000"/>
              </a:lnSpc>
              <a:spcBef>
                <a:spcPts val="0"/>
              </a:spcBef>
              <a:spcAft>
                <a:spcPts val="0"/>
              </a:spcAft>
              <a:buClr>
                <a:schemeClr val="dk1"/>
              </a:buClr>
              <a:buSzPts val="2000"/>
              <a:buFont typeface="Calibri"/>
              <a:buAutoNum type="arabicPeriod"/>
            </a:pPr>
            <a:r>
              <a:rPr b="1" lang="en-US" sz="2000">
                <a:solidFill>
                  <a:schemeClr val="dk1"/>
                </a:solidFill>
                <a:latin typeface="Calibri"/>
                <a:ea typeface="Calibri"/>
                <a:cs typeface="Calibri"/>
                <a:sym typeface="Calibri"/>
              </a:rPr>
              <a:t>Causal Convolutions</a:t>
            </a:r>
            <a:r>
              <a:rPr lang="en-US" sz="2000">
                <a:solidFill>
                  <a:schemeClr val="dk1"/>
                </a:solidFill>
                <a:latin typeface="Calibri"/>
                <a:ea typeface="Calibri"/>
                <a:cs typeface="Calibri"/>
                <a:sym typeface="Calibri"/>
              </a:rPr>
              <a:t>:</a:t>
            </a:r>
            <a:endParaRPr/>
          </a:p>
          <a:p>
            <a:pPr indent="-285750" lvl="1" marL="74295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WaveNet uses </a:t>
            </a:r>
            <a:r>
              <a:rPr b="1" i="0" lang="en-US" sz="2000" u="none" cap="none" strike="noStrike">
                <a:solidFill>
                  <a:schemeClr val="dk1"/>
                </a:solidFill>
                <a:latin typeface="Calibri"/>
                <a:ea typeface="Calibri"/>
                <a:cs typeface="Calibri"/>
                <a:sym typeface="Calibri"/>
              </a:rPr>
              <a:t>causal convolutions</a:t>
            </a:r>
            <a:r>
              <a:rPr b="0" i="0" lang="en-US" sz="2000" u="none" cap="none" strike="noStrike">
                <a:solidFill>
                  <a:schemeClr val="dk1"/>
                </a:solidFill>
                <a:latin typeface="Calibri"/>
                <a:ea typeface="Calibri"/>
                <a:cs typeface="Calibri"/>
                <a:sym typeface="Calibri"/>
              </a:rPr>
              <a:t> to ensure the autoregressive property (i.e., the model should only use previous audio samples to predict the next sample, not future ones). </a:t>
            </a:r>
            <a:endParaRPr/>
          </a:p>
          <a:p>
            <a:pPr indent="-285750" lvl="1" marL="74295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This is achieved by applying </a:t>
            </a:r>
            <a:r>
              <a:rPr b="1" i="0" lang="en-US" sz="2000" u="none" cap="none" strike="noStrike">
                <a:solidFill>
                  <a:schemeClr val="dk1"/>
                </a:solidFill>
                <a:latin typeface="Calibri"/>
                <a:ea typeface="Calibri"/>
                <a:cs typeface="Calibri"/>
                <a:sym typeface="Calibri"/>
              </a:rPr>
              <a:t>padding</a:t>
            </a:r>
            <a:r>
              <a:rPr b="0" i="0" lang="en-US" sz="2000" u="none" cap="none" strike="noStrike">
                <a:solidFill>
                  <a:schemeClr val="dk1"/>
                </a:solidFill>
                <a:latin typeface="Calibri"/>
                <a:ea typeface="Calibri"/>
                <a:cs typeface="Calibri"/>
                <a:sym typeface="Calibri"/>
              </a:rPr>
              <a:t> in such a way that the output for time t only depends on times less than or equal to t.</a:t>
            </a:r>
            <a:endParaRPr/>
          </a:p>
          <a:p>
            <a:pPr indent="-127000" lvl="0" marL="0" marR="0" rtl="0" algn="just">
              <a:lnSpc>
                <a:spcPct val="150000"/>
              </a:lnSpc>
              <a:spcBef>
                <a:spcPts val="0"/>
              </a:spcBef>
              <a:spcAft>
                <a:spcPts val="0"/>
              </a:spcAft>
              <a:buClr>
                <a:schemeClr val="dk1"/>
              </a:buClr>
              <a:buSzPts val="2000"/>
              <a:buFont typeface="Calibri"/>
              <a:buAutoNum type="arabicPeriod"/>
            </a:pPr>
            <a:r>
              <a:rPr b="1" lang="en-US" sz="2000">
                <a:solidFill>
                  <a:schemeClr val="dk1"/>
                </a:solidFill>
                <a:latin typeface="Calibri"/>
                <a:ea typeface="Calibri"/>
                <a:cs typeface="Calibri"/>
                <a:sym typeface="Calibri"/>
              </a:rPr>
              <a:t>Dilated Convolutions</a:t>
            </a:r>
            <a:r>
              <a:rPr lang="en-US" sz="2000">
                <a:solidFill>
                  <a:schemeClr val="dk1"/>
                </a:solidFill>
                <a:latin typeface="Calibri"/>
                <a:ea typeface="Calibri"/>
                <a:cs typeface="Calibri"/>
                <a:sym typeface="Calibri"/>
              </a:rPr>
              <a:t>:</a:t>
            </a:r>
            <a:endParaRPr/>
          </a:p>
          <a:p>
            <a:pPr indent="-285750" lvl="1" marL="74295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Dilated convolutions are used to exponentially increase the receptive field. For example, a standard 1D convolution with a kernel size of 2 and dilation of 2 would cover every 2nd sample in the input sequence, allowing the model to look farther back in time without needing more layers.</a:t>
            </a:r>
            <a:endParaRPr/>
          </a:p>
          <a:p>
            <a:pPr indent="-285750" lvl="1" marL="742950" marR="0" rtl="0" algn="just">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By using dilated convolutions, WaveNet can model long-range dependencies in the audio signal, which is critical for generating high-quality, coherent audio.</a:t>
            </a:r>
            <a:endParaRPr/>
          </a:p>
        </p:txBody>
      </p:sp>
      <p:sp>
        <p:nvSpPr>
          <p:cNvPr id="245" name="Google Shape;245;p25"/>
          <p:cNvSpPr txBox="1"/>
          <p:nvPr/>
        </p:nvSpPr>
        <p:spPr>
          <a:xfrm>
            <a:off x="143148" y="191901"/>
            <a:ext cx="40737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WaveNet-Architecture</a:t>
            </a:r>
            <a:endParaRPr b="1" sz="2800">
              <a:solidFill>
                <a:srgbClr val="8B0505"/>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nvSpPr>
        <p:spPr>
          <a:xfrm>
            <a:off x="143148" y="191901"/>
            <a:ext cx="40735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WaveNet-Architecture</a:t>
            </a:r>
            <a:endParaRPr b="1" sz="2800">
              <a:solidFill>
                <a:srgbClr val="8B0505"/>
              </a:solidFill>
              <a:latin typeface="Century Gothic"/>
              <a:ea typeface="Century Gothic"/>
              <a:cs typeface="Century Gothic"/>
              <a:sym typeface="Century Gothic"/>
            </a:endParaRPr>
          </a:p>
        </p:txBody>
      </p:sp>
      <p:sp>
        <p:nvSpPr>
          <p:cNvPr id="251" name="Google Shape;251;p26"/>
          <p:cNvSpPr txBox="1"/>
          <p:nvPr/>
        </p:nvSpPr>
        <p:spPr>
          <a:xfrm>
            <a:off x="3458029" y="5146855"/>
            <a:ext cx="574765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a:solidFill>
                  <a:schemeClr val="accent1"/>
                </a:solidFill>
                <a:latin typeface="Helvetica Neue"/>
                <a:ea typeface="Helvetica Neue"/>
                <a:cs typeface="Helvetica Neue"/>
                <a:sym typeface="Helvetica Neue"/>
              </a:rPr>
              <a:t>Causal </a:t>
            </a:r>
            <a:r>
              <a:rPr lang="en-US" sz="2800">
                <a:solidFill>
                  <a:schemeClr val="accent1"/>
                </a:solidFill>
                <a:latin typeface="Helvetica Neue"/>
                <a:ea typeface="Helvetica Neue"/>
                <a:cs typeface="Helvetica Neue"/>
                <a:sym typeface="Helvetica Neue"/>
              </a:rPr>
              <a:t>C</a:t>
            </a:r>
            <a:r>
              <a:rPr b="0" i="0" lang="en-US" sz="2800">
                <a:solidFill>
                  <a:schemeClr val="accent1"/>
                </a:solidFill>
                <a:latin typeface="Helvetica Neue"/>
                <a:ea typeface="Helvetica Neue"/>
                <a:cs typeface="Helvetica Neue"/>
                <a:sym typeface="Helvetica Neue"/>
              </a:rPr>
              <a:t>onvolutional layers</a:t>
            </a:r>
            <a:endParaRPr sz="2800">
              <a:solidFill>
                <a:schemeClr val="accent1"/>
              </a:solidFill>
              <a:latin typeface="Calibri"/>
              <a:ea typeface="Calibri"/>
              <a:cs typeface="Calibri"/>
              <a:sym typeface="Calibri"/>
            </a:endParaRPr>
          </a:p>
        </p:txBody>
      </p:sp>
      <p:pic>
        <p:nvPicPr>
          <p:cNvPr id="252" name="Google Shape;252;p26"/>
          <p:cNvPicPr preferRelativeResize="0"/>
          <p:nvPr/>
        </p:nvPicPr>
        <p:blipFill rotWithShape="1">
          <a:blip r:embed="rId3">
            <a:alphaModFix/>
          </a:blip>
          <a:srcRect b="0" l="0" r="0" t="0"/>
          <a:stretch/>
        </p:blipFill>
        <p:spPr>
          <a:xfrm>
            <a:off x="0" y="1015167"/>
            <a:ext cx="12191998" cy="3958930"/>
          </a:xfrm>
          <a:prstGeom prst="rect">
            <a:avLst/>
          </a:prstGeom>
          <a:noFill/>
          <a:ln>
            <a:noFill/>
          </a:ln>
        </p:spPr>
      </p:pic>
      <p:sp>
        <p:nvSpPr>
          <p:cNvPr id="253" name="Google Shape;253;p26"/>
          <p:cNvSpPr txBox="1"/>
          <p:nvPr/>
        </p:nvSpPr>
        <p:spPr>
          <a:xfrm>
            <a:off x="143148" y="5882074"/>
            <a:ext cx="1188919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242424"/>
                </a:solidFill>
                <a:latin typeface="Arial"/>
                <a:ea typeface="Arial"/>
                <a:cs typeface="Arial"/>
                <a:sym typeface="Arial"/>
              </a:rPr>
              <a:t>For training of 1 output sample, 5 input samples are used. Receptive field of this network is 5.</a:t>
            </a:r>
            <a:endParaRPr sz="24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nvSpPr>
        <p:spPr>
          <a:xfrm>
            <a:off x="143148" y="191901"/>
            <a:ext cx="40735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WaveNet-Architecture</a:t>
            </a:r>
            <a:endParaRPr b="1" sz="2800">
              <a:solidFill>
                <a:srgbClr val="8B0505"/>
              </a:solidFill>
              <a:latin typeface="Century Gothic"/>
              <a:ea typeface="Century Gothic"/>
              <a:cs typeface="Century Gothic"/>
              <a:sym typeface="Century Gothic"/>
            </a:endParaRPr>
          </a:p>
        </p:txBody>
      </p:sp>
      <p:sp>
        <p:nvSpPr>
          <p:cNvPr id="259" name="Google Shape;259;p27"/>
          <p:cNvSpPr txBox="1"/>
          <p:nvPr/>
        </p:nvSpPr>
        <p:spPr>
          <a:xfrm>
            <a:off x="3283857" y="5642917"/>
            <a:ext cx="60198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a:solidFill>
                  <a:schemeClr val="accent1"/>
                </a:solidFill>
                <a:latin typeface="Helvetica Neue"/>
                <a:ea typeface="Helvetica Neue"/>
                <a:cs typeface="Helvetica Neue"/>
                <a:sym typeface="Helvetica Neue"/>
              </a:rPr>
              <a:t>Dilated Causal </a:t>
            </a:r>
            <a:r>
              <a:rPr lang="en-US" sz="2800">
                <a:solidFill>
                  <a:schemeClr val="accent1"/>
                </a:solidFill>
                <a:latin typeface="Helvetica Neue"/>
                <a:ea typeface="Helvetica Neue"/>
                <a:cs typeface="Helvetica Neue"/>
                <a:sym typeface="Helvetica Neue"/>
              </a:rPr>
              <a:t>C</a:t>
            </a:r>
            <a:r>
              <a:rPr b="0" i="0" lang="en-US" sz="2800">
                <a:solidFill>
                  <a:schemeClr val="accent1"/>
                </a:solidFill>
                <a:latin typeface="Helvetica Neue"/>
                <a:ea typeface="Helvetica Neue"/>
                <a:cs typeface="Helvetica Neue"/>
                <a:sym typeface="Helvetica Neue"/>
              </a:rPr>
              <a:t>onvolutional layers</a:t>
            </a:r>
            <a:endParaRPr sz="2800">
              <a:solidFill>
                <a:schemeClr val="accent1"/>
              </a:solidFill>
              <a:latin typeface="Calibri"/>
              <a:ea typeface="Calibri"/>
              <a:cs typeface="Calibri"/>
              <a:sym typeface="Calibri"/>
            </a:endParaRPr>
          </a:p>
        </p:txBody>
      </p:sp>
      <p:pic>
        <p:nvPicPr>
          <p:cNvPr descr="Dilated causal convolutional layers" id="260" name="Google Shape;260;p27"/>
          <p:cNvPicPr preferRelativeResize="0"/>
          <p:nvPr/>
        </p:nvPicPr>
        <p:blipFill rotWithShape="1">
          <a:blip r:embed="rId3">
            <a:alphaModFix/>
          </a:blip>
          <a:srcRect b="0" l="0" r="0" t="0"/>
          <a:stretch/>
        </p:blipFill>
        <p:spPr>
          <a:xfrm>
            <a:off x="23280" y="1078758"/>
            <a:ext cx="12016195" cy="44402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nvSpPr>
        <p:spPr>
          <a:xfrm>
            <a:off x="143148" y="191901"/>
            <a:ext cx="40737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WaveNet-Architecture</a:t>
            </a:r>
            <a:endParaRPr b="1" sz="2800">
              <a:solidFill>
                <a:srgbClr val="8B0505"/>
              </a:solidFill>
              <a:latin typeface="Century Gothic"/>
              <a:ea typeface="Century Gothic"/>
              <a:cs typeface="Century Gothic"/>
              <a:sym typeface="Century Gothic"/>
            </a:endParaRPr>
          </a:p>
        </p:txBody>
      </p:sp>
      <p:sp>
        <p:nvSpPr>
          <p:cNvPr id="266" name="Google Shape;266;p28"/>
          <p:cNvSpPr txBox="1"/>
          <p:nvPr/>
        </p:nvSpPr>
        <p:spPr>
          <a:xfrm>
            <a:off x="212148" y="1041619"/>
            <a:ext cx="11905800" cy="5378100"/>
          </a:xfrm>
          <a:prstGeom prst="rect">
            <a:avLst/>
          </a:prstGeom>
          <a:blipFill rotWithShape="1">
            <a:blip r:embed="rId3">
              <a:alphaModFix/>
            </a:blip>
            <a:stretch>
              <a:fillRect b="-1134" l="-818" r="-10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nvSpPr>
        <p:spPr>
          <a:xfrm>
            <a:off x="143148" y="191901"/>
            <a:ext cx="58272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8B0505"/>
                </a:solidFill>
                <a:latin typeface="Century Gothic"/>
                <a:ea typeface="Century Gothic"/>
                <a:cs typeface="Century Gothic"/>
                <a:sym typeface="Century Gothic"/>
              </a:rPr>
              <a:t>WaveNet-Training and Inference</a:t>
            </a:r>
            <a:endParaRPr b="1" sz="2800">
              <a:solidFill>
                <a:srgbClr val="8B0505"/>
              </a:solidFill>
              <a:latin typeface="Century Gothic"/>
              <a:ea typeface="Century Gothic"/>
              <a:cs typeface="Century Gothic"/>
              <a:sym typeface="Century Gothic"/>
            </a:endParaRPr>
          </a:p>
        </p:txBody>
      </p:sp>
      <p:sp>
        <p:nvSpPr>
          <p:cNvPr id="272" name="Google Shape;272;p29"/>
          <p:cNvSpPr txBox="1"/>
          <p:nvPr/>
        </p:nvSpPr>
        <p:spPr>
          <a:xfrm>
            <a:off x="143147" y="872421"/>
            <a:ext cx="11874600" cy="3077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Training:</a:t>
            </a:r>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WaveNet is typically trained using </a:t>
            </a:r>
            <a:r>
              <a:rPr b="1" lang="en-US" sz="2000">
                <a:solidFill>
                  <a:schemeClr val="dk1"/>
                </a:solidFill>
                <a:latin typeface="Calibri"/>
                <a:ea typeface="Calibri"/>
                <a:cs typeface="Calibri"/>
                <a:sym typeface="Calibri"/>
              </a:rPr>
              <a:t>maximum likelihood estimation (MLE)</a:t>
            </a:r>
            <a:r>
              <a:rPr lang="en-US" sz="2000">
                <a:solidFill>
                  <a:schemeClr val="dk1"/>
                </a:solidFill>
                <a:latin typeface="Calibri"/>
                <a:ea typeface="Calibri"/>
                <a:cs typeface="Calibri"/>
                <a:sym typeface="Calibri"/>
              </a:rPr>
              <a:t>. Given a large dataset of raw audio waveforms, the goal is to maximize the log-likelihood of the observed sequence:</a:t>
            </a:r>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model is trained using </a:t>
            </a:r>
            <a:r>
              <a:rPr b="1" lang="en-US" sz="2000">
                <a:solidFill>
                  <a:schemeClr val="dk1"/>
                </a:solidFill>
                <a:latin typeface="Calibri"/>
                <a:ea typeface="Calibri"/>
                <a:cs typeface="Calibri"/>
                <a:sym typeface="Calibri"/>
              </a:rPr>
              <a:t>backpropagation</a:t>
            </a:r>
            <a:r>
              <a:rPr lang="en-US" sz="2000">
                <a:solidFill>
                  <a:schemeClr val="dk1"/>
                </a:solidFill>
                <a:latin typeface="Calibri"/>
                <a:ea typeface="Calibri"/>
                <a:cs typeface="Calibri"/>
                <a:sym typeface="Calibri"/>
              </a:rPr>
              <a:t> and </a:t>
            </a:r>
            <a:r>
              <a:rPr b="1" lang="en-US" sz="2000">
                <a:solidFill>
                  <a:schemeClr val="dk1"/>
                </a:solidFill>
                <a:latin typeface="Calibri"/>
                <a:ea typeface="Calibri"/>
                <a:cs typeface="Calibri"/>
                <a:sym typeface="Calibri"/>
              </a:rPr>
              <a:t>gradient descent</a:t>
            </a:r>
            <a:r>
              <a:rPr lang="en-US" sz="2000">
                <a:solidFill>
                  <a:schemeClr val="dk1"/>
                </a:solidFill>
                <a:latin typeface="Calibri"/>
                <a:ea typeface="Calibri"/>
                <a:cs typeface="Calibri"/>
                <a:sym typeface="Calibri"/>
              </a:rPr>
              <a:t> (or variants like Adam) to minimize the loss between the predicted and true next audio samples.</a:t>
            </a:r>
            <a:endParaRPr/>
          </a:p>
        </p:txBody>
      </p:sp>
      <p:sp>
        <p:nvSpPr>
          <p:cNvPr id="273" name="Google Shape;273;p29"/>
          <p:cNvSpPr txBox="1"/>
          <p:nvPr/>
        </p:nvSpPr>
        <p:spPr>
          <a:xfrm>
            <a:off x="3784149" y="2132092"/>
            <a:ext cx="4623702" cy="86549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74" name="Google Shape;274;p29"/>
          <p:cNvSpPr txBox="1"/>
          <p:nvPr/>
        </p:nvSpPr>
        <p:spPr>
          <a:xfrm>
            <a:off x="143146" y="3917196"/>
            <a:ext cx="11874681" cy="27222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accent1"/>
                </a:solidFill>
                <a:latin typeface="Calibri"/>
                <a:ea typeface="Calibri"/>
                <a:cs typeface="Calibri"/>
                <a:sym typeface="Calibri"/>
              </a:rPr>
              <a:t>Inference (Generation):</a:t>
            </a:r>
            <a:endParaRPr/>
          </a:p>
          <a:p>
            <a:pPr indent="-2857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 the inference phase, the model generates audio sample by sample. Given an initial seed (e.g., a few audio samples), the model can autoregressively predict the next samples in the sequence.</a:t>
            </a:r>
            <a:endParaRPr/>
          </a:p>
          <a:p>
            <a:pPr indent="-285750" lvl="0" marL="28575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Since WaveNet is autoregressive, the model’s prediction at time t is conditioned on all previously generated samples. This can make inference slower, but recent techniques like </a:t>
            </a:r>
            <a:r>
              <a:rPr b="1" lang="en-US" sz="2000">
                <a:solidFill>
                  <a:schemeClr val="dk1"/>
                </a:solidFill>
                <a:latin typeface="Calibri"/>
                <a:ea typeface="Calibri"/>
                <a:cs typeface="Calibri"/>
                <a:sym typeface="Calibri"/>
              </a:rPr>
              <a:t>parallel WaveNet</a:t>
            </a:r>
            <a:r>
              <a:rPr lang="en-US" sz="2000">
                <a:solidFill>
                  <a:schemeClr val="dk1"/>
                </a:solidFill>
                <a:latin typeface="Calibri"/>
                <a:ea typeface="Calibri"/>
                <a:cs typeface="Calibri"/>
                <a:sym typeface="Calibri"/>
              </a:rPr>
              <a:t> or </a:t>
            </a:r>
            <a:r>
              <a:rPr b="1" lang="en-US" sz="2000">
                <a:solidFill>
                  <a:schemeClr val="dk1"/>
                </a:solidFill>
                <a:latin typeface="Calibri"/>
                <a:ea typeface="Calibri"/>
                <a:cs typeface="Calibri"/>
                <a:sym typeface="Calibri"/>
              </a:rPr>
              <a:t>Fast WaveNet</a:t>
            </a:r>
            <a:r>
              <a:rPr lang="en-US" sz="2000">
                <a:solidFill>
                  <a:schemeClr val="dk1"/>
                </a:solidFill>
                <a:latin typeface="Calibri"/>
                <a:ea typeface="Calibri"/>
                <a:cs typeface="Calibri"/>
                <a:sym typeface="Calibri"/>
              </a:rPr>
              <a:t> help mitigate the inference time.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txBox="1"/>
          <p:nvPr/>
        </p:nvSpPr>
        <p:spPr>
          <a:xfrm>
            <a:off x="0" y="3144020"/>
            <a:ext cx="4844955" cy="569959"/>
          </a:xfrm>
          <a:prstGeom prst="rect">
            <a:avLst/>
          </a:prstGeom>
          <a:solidFill>
            <a:srgbClr val="AC0204"/>
          </a:solidFill>
          <a:ln>
            <a:noFill/>
          </a:ln>
        </p:spPr>
        <p:txBody>
          <a:bodyPr anchorCtr="0" anchor="t" bIns="45700" lIns="91425" spcFirstLastPara="1" rIns="91425" wrap="square" tIns="45700">
            <a:normAutofit fontScale="70000" lnSpcReduction="20000"/>
          </a:bodyPr>
          <a:lstStyle/>
          <a:p>
            <a:pPr indent="0" lvl="0" marL="0" marR="0" rtl="0" algn="r">
              <a:lnSpc>
                <a:spcPct val="120000"/>
              </a:lnSpc>
              <a:spcBef>
                <a:spcPts val="0"/>
              </a:spcBef>
              <a:spcAft>
                <a:spcPts val="0"/>
              </a:spcAft>
              <a:buClr>
                <a:schemeClr val="lt1"/>
              </a:buClr>
              <a:buSzPct val="100000"/>
              <a:buFont typeface="Century Gothic"/>
              <a:buNone/>
            </a:pPr>
            <a:r>
              <a:rPr b="1" lang="en-US" sz="4400">
                <a:solidFill>
                  <a:schemeClr val="lt1"/>
                </a:solidFill>
                <a:latin typeface="Century Gothic"/>
                <a:ea typeface="Century Gothic"/>
                <a:cs typeface="Century Gothic"/>
                <a:sym typeface="Century Gothic"/>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2024-07-02T10:02:32Z</dcterms:created>
  <dc:creator>Adarsh MJ</dc:creator>
</cp:coreProperties>
</file>