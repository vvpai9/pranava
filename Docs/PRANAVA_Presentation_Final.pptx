
<file path=[Content_Types].xml><?xml version="1.0" encoding="utf-8"?>
<Types xmlns="http://schemas.openxmlformats.org/package/2006/content-types">
  <Default Extension="xml" ContentType="application/xml"/>
  <Default Extension="xlsx" ContentType="application/vnd.openxmlformats-officedocument.spreadsheetml.sheet"/>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s/slide16.xml" ContentType="application/vnd.openxmlformats-officedocument.presentationml.slide+xml"/>
  <Override PartName="/ppt/slides/slide15.xml" ContentType="application/vnd.openxmlformats-officedocument.presentationml.slide+xml"/>
  <Override PartName="/ppt/notesSlides/notesSlide3.xml" ContentType="application/vnd.openxmlformats-officedocument.presentationml.notesSlide+xml"/>
  <Override PartName="/ppt/slides/slide14.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3.xml" ContentType="application/vnd.openxmlformats-officedocument.presentationml.slide+xml"/>
  <Override PartName="/ppt/slides/slide6.xml" ContentType="application/vnd.openxmlformats-officedocument.presentationml.slide+xml"/>
  <Override PartName="/ppt/slides/slide17.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theme/theme1.xml" ContentType="application/vnd.openxmlformats-officedocument.theme+xml"/>
  <Override PartName="/ppt/slides/slide3.xml" ContentType="application/vnd.openxmlformats-officedocument.presentationml.slide+xml"/>
  <Override PartName="/ppt/viewProps.xml" ContentType="application/vnd.openxmlformats-officedocument.presentationml.viewProps+xml"/>
  <Override PartName="/ppt/notesSlides/notesSlide14.xml" ContentType="application/vnd.openxmlformats-officedocument.presentationml.notesSlide+xml"/>
  <Override PartName="/ppt/notesSlides/notesSlide2.xml" ContentType="application/vnd.openxmlformats-officedocument.presentationml.notesSlide+xml"/>
  <Override PartName="/ppt/slides/slide7.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notesSlides/notesSlide12.xml" ContentType="application/vnd.openxmlformats-officedocument.presentationml.notesSlide+xml"/>
  <Override PartName="/ppt/slides/slide12.xml" ContentType="application/vnd.openxmlformats-officedocument.presentationml.slide+xml"/>
  <Override PartName="/ppt/charts/chart1.xml" ContentType="application/vnd.openxmlformats-officedocument.drawingml.chart+xml"/>
  <Override PartName="/ppt/slideLayouts/slideLayout1.xml" ContentType="application/vnd.openxmlformats-officedocument.presentationml.slideLayout+xml"/>
  <Override PartName="/ppt/slides/slide5.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9144000" cy="5143500"/>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2880"/>
        <p:guide pos="162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notesMaster" Target="notesMasters/notesMaster1.xml"/><Relationship Id="rId21" Type="http://schemas.openxmlformats.org/officeDocument/2006/relationships/presProps" Target="presProps.xml" /><Relationship Id="rId22" Type="http://schemas.openxmlformats.org/officeDocument/2006/relationships/tableStyles" Target="tableStyles.xml" /><Relationship Id="rId23" Type="http://schemas.openxmlformats.org/officeDocument/2006/relationships/viewProps" Target="viewProps.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 /></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roundedCorners val="0"/>
  <mc:AlternateContent>
    <mc:Choice Requires="c14">
      <c14:style val="102"/>
    </mc:Choice>
    <mc:Fallback>
      <c:style val="2"/>
    </mc:Fallback>
  </mc:AlternateContent>
  <c:chart>
    <c:title>
      <c:tx>
        <c:rich>
          <a:bodyPr/>
          <a:lstStyle/>
          <a:p>
            <a:pPr>
              <a:defRPr sz="1100" b="0" i="0" u="none" strike="noStrike">
                <a:solidFill>
                  <a:srgbClr val="B8C8DC"/>
                </a:solidFill>
                <a:latin typeface="Arial"/>
              </a:defRPr>
            </a:pPr>
            <a:r>
              <a:rPr sz="1100" b="0" i="0" u="none" strike="noStrike">
                <a:solidFill>
                  <a:srgbClr val="B8C8DC"/>
                </a:solidFill>
                <a:latin typeface="Arial"/>
              </a:rPr>
              <a:t>Mission Planning Time Comparison (seconds)</a:t>
            </a:r>
            <a:endParaRPr/>
          </a:p>
        </c:rich>
      </c:tx>
      <c:layout/>
      <c:overlay val="0"/>
    </c:title>
    <c:autoTitleDeleted val="0"/>
    <c:plotArea>
      <c:layout/>
      <c:barChart>
        <c:barDir val="col"/>
        <c:grouping val="clustered"/>
        <c:varyColors val="0"/>
        <c:ser>
          <c:idx val="0"/>
          <c:order val="0"/>
          <c:tx>
            <c:strRef>
              <c:f>Sheet1!$B$1</c:f>
              <c:strCache>
                <c:ptCount val="1"/>
                <c:pt idx="0">
                  <c:v>Time (seconds)</c:v>
                </c:pt>
              </c:strCache>
            </c:strRef>
          </c:tx>
          <c:spPr bwMode="auto">
            <a:prstGeom prst="rect">
              <a:avLst/>
            </a:prstGeom>
            <a:solidFill>
              <a:srgbClr val="EF476F"/>
            </a:solidFill>
            <a:effectLst/>
          </c:spPr>
          <c:invertIfNegative val="0"/>
          <c:dPt>
            <c:idx val="0"/>
            <c:invertIfNegative val="0"/>
            <c:bubble3D val="0"/>
            <c:spPr bwMode="auto">
              <a:prstGeom prst="rect">
                <a:avLst/>
              </a:prstGeom>
              <a:solidFill>
                <a:srgbClr val="EF476F"/>
              </a:solidFill>
              <a:effectLst/>
            </c:spPr>
          </c:dPt>
          <c:dPt>
            <c:idx val="1"/>
            <c:invertIfNegative val="0"/>
            <c:bubble3D val="0"/>
            <c:spPr bwMode="auto">
              <a:prstGeom prst="rect">
                <a:avLst/>
              </a:prstGeom>
              <a:solidFill>
                <a:srgbClr val="FFB703"/>
              </a:solidFill>
              <a:effectLst/>
            </c:spPr>
          </c:dPt>
          <c:dPt>
            <c:idx val="2"/>
            <c:invertIfNegative val="0"/>
            <c:bubble3D val="0"/>
            <c:spPr bwMode="auto">
              <a:prstGeom prst="rect">
                <a:avLst/>
              </a:prstGeom>
              <a:solidFill>
                <a:srgbClr val="06D6A0"/>
              </a:solidFill>
              <a:effectLst/>
            </c:spPr>
          </c:dPt>
          <c:dLbls>
            <c:numFmt formatCode="#,##0" sourceLinked="0"/>
            <c:showBubbleSize val="0"/>
            <c:showCatName val="0"/>
            <c:showLeaderLines val="0"/>
            <c:showLegendKey val="0"/>
            <c:showPercent val="0"/>
            <c:showSerName val="0"/>
            <c:showVal val="1"/>
            <c:txPr>
              <a:bodyPr/>
              <a:lstStyle/>
              <a:p>
                <a:pPr>
                  <a:defRPr sz="1100" b="1" i="0" u="none" strike="noStrike">
                    <a:solidFill>
                      <a:srgbClr val="FFFFFF"/>
                    </a:solidFill>
                    <a:latin typeface="Arial"/>
                  </a:defRPr>
                </a:pPr>
                <a:endParaRPr/>
              </a:p>
            </c:txPr>
          </c:dLbls>
          <c:cat>
            <c:multiLvlStrRef>
              <c:f>Sheet1!$A$2:$A$4</c:f>
              <c:multiLvlStrCache>
                <c:lvl>
                  <c:pt idx="0">
                    <c:v>Manual Waypoint
Entry</c:v>
                  </c:pt>
                  <c:pt idx="1">
                    <c:v>Manual QGC
Planning</c:v>
                  </c:pt>
                  <c:pt idx="2">
                    <c:v>PRANAVA
(Ours)</c:v>
                  </c:pt>
                </c:lvl>
              </c:multiLvlStrCache>
            </c:multiLvlStrRef>
          </c:cat>
          <c:val>
            <c:numRef>
              <c:f>Sheet1!$B$2:$B$4</c:f>
              <c:numCache>
                <c:formatCode>General</c:formatCode>
                <c:ptCount val="3"/>
                <c:pt idx="0">
                  <c:v>185</c:v>
                </c:pt>
                <c:pt idx="1">
                  <c:v>163</c:v>
                </c:pt>
                <c:pt idx="2">
                  <c:v>76</c:v>
                </c:pt>
              </c:numCache>
            </c:numRef>
          </c:val>
        </c:ser>
        <c:dLbls>
          <c:numFmt formatCode="#,##0" sourceLinked="0"/>
          <c:showBubbleSize val="0"/>
          <c:showCatName val="0"/>
          <c:showLeaderLines val="0"/>
          <c:showLegendKey val="0"/>
          <c:showPercent val="0"/>
          <c:showSerName val="0"/>
          <c:showVal val="1"/>
          <c:txPr>
            <a:bodyPr/>
            <a:lstStyle/>
            <a:p>
              <a:pPr>
                <a:defRPr sz="1100" b="1" i="0" u="none" strike="noStrike">
                  <a:solidFill>
                    <a:srgbClr val="FFFFFF"/>
                  </a:solidFill>
                  <a:latin typeface="Arial"/>
                </a:defRPr>
              </a:pPr>
              <a:endParaRPr/>
            </a:p>
          </c:txPr>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bwMode="auto">
          <a:prstGeom prst="rect">
            <a:avLst/>
          </a:prstGeom>
          <a:ln w="12700" cap="flat">
            <a:solidFill>
              <a:srgbClr val="888888"/>
            </a:solidFill>
            <a:prstDash val="solid"/>
            <a:round/>
          </a:ln>
        </c:spPr>
        <c:txPr>
          <a:bodyPr/>
          <a:lstStyle/>
          <a:p>
            <a:pPr>
              <a:defRPr sz="1200" b="0" i="0" u="none" strike="noStrike">
                <a:solidFill>
                  <a:srgbClr val="B8C8D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bwMode="auto">
            <a:prstGeom prst="rect">
              <a:avLst/>
            </a:prstGeom>
            <a:ln w="6350" cap="flat">
              <a:solidFill>
                <a:srgbClr val="0077B6"/>
              </a:solidFill>
              <a:prstDash val="solid"/>
              <a:round/>
            </a:ln>
          </c:spPr>
        </c:majorGridlines>
        <c:numFmt formatCode="General" sourceLinked="0"/>
        <c:majorTickMark val="out"/>
        <c:minorTickMark val="none"/>
        <c:tickLblPos val="nextTo"/>
        <c:spPr bwMode="auto">
          <a:prstGeom prst="rect">
            <a:avLst/>
          </a:prstGeom>
          <a:ln w="12700" cap="flat">
            <a:solidFill>
              <a:srgbClr val="888888"/>
            </a:solidFill>
            <a:prstDash val="solid"/>
            <a:round/>
          </a:ln>
        </c:spPr>
        <c:txPr>
          <a:bodyPr/>
          <a:lstStyle/>
          <a:p>
            <a:pPr>
              <a:defRPr sz="1200" b="0" i="0" u="none" strike="noStrike">
                <a:solidFill>
                  <a:srgbClr val="B8C8DC"/>
                </a:solidFill>
                <a:latin typeface="Arial"/>
              </a:defRPr>
            </a:pPr>
            <a:endParaRPr lang="en-US"/>
          </a:p>
        </c:txPr>
        <c:crossAx val="2094734554"/>
        <c:crosses val="autoZero"/>
        <c:crossBetween val="between"/>
      </c:valAx>
      <c:spPr bwMode="auto">
        <a:prstGeom prst="rect">
          <a:avLst/>
        </a:prstGeom>
        <a:noFill/>
        <a:ln>
          <a:noFill/>
        </a:ln>
        <a:effectLst/>
      </c:spPr>
    </c:plotArea>
    <c:plotVisOnly val="1"/>
    <c:dispBlanksAs val="span"/>
    <c:showDLblsOverMax val="0"/>
  </c:chart>
  <c:spPr bwMode="auto">
    <a:xfrm rot="0">
      <a:off x="274320" y="2468880"/>
      <a:ext cx="4114800" cy="2468880"/>
    </a:xfrm>
    <a:prstGeom prst="rect">
      <a:avLst/>
    </a:prstGeom>
    <a:solidFill>
      <a:srgbClr val="112240"/>
    </a:solidFill>
    <a:ln>
      <a:noFill/>
    </a:ln>
    <a:effectLst/>
  </c:spPr>
  <c:externalData r:id="rId1"/>
</c:chartSpace>
</file>

<file path=ppt/charts/chart2.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roundedCorners val="0"/>
  <mc:AlternateContent>
    <mc:Choice Requires="c14">
      <c14:style val="102"/>
    </mc:Choice>
    <mc:Fallback>
      <c:style val="2"/>
    </mc:Fallback>
  </mc:AlternateContent>
  <c:chart>
    <c:title>
      <c:tx>
        <c:rich>
          <a:bodyPr/>
          <a:lstStyle/>
          <a:p>
            <a:pPr>
              <a:defRPr sz="1100" b="0" i="0" u="none" strike="noStrike">
                <a:solidFill>
                  <a:srgbClr val="B8C8DC"/>
                </a:solidFill>
                <a:latin typeface="Arial"/>
              </a:defRPr>
            </a:pPr>
            <a:r>
              <a:rPr sz="1100" b="0" i="0" u="none" strike="noStrike">
                <a:solidFill>
                  <a:srgbClr val="B8C8DC"/>
                </a:solidFill>
                <a:latin typeface="Arial"/>
              </a:rPr>
              <a:t>Mission Generation Success Rate by Type (%)</a:t>
            </a:r>
            <a:endParaRPr/>
          </a:p>
        </c:rich>
      </c:tx>
      <c:layout/>
      <c:overlay val="0"/>
    </c:title>
    <c:autoTitleDeleted val="0"/>
    <c:plotArea>
      <c:layout/>
      <c:barChart>
        <c:barDir val="col"/>
        <c:grouping val="clustered"/>
        <c:varyColors val="0"/>
        <c:ser>
          <c:idx val="0"/>
          <c:order val="0"/>
          <c:tx>
            <c:strRef>
              <c:f>Sheet1!$B$1</c:f>
              <c:strCache>
                <c:ptCount val="1"/>
                <c:pt idx="0">
                  <c:v>Success Rate (%)</c:v>
                </c:pt>
              </c:strCache>
            </c:strRef>
          </c:tx>
          <c:spPr bwMode="auto">
            <a:prstGeom prst="rect">
              <a:avLst/>
            </a:prstGeom>
            <a:solidFill>
              <a:srgbClr val="06D6A0"/>
            </a:solidFill>
            <a:effectLst/>
          </c:spPr>
          <c:invertIfNegative val="0"/>
          <c:dPt>
            <c:idx val="0"/>
            <c:invertIfNegative val="0"/>
            <c:bubble3D val="0"/>
            <c:spPr bwMode="auto">
              <a:prstGeom prst="rect">
                <a:avLst/>
              </a:prstGeom>
              <a:solidFill>
                <a:srgbClr val="06D6A0"/>
              </a:solidFill>
              <a:effectLst/>
            </c:spPr>
          </c:dPt>
          <c:dPt>
            <c:idx val="1"/>
            <c:invertIfNegative val="0"/>
            <c:bubble3D val="0"/>
            <c:spPr bwMode="auto">
              <a:prstGeom prst="rect">
                <a:avLst/>
              </a:prstGeom>
              <a:solidFill>
                <a:srgbClr val="00B4D8"/>
              </a:solidFill>
              <a:effectLst/>
            </c:spPr>
          </c:dPt>
          <c:dPt>
            <c:idx val="2"/>
            <c:invertIfNegative val="0"/>
            <c:bubble3D val="0"/>
            <c:spPr bwMode="auto">
              <a:prstGeom prst="rect">
                <a:avLst/>
              </a:prstGeom>
              <a:solidFill>
                <a:srgbClr val="FFB703"/>
              </a:solidFill>
              <a:effectLst/>
            </c:spPr>
          </c:dPt>
          <c:dPt>
            <c:idx val="3"/>
            <c:invertIfNegative val="0"/>
            <c:bubble3D val="0"/>
            <c:spPr bwMode="auto">
              <a:prstGeom prst="rect">
                <a:avLst/>
              </a:prstGeom>
              <a:solidFill>
                <a:srgbClr val="7B2FBE"/>
              </a:solidFill>
              <a:effectLst/>
            </c:spPr>
          </c:dPt>
          <c:dLbls>
            <c:numFmt formatCode="#,##0" sourceLinked="0"/>
            <c:showBubbleSize val="0"/>
            <c:showCatName val="0"/>
            <c:showLeaderLines val="0"/>
            <c:showLegendKey val="0"/>
            <c:showPercent val="0"/>
            <c:showSerName val="0"/>
            <c:showVal val="1"/>
            <c:txPr>
              <a:bodyPr/>
              <a:lstStyle/>
              <a:p>
                <a:pPr>
                  <a:defRPr sz="1100" b="1" i="0" u="none" strike="noStrike">
                    <a:solidFill>
                      <a:srgbClr val="FFFFFF"/>
                    </a:solidFill>
                    <a:latin typeface="Arial"/>
                  </a:defRPr>
                </a:pPr>
                <a:endParaRPr/>
              </a:p>
            </c:txPr>
          </c:dLbls>
          <c:cat>
            <c:multiLvlStrRef>
              <c:f>Sheet1!$A$2:$A$5</c:f>
              <c:multiLvlStrCache>
                <c:ptCount val="4"/>
                <c:lvl>
                  <c:pt idx="0">
                    <c:v>Grid Survey</c:v>
                  </c:pt>
                  <c:pt idx="1">
                    <c:v>Spiral In</c:v>
                  </c:pt>
                  <c:pt idx="2">
                    <c:v>Spiral Out</c:v>
                  </c:pt>
                  <c:pt idx="3">
                    <c:v>Waypoint</c:v>
                  </c:pt>
                </c:lvl>
              </c:multiLvlStrCache>
            </c:multiLvlStrRef>
          </c:cat>
          <c:val>
            <c:numRef>
              <c:f>Sheet1!$B$2:$B$5</c:f>
              <c:numCache>
                <c:formatCode>General</c:formatCode>
                <c:ptCount val="4"/>
                <c:pt idx="0">
                  <c:v>100</c:v>
                </c:pt>
                <c:pt idx="1">
                  <c:v>95</c:v>
                </c:pt>
                <c:pt idx="2">
                  <c:v>95</c:v>
                </c:pt>
                <c:pt idx="3">
                  <c:v>100</c:v>
                </c:pt>
              </c:numCache>
            </c:numRef>
          </c:val>
        </c:ser>
        <c:dLbls>
          <c:numFmt formatCode="#,##0" sourceLinked="0"/>
          <c:showBubbleSize val="0"/>
          <c:showCatName val="0"/>
          <c:showLeaderLines val="0"/>
          <c:showLegendKey val="0"/>
          <c:showPercent val="0"/>
          <c:showSerName val="0"/>
          <c:showVal val="1"/>
          <c:txPr>
            <a:bodyPr/>
            <a:lstStyle/>
            <a:p>
              <a:pPr>
                <a:defRPr sz="1100" b="1" i="0" u="none" strike="noStrike">
                  <a:solidFill>
                    <a:srgbClr val="FFFFFF"/>
                  </a:solidFill>
                  <a:latin typeface="Arial"/>
                </a:defRPr>
              </a:pPr>
              <a:endParaRPr/>
            </a:p>
          </c:txPr>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bwMode="auto">
          <a:prstGeom prst="rect">
            <a:avLst/>
          </a:prstGeom>
          <a:ln w="12700" cap="flat">
            <a:solidFill>
              <a:srgbClr val="888888"/>
            </a:solidFill>
            <a:prstDash val="solid"/>
            <a:round/>
          </a:ln>
        </c:spPr>
        <c:txPr>
          <a:bodyPr/>
          <a:lstStyle/>
          <a:p>
            <a:pPr>
              <a:defRPr sz="1200" b="0" i="0" u="none" strike="noStrike">
                <a:solidFill>
                  <a:srgbClr val="B8C8DC"/>
                </a:solidFill>
                <a:latin typeface="Arial"/>
              </a:defRPr>
            </a:pPr>
            <a:endParaRPr lang="en-US"/>
          </a:p>
        </c:txPr>
        <c:crossAx val="2094734552"/>
        <c:crosses val="autoZero"/>
        <c:auto val="1"/>
        <c:lblAlgn val="ctr"/>
        <c:noMultiLvlLbl val="1"/>
      </c:catAx>
      <c:valAx>
        <c:axId val="2094734552"/>
        <c:scaling>
          <c:orientation val="minMax"/>
          <c:max val="100.000000"/>
        </c:scaling>
        <c:delete val="0"/>
        <c:axPos val="l"/>
        <c:majorGridlines>
          <c:spPr bwMode="auto">
            <a:prstGeom prst="rect">
              <a:avLst/>
            </a:prstGeom>
            <a:ln w="6350" cap="flat">
              <a:solidFill>
                <a:srgbClr val="0077B6"/>
              </a:solidFill>
              <a:prstDash val="solid"/>
              <a:round/>
            </a:ln>
          </c:spPr>
        </c:majorGridlines>
        <c:numFmt formatCode="General" sourceLinked="0"/>
        <c:majorTickMark val="out"/>
        <c:minorTickMark val="none"/>
        <c:tickLblPos val="nextTo"/>
        <c:spPr bwMode="auto">
          <a:prstGeom prst="rect">
            <a:avLst/>
          </a:prstGeom>
          <a:ln w="12700" cap="flat">
            <a:solidFill>
              <a:srgbClr val="888888"/>
            </a:solidFill>
            <a:prstDash val="solid"/>
            <a:round/>
          </a:ln>
        </c:spPr>
        <c:txPr>
          <a:bodyPr/>
          <a:lstStyle/>
          <a:p>
            <a:pPr>
              <a:defRPr sz="1200" b="0" i="0" u="none" strike="noStrike">
                <a:solidFill>
                  <a:srgbClr val="B8C8DC"/>
                </a:solidFill>
                <a:latin typeface="Arial"/>
              </a:defRPr>
            </a:pPr>
            <a:endParaRPr lang="en-US"/>
          </a:p>
        </c:txPr>
        <c:crossAx val="2094734554"/>
        <c:crosses val="autoZero"/>
        <c:crossBetween val="between"/>
      </c:valAx>
      <c:spPr bwMode="auto">
        <a:prstGeom prst="rect">
          <a:avLst/>
        </a:prstGeom>
        <a:noFill/>
        <a:ln>
          <a:noFill/>
        </a:ln>
        <a:effectLst/>
      </c:spPr>
    </c:plotArea>
    <c:plotVisOnly val="1"/>
    <c:dispBlanksAs val="span"/>
    <c:showDLblsOverMax val="0"/>
  </c:chart>
  <c:spPr bwMode="auto">
    <a:xfrm rot="0">
      <a:off x="4754880" y="2468880"/>
      <a:ext cx="4114800" cy="2468880"/>
    </a:xfrm>
    <a:prstGeom prst="rect">
      <a:avLst/>
    </a:prstGeom>
    <a:solidFill>
      <a:srgbClr val="112240"/>
    </a:solidFill>
    <a:ln>
      <a:noFill/>
    </a:ln>
    <a:effectLst/>
  </c:spPr>
  <c:externalData r:id="rId1">
    <c:autoUpdate val="1"/>
  </c:externalData>
</c:chartSpace>
</file>

<file path=ppt/embeddings/_rels/Microsoft_Excel_Worksheet1.xlsx.rels><?xml version="1.0" encoding="UTF-8" standalone="yes"?><Relationships xmlns="http://schemas.openxmlformats.org/package/2006/relationships"></Relationships>
</file>

<file path=ppt/embeddings/_rels/Microsoft_Excel_Worksheet2.xlsx.rels><?xml version="1.0" encoding="UTF-8" standalone="yes"?><Relationships xmlns="http://schemas.openxmlformats.org/package/2006/relationships"></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36069640"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203807405"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575285507"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357606136"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59596968"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832804835"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36077880" name="Slide Image Placeholder 1"/>
          <p:cNvSpPr>
            <a:spLocks noChangeAspect="1" noGrp="1" noRot="1"/>
          </p:cNvSpPr>
          <p:nvPr>
            <p:ph type="sldImg"/>
          </p:nvPr>
        </p:nvSpPr>
        <p:spPr bwMode="auto"/>
      </p:sp>
      <p:sp>
        <p:nvSpPr>
          <p:cNvPr id="1430353504" name="Notes Placeholder 2"/>
          <p:cNvSpPr>
            <a:spLocks noGrp="1"/>
          </p:cNvSpPr>
          <p:nvPr>
            <p:ph type="body" idx="1"/>
          </p:nvPr>
        </p:nvSpPr>
        <p:spPr bwMode="auto"/>
        <p:txBody>
          <a:bodyPr/>
          <a:lstStyle/>
          <a:p>
            <a:pPr>
              <a:defRPr/>
            </a:pPr>
            <a:r>
              <a:rPr lang="en-US"/>
              <a:t>Welcome everyone. Today I will present PRANAVA — an AI-powered system that enables users to generate complete UAV flight missions simply by typing a natural language prompt. This work addresses the critical gap between advanced language AI and practical autonomous vehicle operation. Our system runs entirely locally, requires no cloud connectivity, and produces MAVLink-compatible missions ready for real flight hardware.</a:t>
            </a:r>
            <a:endParaRPr lang="en-US"/>
          </a:p>
        </p:txBody>
      </p:sp>
      <p:sp>
        <p:nvSpPr>
          <p:cNvPr id="211285183"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3534024" name="Slide Image Placeholder 1"/>
          <p:cNvSpPr>
            <a:spLocks noChangeAspect="1" noGrp="1" noRot="1"/>
          </p:cNvSpPr>
          <p:nvPr>
            <p:ph type="sldImg"/>
          </p:nvPr>
        </p:nvSpPr>
        <p:spPr bwMode="auto"/>
      </p:sp>
      <p:sp>
        <p:nvSpPr>
          <p:cNvPr id="1615604764" name="Notes Placeholder 2"/>
          <p:cNvSpPr>
            <a:spLocks noGrp="1"/>
          </p:cNvSpPr>
          <p:nvPr>
            <p:ph type="body" idx="1"/>
          </p:nvPr>
        </p:nvSpPr>
        <p:spPr bwMode="auto"/>
        <p:txBody>
          <a:bodyPr/>
          <a:lstStyle/>
          <a:p>
            <a:pPr>
              <a:defRPr/>
            </a:pPr>
            <a:r>
              <a:rPr lang="en-US"/>
              <a:t>UAV mission planning today is fragmented and inaccessible. Operators spend significant time manually entering GPS coordinates into planning software. A simple grid survey over a 500m × 500m field might require entering 40+ individual waypoints with precise altitudes and speeds. PRANAVA was motivated by this inefficiency — why can't a pilot simply say 'survey this area in a lawnmower pattern at 50 meters altitude' and have the system handle everything else?</a:t>
            </a:r>
            <a:endParaRPr lang="en-US"/>
          </a:p>
        </p:txBody>
      </p:sp>
      <p:sp>
        <p:nvSpPr>
          <p:cNvPr id="925615875"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7150901" name="Slide Image Placeholder 1"/>
          <p:cNvSpPr>
            <a:spLocks noChangeAspect="1" noGrp="1" noRot="1"/>
          </p:cNvSpPr>
          <p:nvPr>
            <p:ph type="sldImg"/>
          </p:nvPr>
        </p:nvSpPr>
        <p:spPr bwMode="auto"/>
      </p:sp>
      <p:sp>
        <p:nvSpPr>
          <p:cNvPr id="1245192866" name="Notes Placeholder 2"/>
          <p:cNvSpPr>
            <a:spLocks noGrp="1"/>
          </p:cNvSpPr>
          <p:nvPr>
            <p:ph type="body" idx="1"/>
          </p:nvPr>
        </p:nvSpPr>
        <p:spPr bwMode="auto"/>
        <p:txBody>
          <a:bodyPr/>
          <a:lstStyle/>
          <a:p>
            <a:pPr>
              <a:defRPr/>
            </a:pPr>
            <a:r>
              <a:rPr lang="en-US"/>
              <a:t>A review of existing literature reveals a critical gap. While researchers like Chandarana et al. explored natural language interfaces for UAVs, they relied on cloud-based LLMs and did not implement direct MAVLink upload. Commercial planners handle hardware integration but lack natural language. PRANAVA is the first system to combine local LLM inference, structured schema extraction, MAVLink mission upload, and validated real-hardware flight testing.</a:t>
            </a:r>
            <a:endParaRPr lang="en-US"/>
          </a:p>
        </p:txBody>
      </p:sp>
      <p:sp>
        <p:nvSpPr>
          <p:cNvPr id="1896307098"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8253196" name="Slide Image Placeholder 1"/>
          <p:cNvSpPr>
            <a:spLocks noChangeAspect="1" noGrp="1" noRot="1"/>
          </p:cNvSpPr>
          <p:nvPr>
            <p:ph type="sldImg"/>
          </p:nvPr>
        </p:nvSpPr>
        <p:spPr bwMode="auto"/>
      </p:sp>
      <p:sp>
        <p:nvSpPr>
          <p:cNvPr id="1444457473" name="Notes Placeholder 2"/>
          <p:cNvSpPr>
            <a:spLocks noGrp="1"/>
          </p:cNvSpPr>
          <p:nvPr>
            <p:ph type="body" idx="1"/>
          </p:nvPr>
        </p:nvSpPr>
        <p:spPr bwMode="auto"/>
        <p:txBody>
          <a:bodyPr/>
          <a:lstStyle/>
          <a:p>
            <a:pPr>
              <a:defRPr/>
            </a:pPr>
            <a:r>
              <a:rPr lang="en-US"/>
              <a:t>PRANAVA has four core research objectives. First, we bridge natural language and UAV mission planning. Second, we ensure full offline operation using locally-deployed Mistral 7B — critical for GPS-denied or network-restricted environments. Third, we handle the complete technical pipeline from text to MAVLink protocol. Finally, we validate the entire system both in SITL simulation and on real Pixhawk 2.4.8 hardware.</a:t>
            </a:r>
            <a:endParaRPr lang="en-US"/>
          </a:p>
        </p:txBody>
      </p:sp>
      <p:sp>
        <p:nvSpPr>
          <p:cNvPr id="1987590139"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32741471" name="Slide Image Placeholder 1"/>
          <p:cNvSpPr>
            <a:spLocks noChangeAspect="1" noGrp="1" noRot="1"/>
          </p:cNvSpPr>
          <p:nvPr>
            <p:ph type="sldImg"/>
          </p:nvPr>
        </p:nvSpPr>
        <p:spPr bwMode="auto"/>
      </p:sp>
      <p:sp>
        <p:nvSpPr>
          <p:cNvPr id="69447160" name="Notes Placeholder 2"/>
          <p:cNvSpPr>
            <a:spLocks noGrp="1"/>
          </p:cNvSpPr>
          <p:nvPr>
            <p:ph type="body" idx="1"/>
          </p:nvPr>
        </p:nvSpPr>
        <p:spPr bwMode="auto"/>
        <p:txBody>
          <a:bodyPr/>
          <a:lstStyle/>
          <a:p>
            <a:pPr>
              <a:defRPr/>
            </a:pPr>
            <a:r>
              <a:rPr lang="en-US"/>
              <a:t>The PRANAVA architecture is a sequential pipeline. The user types a mission description into the PyQt5 chat interface. This prompt is passed to Mistral 7B running locally via the Ollama runtime. The LLM generates a structured JSON response containing mission type, coordinates, altitude, and speed. A custom schema extractor validates this JSON, which is then fed into the appropriate mission planner module. The planner generates a list of GPS waypoints. Finally, the MAVLink Upload Engine communicates directly with ArduPilot — either in SITL or on real Pixhawk hardware — using the standard waypoint upload protocol. QGroundControl provides independent mission visualization and monitoring.</a:t>
            </a:r>
            <a:endParaRPr lang="en-US"/>
          </a:p>
        </p:txBody>
      </p:sp>
      <p:sp>
        <p:nvSpPr>
          <p:cNvPr id="815984118"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3463155" name="Slide Image Placeholder 1"/>
          <p:cNvSpPr>
            <a:spLocks noChangeAspect="1" noGrp="1" noRot="1"/>
          </p:cNvSpPr>
          <p:nvPr>
            <p:ph type="sldImg"/>
          </p:nvPr>
        </p:nvSpPr>
        <p:spPr bwMode="auto"/>
      </p:sp>
      <p:sp>
        <p:nvSpPr>
          <p:cNvPr id="551817733" name="Notes Placeholder 2"/>
          <p:cNvSpPr>
            <a:spLocks noGrp="1"/>
          </p:cNvSpPr>
          <p:nvPr>
            <p:ph type="body" idx="1"/>
          </p:nvPr>
        </p:nvSpPr>
        <p:spPr bwMode="auto"/>
        <p:txBody>
          <a:bodyPr/>
          <a:lstStyle/>
          <a:p>
            <a:pPr>
              <a:defRPr/>
            </a:pPr>
            <a:r>
              <a:rPr lang="en-US"/>
              <a:t>PRANAVA defines four mission schema types. Grid missions cover a rectangular area using a systematic lawnmower pattern. Spiral_in and spiral_out generate elliptical spiral paths useful for photogrammetry and area scanning with converging or diverging coverage. Waypoint missions accept user-defined GPS points with individual altitude and speed control. The JSON schema is the critical interface between the LLM output and the mission planners — it provides a deterministic, parseable structure that eliminates ambiguity in mission generation.</a:t>
            </a:r>
            <a:endParaRPr lang="en-US"/>
          </a:p>
        </p:txBody>
      </p:sp>
      <p:sp>
        <p:nvSpPr>
          <p:cNvPr id="90286594"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2834725" name="Slide Image Placeholder 1"/>
          <p:cNvSpPr>
            <a:spLocks noChangeAspect="1" noGrp="1" noRot="1"/>
          </p:cNvSpPr>
          <p:nvPr>
            <p:ph type="sldImg"/>
          </p:nvPr>
        </p:nvSpPr>
        <p:spPr bwMode="auto"/>
      </p:sp>
      <p:sp>
        <p:nvSpPr>
          <p:cNvPr id="614627502" name="Notes Placeholder 2"/>
          <p:cNvSpPr>
            <a:spLocks noGrp="1"/>
          </p:cNvSpPr>
          <p:nvPr>
            <p:ph type="body" idx="1"/>
          </p:nvPr>
        </p:nvSpPr>
        <p:spPr bwMode="auto"/>
        <p:txBody>
          <a:bodyPr/>
          <a:lstStyle/>
          <a:p>
            <a:pPr>
              <a:defRPr/>
            </a:pPr>
            <a:r>
              <a:rPr lang="en-US"/>
              <a:t>The Grid Survey Planner implements a systematic lawnmower coverage algorithm. Given a center GPS point and dimensions in meters, it uses the Haversine formula to convert metric offsets to GPS coordinates, generating four bounding corners. The survey area is then divided into parallel strips based on the row_spacing parameter. Alternating passes ensure complete area coverage. For a 200m × 200m area with 20m row spacing, this generates approximately 22 waypoints. The pattern is optimized to minimize turning maneuvers, which is critical for photogrammetry applications where consistent image overlap is required.</a:t>
            </a:r>
            <a:endParaRPr lang="en-US"/>
          </a:p>
        </p:txBody>
      </p:sp>
      <p:sp>
        <p:nvSpPr>
          <p:cNvPr id="71209596"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0701537" name="Slide Image Placeholder 1"/>
          <p:cNvSpPr>
            <a:spLocks noChangeAspect="1" noGrp="1" noRot="1"/>
          </p:cNvSpPr>
          <p:nvPr>
            <p:ph type="sldImg"/>
          </p:nvPr>
        </p:nvSpPr>
        <p:spPr bwMode="auto"/>
      </p:sp>
      <p:sp>
        <p:nvSpPr>
          <p:cNvPr id="662347902" name="Notes Placeholder 2"/>
          <p:cNvSpPr>
            <a:spLocks noGrp="1"/>
          </p:cNvSpPr>
          <p:nvPr>
            <p:ph type="body" idx="1"/>
          </p:nvPr>
        </p:nvSpPr>
        <p:spPr bwMode="auto"/>
        <p:txBody>
          <a:bodyPr/>
          <a:lstStyle/>
          <a:p>
            <a:pPr>
              <a:defRPr/>
            </a:pPr>
            <a:r>
              <a:rPr lang="en-US"/>
              <a:t>The Spiral Survey Planner generates elliptical spiral flight paths. The algorithm starts with the center GPS coordinate and incrementally increases (or decreases) the radius while advancing the angle parameter. The result is a smooth inward or outward spiral. Spiral missions are particularly useful for applications like search and rescue — where you want to systematically expand search coverage from a last-known position — and precision agriculture, where the converging spiral ensures the center area receives extra attention. The elliptical shape accommodates non-square survey areas while maintaining consistent ground sampling distance.</a:t>
            </a:r>
            <a:endParaRPr lang="en-US"/>
          </a:p>
        </p:txBody>
      </p:sp>
      <p:sp>
        <p:nvSpPr>
          <p:cNvPr id="301843498"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8225819" name="Slide Image Placeholder 1"/>
          <p:cNvSpPr>
            <a:spLocks noChangeAspect="1" noGrp="1" noRot="1"/>
          </p:cNvSpPr>
          <p:nvPr>
            <p:ph type="sldImg"/>
          </p:nvPr>
        </p:nvSpPr>
        <p:spPr bwMode="auto"/>
      </p:sp>
      <p:sp>
        <p:nvSpPr>
          <p:cNvPr id="1813316464" name="Notes Placeholder 2"/>
          <p:cNvSpPr>
            <a:spLocks noGrp="1"/>
          </p:cNvSpPr>
          <p:nvPr>
            <p:ph type="body" idx="1"/>
          </p:nvPr>
        </p:nvSpPr>
        <p:spPr bwMode="auto"/>
        <p:txBody>
          <a:bodyPr/>
          <a:lstStyle/>
          <a:p>
            <a:pPr>
              <a:defRPr/>
            </a:pPr>
            <a:r>
              <a:rPr lang="en-US"/>
              <a:t>The Waypoint Mission Planner is the most flexible of the three planners. It accepts an ordered list of GPS waypoints extracted directly from the LLM response. Each waypoint can have its own altitude and speed, allowing dynamic mission profiles — for example, flying lower and slower over a target area, then climbing and accelerating to transit to the next location. The planner generates four MAVLink command types: takeoff, speed change, waypoint navigation, and return-to-launch. The DO_CHANGE_SPEED command is particularly important as it enables the UAV to dynamically adapt its flight speed at each waypoint without interrupting the mission.</a:t>
            </a:r>
            <a:endParaRPr lang="en-US"/>
          </a:p>
        </p:txBody>
      </p:sp>
      <p:sp>
        <p:nvSpPr>
          <p:cNvPr id="419961473"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7380468" name="Slide Image Placeholder 1"/>
          <p:cNvSpPr>
            <a:spLocks noChangeAspect="1" noGrp="1" noRot="1"/>
          </p:cNvSpPr>
          <p:nvPr>
            <p:ph type="sldImg"/>
          </p:nvPr>
        </p:nvSpPr>
        <p:spPr bwMode="auto"/>
      </p:sp>
      <p:sp>
        <p:nvSpPr>
          <p:cNvPr id="695023254" name="Notes Placeholder 2"/>
          <p:cNvSpPr>
            <a:spLocks noGrp="1"/>
          </p:cNvSpPr>
          <p:nvPr>
            <p:ph type="body" idx="1"/>
          </p:nvPr>
        </p:nvSpPr>
        <p:spPr bwMode="auto"/>
        <p:txBody>
          <a:bodyPr/>
          <a:lstStyle/>
          <a:p>
            <a:pPr>
              <a:defRPr/>
            </a:pPr>
            <a:r>
              <a:rPr lang="en-US"/>
              <a:t>The MAVLink mission upload follows a strict request-response handshake protocol. First, PRANAVA sends MISSION_CLEAR_ALL to wipe any previous mission from the autopilot. After receiving an acknowledgment, it announces the total waypoint count via MISSION_COUNT. The autopilot then individually requests each waypoint using MISSION_REQUEST_INT. PRANAVA responds to each request with MISSION_ITEM_INT containing the 32-bit GPS-encoded waypoint data. After all waypoints are transferred, the autopilot sends a final MISSION_ACK confirming successful upload. This protocol ensures data integrity and prevents partial mission uploads that could be dangerous in flight.</a:t>
            </a:r>
            <a:endParaRPr lang="en-US"/>
          </a:p>
        </p:txBody>
      </p:sp>
      <p:sp>
        <p:nvSpPr>
          <p:cNvPr id="668996755"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1530637" name="Slide Image Placeholder 1"/>
          <p:cNvSpPr>
            <a:spLocks noChangeAspect="1" noGrp="1" noRot="1"/>
          </p:cNvSpPr>
          <p:nvPr>
            <p:ph type="sldImg"/>
          </p:nvPr>
        </p:nvSpPr>
        <p:spPr bwMode="auto"/>
      </p:sp>
      <p:sp>
        <p:nvSpPr>
          <p:cNvPr id="923181041" name="Notes Placeholder 2"/>
          <p:cNvSpPr>
            <a:spLocks noGrp="1"/>
          </p:cNvSpPr>
          <p:nvPr>
            <p:ph type="body" idx="1"/>
          </p:nvPr>
        </p:nvSpPr>
        <p:spPr bwMode="auto"/>
        <p:txBody>
          <a:bodyPr/>
          <a:lstStyle/>
          <a:p>
            <a:pPr>
              <a:defRPr/>
            </a:pPr>
            <a:r>
              <a:rPr lang="en-US"/>
              <a:t>PRANAVA is built on a carefully chosen technology stack. At the AI layer, Mistral 7B provides the language understanding. Its 7-billion parameter count strikes the optimal balance between accuracy and local deployability — it runs on a standard gaming GPU with 8GB VRAM. Ollama provides a Docker-like management layer for local models with a clean REST API. The application layer uses Python for all core logic and PyQt5 for the desktop GUI. The communication layer uses pymavlink — the official Python MAVLink library — for reliable autopilot communication. The complete stack runs on a standard developer laptop with no cloud requirements.</a:t>
            </a:r>
            <a:endParaRPr lang="en-US"/>
          </a:p>
        </p:txBody>
      </p:sp>
      <p:sp>
        <p:nvSpPr>
          <p:cNvPr id="1067013194"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7913661" name="Slide Image Placeholder 1"/>
          <p:cNvSpPr>
            <a:spLocks noChangeAspect="1" noGrp="1" noRot="1"/>
          </p:cNvSpPr>
          <p:nvPr>
            <p:ph type="sldImg"/>
          </p:nvPr>
        </p:nvSpPr>
        <p:spPr bwMode="auto"/>
      </p:sp>
      <p:sp>
        <p:nvSpPr>
          <p:cNvPr id="1008247971" name="Notes Placeholder 2"/>
          <p:cNvSpPr>
            <a:spLocks noGrp="1"/>
          </p:cNvSpPr>
          <p:nvPr>
            <p:ph type="body" idx="1"/>
          </p:nvPr>
        </p:nvSpPr>
        <p:spPr bwMode="auto"/>
        <p:txBody>
          <a:bodyPr/>
          <a:lstStyle/>
          <a:p>
            <a:pPr>
              <a:defRPr/>
            </a:pPr>
            <a:r>
              <a:rPr lang="en-US"/>
              <a:t>Validation was conducted in four phases. First, we tested 50+ natural language prompts to ensure consistent schema extraction. Second, we compared extracted JSON against manually created ground-truth missions. Third, all generated missions were tested in ArduPilot SITL with full virtual flight telemetry. Finally, three complete missions — a grid survey, a waypoint sequence, and a spiral — were successfully executed on real Pixhawk 2.4.8 hardware with autonomous flight completion. All tests passed, demonstrating the system's reliability across both simulated and physical environments.</a:t>
            </a:r>
            <a:endParaRPr lang="en-US"/>
          </a:p>
        </p:txBody>
      </p:sp>
      <p:sp>
        <p:nvSpPr>
          <p:cNvPr id="1670085471"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6306058" name="Slide Image Placeholder 1"/>
          <p:cNvSpPr>
            <a:spLocks noChangeAspect="1" noGrp="1" noRot="1"/>
          </p:cNvSpPr>
          <p:nvPr>
            <p:ph type="sldImg"/>
          </p:nvPr>
        </p:nvSpPr>
        <p:spPr bwMode="auto"/>
      </p:sp>
      <p:sp>
        <p:nvSpPr>
          <p:cNvPr id="1893262937" name="Notes Placeholder 2"/>
          <p:cNvSpPr>
            <a:spLocks noGrp="1"/>
          </p:cNvSpPr>
          <p:nvPr>
            <p:ph type="body" idx="1"/>
          </p:nvPr>
        </p:nvSpPr>
        <p:spPr bwMode="auto"/>
        <p:txBody>
          <a:bodyPr/>
          <a:lstStyle/>
          <a:p>
            <a:pPr>
              <a:defRPr/>
            </a:pPr>
            <a:r>
              <a:rPr lang="en-US"/>
              <a:t>Comparing PRANAVA to existing work reveals its unique positioning. Chandarana et al. explored natural language for UAVs but used cloud GPT models and provided no MAVLink upload. General LLM-UAV frameworks use GPT-4 with internet dependency and no real hardware validation. Commercial tools like Mission Planner handle hardware well but offer no natural language. ChatFlight provides NL interfaces without local models or direct upload. PRANAVA is the only system combining all five key capabilities: natural language, local LLM, offline operation, MAVLink upload, and validated real hardware flights.</a:t>
            </a:r>
            <a:endParaRPr lang="en-US"/>
          </a:p>
        </p:txBody>
      </p:sp>
      <p:sp>
        <p:nvSpPr>
          <p:cNvPr id="938039632"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4837876" name="Slide Image Placeholder 1"/>
          <p:cNvSpPr>
            <a:spLocks noChangeAspect="1" noGrp="1" noRot="1"/>
          </p:cNvSpPr>
          <p:nvPr>
            <p:ph type="sldImg"/>
          </p:nvPr>
        </p:nvSpPr>
        <p:spPr bwMode="auto"/>
      </p:sp>
      <p:sp>
        <p:nvSpPr>
          <p:cNvPr id="1893089160" name="Notes Placeholder 2"/>
          <p:cNvSpPr>
            <a:spLocks noGrp="1"/>
          </p:cNvSpPr>
          <p:nvPr>
            <p:ph type="body" idx="1"/>
          </p:nvPr>
        </p:nvSpPr>
        <p:spPr bwMode="auto"/>
        <p:txBody>
          <a:bodyPr/>
          <a:lstStyle/>
          <a:p>
            <a:pPr>
              <a:defRPr/>
            </a:pPr>
            <a:r>
              <a:rPr lang="en-US"/>
              <a:t>Our results are compelling. The 59% reduction in mission planning time is measured end-to-end from task description to mission-ready status. Manual waypoint entry for a 200m × 200m grid survey took an average of 18.5 minutes. Using PRANAVA, the same mission is generated in under 5 minutes including review time. MAVLink upload achieved 100% success rate across all SITL and hardware tests. Mistral 7B's 4.2-second average response time is acceptable for offline planning scenarios. Mission generation success rates are 100% for grid and waypoint types, with 95% for spiral types due to occasional coordinate boundary edge cases.</a:t>
            </a:r>
            <a:endParaRPr lang="en-US"/>
          </a:p>
        </p:txBody>
      </p:sp>
      <p:sp>
        <p:nvSpPr>
          <p:cNvPr id="140129992"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5966416" name="Slide Image Placeholder 1"/>
          <p:cNvSpPr>
            <a:spLocks noChangeAspect="1" noGrp="1" noRot="1"/>
          </p:cNvSpPr>
          <p:nvPr>
            <p:ph type="sldImg"/>
          </p:nvPr>
        </p:nvSpPr>
        <p:spPr bwMode="auto"/>
      </p:sp>
      <p:sp>
        <p:nvSpPr>
          <p:cNvPr id="2093009923" name="Notes Placeholder 2"/>
          <p:cNvSpPr>
            <a:spLocks noGrp="1"/>
          </p:cNvSpPr>
          <p:nvPr>
            <p:ph type="body" idx="1"/>
          </p:nvPr>
        </p:nvSpPr>
        <p:spPr bwMode="auto"/>
        <p:txBody>
          <a:bodyPr/>
          <a:lstStyle/>
          <a:p>
            <a:pPr>
              <a:defRPr/>
            </a:pPr>
            <a:r>
              <a:rPr lang="en-US"/>
              <a:t>In conclusion, PRANAVA successfully bridges the gap between generative AI and autonomous UAV operation. We have demonstrated that a 7-billion parameter language model, running entirely offline on consumer hardware, can reliably translate natural language into precise, executable MAVLink missions. The 59% time savings is significant for operational efficiency, and real hardware validation confirms this is not merely a simulation exercise. Future work will focus on closing the remaining loop — adding real-time telemetry awareness so the AI can monitor and adapt missions in flight, and extending to multi-UAV coordination for complex swarm operations. We believe PRANAVA establishes a new paradigm for human-UAV interaction. Thank you for your attention.</a:t>
            </a:r>
            <a:endParaRPr lang="en-US"/>
          </a:p>
        </p:txBody>
      </p:sp>
      <p:sp>
        <p:nvSpPr>
          <p:cNvPr id="1560422121"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43623661" name="Slide Image Placeholder 1"/>
          <p:cNvSpPr>
            <a:spLocks noChangeAspect="1" noGrp="1" noRot="1"/>
          </p:cNvSpPr>
          <p:nvPr>
            <p:ph type="sldImg"/>
          </p:nvPr>
        </p:nvSpPr>
        <p:spPr bwMode="auto"/>
      </p:sp>
      <p:sp>
        <p:nvSpPr>
          <p:cNvPr id="118839362" name="Notes Placeholder 2"/>
          <p:cNvSpPr>
            <a:spLocks noGrp="1"/>
          </p:cNvSpPr>
          <p:nvPr>
            <p:ph type="body" idx="1"/>
          </p:nvPr>
        </p:nvSpPr>
        <p:spPr bwMode="auto"/>
        <p:txBody>
          <a:bodyPr/>
          <a:lstStyle/>
          <a:p>
            <a:pPr>
              <a:defRPr/>
            </a:pPr>
            <a:r>
              <a:rPr lang="en-US"/>
              <a:t>In conclusion, PRANAVA successfully bridges the gap between generative AI and autonomous UAV operation. We have demonstrated that a 7-billion parameter language model, running entirely offline on consumer hardware, can reliably translate natural language into precise, executable MAVLink missions. The 59% time savings is significant for operational efficiency, and real hardware validation confirms this is not merely a simulation exercise. Future work will focus on closing the remaining loop — adding real-time telemetry awareness so the AI can monitor and adapt missions in flight, and extending to multi-UAV coordination for complex swarm operations. We believe PRANAVA establishes a new paradigm for human-UAV interaction. Thank you for your attention.</a:t>
            </a:r>
            <a:endParaRPr lang="en-US"/>
          </a:p>
        </p:txBody>
      </p:sp>
      <p:sp>
        <p:nvSpPr>
          <p:cNvPr id="2119091954" name="Slide Number Placeholder 3"/>
          <p:cNvSpPr>
            <a:spLocks noGrp="1"/>
          </p:cNvSpPr>
          <p:nvPr>
            <p:ph type="sldNum" sz="quarter" idx="10"/>
          </p:nvPr>
        </p:nvSpPr>
        <p:spPr bwMode="auto"/>
        <p:txBody>
          <a:bodyPr/>
          <a:lstStyle/>
          <a:p>
            <a:pPr>
              <a:defRPr/>
            </a:pPr>
            <a:fld id="{DFE2CFF1-309F-4C6C-C917-53F118ABC4B1}" type="slidenum">
              <a:rPr lang="en-US"/>
              <a:t>15</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4578758" name="Slide Image Placeholder 1"/>
          <p:cNvSpPr>
            <a:spLocks noChangeAspect="1" noGrp="1" noRot="1"/>
          </p:cNvSpPr>
          <p:nvPr>
            <p:ph type="sldImg"/>
          </p:nvPr>
        </p:nvSpPr>
        <p:spPr bwMode="auto"/>
      </p:sp>
      <p:sp>
        <p:nvSpPr>
          <p:cNvPr id="1680617083" name="Notes Placeholder 2"/>
          <p:cNvSpPr>
            <a:spLocks noGrp="1"/>
          </p:cNvSpPr>
          <p:nvPr>
            <p:ph type="body" idx="1"/>
          </p:nvPr>
        </p:nvSpPr>
        <p:spPr bwMode="auto"/>
        <p:txBody>
          <a:bodyPr/>
          <a:lstStyle/>
          <a:p>
            <a:pPr>
              <a:defRPr/>
            </a:pPr>
            <a:r>
              <a:rPr lang="en-US"/>
              <a:t>Thank the audience and panel. Key points to emphasize during questions: 1) The system is fully open and reproducible — built on open-source components. 2) Mistral 7B was chosen specifically for its offline capability and accuracy balance. 3) Real Pixhawk hardware validation distinguishes PRANAVA from purely academic LLM-UAV work. 4) The JSON schema approach eliminates hallucination risk by constraining LLM output to a validated structure. Be prepared to discuss: limitations (currently single-UAV, no real-time replanning), edge cases in schema extraction, and scalability to larger mission areas.</a:t>
            </a:r>
            <a:endParaRPr lang="en-US"/>
          </a:p>
        </p:txBody>
      </p:sp>
      <p:sp>
        <p:nvSpPr>
          <p:cNvPr id="1546218693" name="Slide Number Placeholder 3"/>
          <p:cNvSpPr>
            <a:spLocks noGrp="1"/>
          </p:cNvSpPr>
          <p:nvPr>
            <p:ph type="sldNum" sz="quarter" idx="10"/>
          </p:nvPr>
        </p:nvSpPr>
        <p:spPr bwMode="auto"/>
        <p:txBody>
          <a:bodyPr/>
          <a:lstStyle/>
          <a:p>
            <a:pPr>
              <a:defRPr/>
            </a:pPr>
            <a:fld id="{F7021451-1387-4CA6-816F-3879F97B5CBC}" type="slidenum">
              <a:rPr lang="en-US"/>
              <a:t>16</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hart" Target="../charts/chart1.xml" /><Relationship Id="rId4" Type="http://schemas.openxmlformats.org/officeDocument/2006/relationships/chart" Target="../charts/chart2.xml" /></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arxiv.org/abs/2510.21739" TargetMode="External"/><Relationship Id="rId4" Type="http://schemas.openxmlformats.org/officeDocument/2006/relationships/hyperlink" Target="https://mavlink.io/en/services/mission.html" TargetMode="External"/><Relationship Id="rId5" Type="http://schemas.openxmlformats.org/officeDocument/2006/relationships/hyperlink" Target="https://www.ri.cmu.edu/publications/fly-like-this-natural-language-interfaces-for-uav-mission-planning/" TargetMode="External"/><Relationship Id="rId6" Type="http://schemas.openxmlformats.org/officeDocument/2006/relationships/hyperlink" Target="https://ardupilot.org/dev/docs/mavlink-mission-upload-download.html" TargetMode="External"/><Relationship Id="rId7" Type="http://schemas.openxmlformats.org/officeDocument/2006/relationships/hyperlink" Target="https://ardupilot.org/planner/docs/common-mavlink-mission-command-messages-mav_cmd.html" TargetMode="External"/><Relationship Id="rId8" Type="http://schemas.openxmlformats.org/officeDocument/2006/relationships/hyperlink" Target="https://www.google.com/search?q=https%3A%2F%2Fardupilot.org%2Fdev%2Fdocs%2Fcopter-commands-in-guided-mode.html" TargetMode="External"/><Relationship Id="rId9" Type="http://schemas.openxmlformats.org/officeDocument/2006/relationships/hyperlink" Target="https://www.google.com/search?q=https%3A%2F%2Fgithub.com%2Fmavlink%2Fqgroundcontrol" TargetMode="External"/><Relationship Id="rId10" Type="http://schemas.openxmlformats.org/officeDocument/2006/relationships/hyperlink" Target="https://www.google.com/search?q=https%3A%2F%2Fdocs.qgroundcontrol.com%2Fmaster%2Fen%2Fqgc-dev-guide%2Fcustom_build%2Fmavlink.html" TargetMode="Externa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0A1628"/>
        </a:solidFill>
      </p:bgPr>
    </p:bg>
    <p:spTree>
      <p:nvGrpSpPr>
        <p:cNvPr id="1" name=""/>
        <p:cNvGrpSpPr/>
        <p:nvPr/>
      </p:nvGrpSpPr>
      <p:grpSpPr bwMode="auto">
        <a:xfrm>
          <a:off x="0" y="0"/>
          <a:ext cx="0" cy="0"/>
          <a:chOff x="0" y="0"/>
          <a:chExt cx="0" cy="0"/>
        </a:xfrm>
      </p:grpSpPr>
      <p:sp>
        <p:nvSpPr>
          <p:cNvPr id="355161991" name="Shape 0"/>
          <p:cNvSpPr/>
          <p:nvPr/>
        </p:nvSpPr>
        <p:spPr bwMode="auto">
          <a:xfrm>
            <a:off x="0" y="0"/>
            <a:ext cx="9144000" cy="73152"/>
          </a:xfrm>
          <a:prstGeom prst="rect">
            <a:avLst/>
          </a:prstGeom>
          <a:solidFill>
            <a:srgbClr val="00B4D8"/>
          </a:solidFill>
          <a:ln w="12700">
            <a:solidFill>
              <a:srgbClr val="00B4D8"/>
            </a:solidFill>
            <a:prstDash val="solid"/>
          </a:ln>
        </p:spPr>
      </p:sp>
      <p:sp>
        <p:nvSpPr>
          <p:cNvPr id="1885649305" name="Shape 1"/>
          <p:cNvSpPr/>
          <p:nvPr/>
        </p:nvSpPr>
        <p:spPr bwMode="auto">
          <a:xfrm>
            <a:off x="0" y="5070348"/>
            <a:ext cx="9144000" cy="73152"/>
          </a:xfrm>
          <a:prstGeom prst="rect">
            <a:avLst/>
          </a:prstGeom>
          <a:solidFill>
            <a:srgbClr val="00B4D8"/>
          </a:solidFill>
          <a:ln w="12700">
            <a:solidFill>
              <a:srgbClr val="00B4D8"/>
            </a:solidFill>
            <a:prstDash val="solid"/>
          </a:ln>
        </p:spPr>
      </p:sp>
      <p:sp>
        <p:nvSpPr>
          <p:cNvPr id="122637595" name="Shape 2"/>
          <p:cNvSpPr/>
          <p:nvPr/>
        </p:nvSpPr>
        <p:spPr bwMode="auto">
          <a:xfrm>
            <a:off x="0" y="73152"/>
            <a:ext cx="54864" cy="4997196"/>
          </a:xfrm>
          <a:prstGeom prst="rect">
            <a:avLst/>
          </a:prstGeom>
          <a:solidFill>
            <a:srgbClr val="0077B6"/>
          </a:solidFill>
          <a:ln w="12700">
            <a:solidFill>
              <a:srgbClr val="0077B6"/>
            </a:solidFill>
            <a:prstDash val="solid"/>
          </a:ln>
        </p:spPr>
      </p:sp>
      <p:sp>
        <p:nvSpPr>
          <p:cNvPr id="758440212" name="Text 5"/>
          <p:cNvSpPr/>
          <p:nvPr/>
        </p:nvSpPr>
        <p:spPr bwMode="auto">
          <a:xfrm>
            <a:off x="320040" y="685800"/>
            <a:ext cx="8503920" cy="1005840"/>
          </a:xfrm>
          <a:prstGeom prst="rect">
            <a:avLst/>
          </a:prstGeom>
          <a:noFill/>
          <a:ln/>
        </p:spPr>
        <p:txBody>
          <a:bodyPr wrap="square" lIns="0" tIns="0" rIns="0" bIns="0" rtlCol="0" anchor="b"/>
          <a:lstStyle/>
          <a:p>
            <a:pPr marL="0" indent="0" algn="l">
              <a:buNone/>
              <a:defRPr/>
            </a:pPr>
            <a:r>
              <a:rPr lang="en-US" sz="6000" b="1" spc="1000">
                <a:solidFill>
                  <a:srgbClr val="00B4D8"/>
                </a:solidFill>
                <a:latin typeface="Calibri"/>
                <a:ea typeface="Calibri"/>
                <a:cs typeface="Calibri"/>
              </a:rPr>
              <a:t>PRANAVA</a:t>
            </a:r>
            <a:endParaRPr lang="en-US" sz="6000"/>
          </a:p>
        </p:txBody>
      </p:sp>
      <p:sp>
        <p:nvSpPr>
          <p:cNvPr id="1400017888" name="Text 6"/>
          <p:cNvSpPr/>
          <p:nvPr/>
        </p:nvSpPr>
        <p:spPr bwMode="auto">
          <a:xfrm>
            <a:off x="320040" y="1691640"/>
            <a:ext cx="6858000" cy="914400"/>
          </a:xfrm>
          <a:prstGeom prst="rect">
            <a:avLst/>
          </a:prstGeom>
          <a:noFill/>
          <a:ln/>
        </p:spPr>
        <p:txBody>
          <a:bodyPr wrap="square" lIns="0" tIns="0" rIns="0" bIns="0" rtlCol="0" anchor="t"/>
          <a:lstStyle/>
          <a:p>
            <a:pPr marL="0" indent="0" algn="l">
              <a:buNone/>
              <a:defRPr/>
            </a:pPr>
            <a:r>
              <a:rPr lang="en-US" sz="1800">
                <a:solidFill>
                  <a:srgbClr val="E8F1FF"/>
                </a:solidFill>
                <a:latin typeface="Calibri"/>
                <a:ea typeface="Calibri"/>
                <a:cs typeface="Calibri"/>
              </a:rPr>
              <a:t>Prompt-driven Route Generation for Autonomous</a:t>
            </a:r>
            <a:endParaRPr lang="en-US" sz="1800"/>
          </a:p>
          <a:p>
            <a:pPr marL="0" indent="0" algn="l">
              <a:buNone/>
              <a:defRPr/>
            </a:pPr>
            <a:r>
              <a:rPr lang="en-US" sz="1800">
                <a:solidFill>
                  <a:srgbClr val="E8F1FF"/>
                </a:solidFill>
                <a:latin typeface="Calibri"/>
                <a:ea typeface="Calibri"/>
                <a:cs typeface="Calibri"/>
              </a:rPr>
              <a:t>Navigation of Aerial Vehicles using Generative AI</a:t>
            </a:r>
            <a:endParaRPr lang="en-US" sz="1800"/>
          </a:p>
        </p:txBody>
      </p:sp>
      <p:sp>
        <p:nvSpPr>
          <p:cNvPr id="272964728" name="Shape 7"/>
          <p:cNvSpPr/>
          <p:nvPr/>
        </p:nvSpPr>
        <p:spPr bwMode="auto">
          <a:xfrm>
            <a:off x="320040" y="2743200"/>
            <a:ext cx="5486400" cy="27432"/>
          </a:xfrm>
          <a:prstGeom prst="rect">
            <a:avLst/>
          </a:prstGeom>
          <a:solidFill>
            <a:srgbClr val="FFB703"/>
          </a:solidFill>
          <a:ln w="12700">
            <a:solidFill>
              <a:srgbClr val="FFB703"/>
            </a:solidFill>
            <a:prstDash val="solid"/>
          </a:ln>
        </p:spPr>
      </p:sp>
      <p:sp>
        <p:nvSpPr>
          <p:cNvPr id="1299846821" name="Text 9"/>
          <p:cNvSpPr/>
          <p:nvPr/>
        </p:nvSpPr>
        <p:spPr bwMode="auto">
          <a:xfrm>
            <a:off x="320040" y="3127248"/>
            <a:ext cx="6858000" cy="256032"/>
          </a:xfrm>
          <a:prstGeom prst="rect">
            <a:avLst/>
          </a:prstGeom>
          <a:noFill/>
          <a:ln/>
        </p:spPr>
        <p:txBody>
          <a:bodyPr wrap="square" lIns="0" tIns="0" rIns="0" bIns="0" rtlCol="0" anchor="ctr"/>
          <a:lstStyle/>
          <a:p>
            <a:pPr marL="0" indent="0">
              <a:buNone/>
              <a:defRPr/>
            </a:pPr>
            <a:r>
              <a:rPr lang="en-US" sz="1600">
                <a:solidFill>
                  <a:srgbClr val="B8C8DC"/>
                </a:solidFill>
              </a:rPr>
              <a:t>Varun Vivek Pai •  Mallikarjun Kelur •  Varun Kandakoor</a:t>
            </a:r>
            <a:endParaRPr lang="en-US" sz="1600"/>
          </a:p>
        </p:txBody>
      </p:sp>
      <p:sp>
        <p:nvSpPr>
          <p:cNvPr id="263496382" name="Text 11"/>
          <p:cNvSpPr/>
          <p:nvPr/>
        </p:nvSpPr>
        <p:spPr bwMode="auto">
          <a:xfrm>
            <a:off x="320040" y="3721608"/>
            <a:ext cx="6858000" cy="502920"/>
          </a:xfrm>
          <a:prstGeom prst="rect">
            <a:avLst/>
          </a:prstGeom>
          <a:noFill/>
          <a:ln/>
        </p:spPr>
        <p:txBody>
          <a:bodyPr wrap="square" lIns="0" tIns="0" rIns="0" bIns="0" rtlCol="0" anchor="ctr"/>
          <a:lstStyle/>
          <a:p>
            <a:pPr marL="0" indent="0">
              <a:buNone/>
              <a:defRPr/>
            </a:pPr>
            <a:r>
              <a:rPr lang="en-US" sz="1400">
                <a:solidFill>
                  <a:srgbClr val="B8C8DC"/>
                </a:solidFill>
              </a:rPr>
              <a:t>School of Electronics &amp; Communication Engineering</a:t>
            </a:r>
            <a:endParaRPr lang="en-US" sz="1400"/>
          </a:p>
          <a:p>
            <a:pPr marL="0" indent="0">
              <a:buNone/>
              <a:defRPr/>
            </a:pPr>
            <a:r>
              <a:rPr lang="en-US" sz="1400">
                <a:solidFill>
                  <a:srgbClr val="B8C8DC"/>
                </a:solidFill>
              </a:rPr>
              <a:t>KLE Technological University, Hubli</a:t>
            </a:r>
            <a:endParaRPr lang="en-US" sz="1400"/>
          </a:p>
        </p:txBody>
      </p:sp>
      <p:sp>
        <p:nvSpPr>
          <p:cNvPr id="1732090006" name="Shape 12"/>
          <p:cNvSpPr/>
          <p:nvPr/>
        </p:nvSpPr>
        <p:spPr bwMode="auto">
          <a:xfrm>
            <a:off x="7132320" y="1097280"/>
            <a:ext cx="1645920" cy="1645920"/>
          </a:xfrm>
          <a:prstGeom prst="ellipse">
            <a:avLst/>
          </a:prstGeom>
          <a:solidFill>
            <a:srgbClr val="0077B6">
              <a:alpha val="40000"/>
            </a:srgbClr>
          </a:solidFill>
          <a:ln w="19050">
            <a:solidFill>
              <a:srgbClr val="00B4D8"/>
            </a:solidFill>
            <a:prstDash val="solid"/>
          </a:ln>
        </p:spPr>
      </p:sp>
      <p:sp>
        <p:nvSpPr>
          <p:cNvPr id="58493042" name="Shape 13"/>
          <p:cNvSpPr/>
          <p:nvPr/>
        </p:nvSpPr>
        <p:spPr bwMode="auto">
          <a:xfrm>
            <a:off x="7315200" y="1280160"/>
            <a:ext cx="1280160" cy="1280160"/>
          </a:xfrm>
          <a:prstGeom prst="ellipse">
            <a:avLst/>
          </a:prstGeom>
          <a:solidFill>
            <a:srgbClr val="00B4D8">
              <a:alpha val="25000"/>
            </a:srgbClr>
          </a:solidFill>
          <a:ln w="12700">
            <a:solidFill>
              <a:srgbClr val="00B4D8"/>
            </a:solidFill>
            <a:prstDash val="solid"/>
          </a:ln>
        </p:spPr>
      </p:sp>
      <p:sp>
        <p:nvSpPr>
          <p:cNvPr id="526229899" name="Shape 16"/>
          <p:cNvSpPr/>
          <p:nvPr/>
        </p:nvSpPr>
        <p:spPr bwMode="auto">
          <a:xfrm>
            <a:off x="7040880" y="1005840"/>
            <a:ext cx="411480" cy="411480"/>
          </a:xfrm>
          <a:prstGeom prst="ellipse">
            <a:avLst/>
          </a:prstGeom>
          <a:solidFill>
            <a:srgbClr val="112240"/>
          </a:solidFill>
          <a:ln w="19050">
            <a:solidFill>
              <a:srgbClr val="00B4D8"/>
            </a:solidFill>
            <a:prstDash val="solid"/>
          </a:ln>
        </p:spPr>
      </p:sp>
      <p:sp>
        <p:nvSpPr>
          <p:cNvPr id="52602144" name="Shape 17"/>
          <p:cNvSpPr/>
          <p:nvPr/>
        </p:nvSpPr>
        <p:spPr bwMode="auto">
          <a:xfrm>
            <a:off x="8412480" y="1005840"/>
            <a:ext cx="411480" cy="411480"/>
          </a:xfrm>
          <a:prstGeom prst="ellipse">
            <a:avLst/>
          </a:prstGeom>
          <a:solidFill>
            <a:srgbClr val="112240"/>
          </a:solidFill>
          <a:ln w="19050">
            <a:solidFill>
              <a:srgbClr val="00B4D8"/>
            </a:solidFill>
            <a:prstDash val="solid"/>
          </a:ln>
        </p:spPr>
      </p:sp>
      <p:sp>
        <p:nvSpPr>
          <p:cNvPr id="1103174666" name="Shape 18"/>
          <p:cNvSpPr/>
          <p:nvPr/>
        </p:nvSpPr>
        <p:spPr bwMode="auto">
          <a:xfrm>
            <a:off x="7040880" y="2560320"/>
            <a:ext cx="411480" cy="411480"/>
          </a:xfrm>
          <a:prstGeom prst="ellipse">
            <a:avLst/>
          </a:prstGeom>
          <a:solidFill>
            <a:srgbClr val="112240"/>
          </a:solidFill>
          <a:ln w="19050">
            <a:solidFill>
              <a:srgbClr val="00B4D8"/>
            </a:solidFill>
            <a:prstDash val="solid"/>
          </a:ln>
        </p:spPr>
      </p:sp>
      <p:sp>
        <p:nvSpPr>
          <p:cNvPr id="956915272" name="Shape 19"/>
          <p:cNvSpPr/>
          <p:nvPr/>
        </p:nvSpPr>
        <p:spPr bwMode="auto">
          <a:xfrm>
            <a:off x="8412480" y="2560320"/>
            <a:ext cx="411480" cy="411480"/>
          </a:xfrm>
          <a:prstGeom prst="ellipse">
            <a:avLst/>
          </a:prstGeom>
          <a:solidFill>
            <a:srgbClr val="112240"/>
          </a:solidFill>
          <a:ln w="19050">
            <a:solidFill>
              <a:srgbClr val="00B4D8"/>
            </a:solidFill>
            <a:prstDash val="solid"/>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0A1628"/>
        </a:solidFill>
      </p:bgPr>
    </p:bg>
    <p:spTree>
      <p:nvGrpSpPr>
        <p:cNvPr id="1" name=""/>
        <p:cNvGrpSpPr/>
        <p:nvPr/>
      </p:nvGrpSpPr>
      <p:grpSpPr bwMode="auto">
        <a:xfrm>
          <a:off x="0" y="0"/>
          <a:ext cx="0" cy="0"/>
          <a:chOff x="0" y="0"/>
          <a:chExt cx="0" cy="0"/>
        </a:xfrm>
      </p:grpSpPr>
      <p:sp>
        <p:nvSpPr>
          <p:cNvPr id="1750195582" name="Shape 0"/>
          <p:cNvSpPr/>
          <p:nvPr/>
        </p:nvSpPr>
        <p:spPr bwMode="auto">
          <a:xfrm>
            <a:off x="0" y="0"/>
            <a:ext cx="9144000" cy="73152"/>
          </a:xfrm>
          <a:prstGeom prst="rect">
            <a:avLst/>
          </a:prstGeom>
          <a:solidFill>
            <a:srgbClr val="00B4D8"/>
          </a:solidFill>
          <a:ln w="12700">
            <a:solidFill>
              <a:srgbClr val="00B4D8"/>
            </a:solidFill>
            <a:prstDash val="solid"/>
          </a:ln>
        </p:spPr>
      </p:sp>
      <p:sp>
        <p:nvSpPr>
          <p:cNvPr id="2090361482" name="Text 1"/>
          <p:cNvSpPr/>
          <p:nvPr/>
        </p:nvSpPr>
        <p:spPr bwMode="auto">
          <a:xfrm>
            <a:off x="365760" y="164592"/>
            <a:ext cx="8229600" cy="457200"/>
          </a:xfrm>
          <a:prstGeom prst="rect">
            <a:avLst/>
          </a:prstGeom>
          <a:noFill/>
          <a:ln/>
        </p:spPr>
        <p:txBody>
          <a:bodyPr wrap="square" lIns="0" tIns="0" rIns="0" bIns="0" rtlCol="0" anchor="ctr"/>
          <a:lstStyle/>
          <a:p>
            <a:pPr marL="0" indent="0">
              <a:buNone/>
              <a:defRPr/>
            </a:pPr>
            <a:r>
              <a:rPr lang="en-US" sz="2400" b="1">
                <a:solidFill>
                  <a:srgbClr val="FFFFFF"/>
                </a:solidFill>
                <a:latin typeface="Calibri"/>
                <a:ea typeface="Calibri"/>
                <a:cs typeface="Calibri"/>
              </a:rPr>
              <a:t>Motivation &amp; Problem Statement</a:t>
            </a:r>
            <a:endParaRPr lang="en-US" sz="2400"/>
          </a:p>
        </p:txBody>
      </p:sp>
      <p:sp>
        <p:nvSpPr>
          <p:cNvPr id="1150588679" name="Shape 2"/>
          <p:cNvSpPr/>
          <p:nvPr/>
        </p:nvSpPr>
        <p:spPr bwMode="auto">
          <a:xfrm>
            <a:off x="365760" y="621792"/>
            <a:ext cx="2286000" cy="36576"/>
          </a:xfrm>
          <a:prstGeom prst="rect">
            <a:avLst/>
          </a:prstGeom>
          <a:solidFill>
            <a:srgbClr val="FFB703"/>
          </a:solidFill>
          <a:ln w="12700">
            <a:solidFill>
              <a:srgbClr val="FFB703"/>
            </a:solidFill>
            <a:prstDash val="solid"/>
          </a:ln>
        </p:spPr>
      </p:sp>
      <p:sp>
        <p:nvSpPr>
          <p:cNvPr id="1957872013" name="Shape 3"/>
          <p:cNvSpPr/>
          <p:nvPr/>
        </p:nvSpPr>
        <p:spPr bwMode="auto">
          <a:xfrm>
            <a:off x="320040" y="822960"/>
            <a:ext cx="2743200" cy="3383280"/>
          </a:xfrm>
          <a:prstGeom prst="rect">
            <a:avLst/>
          </a:prstGeom>
          <a:solidFill>
            <a:srgbClr val="112240"/>
          </a:solidFill>
          <a:ln w="12700">
            <a:solidFill>
              <a:srgbClr val="0077B6"/>
            </a:solidFill>
            <a:prstDash val="solid"/>
          </a:ln>
        </p:spPr>
      </p:sp>
      <p:sp>
        <p:nvSpPr>
          <p:cNvPr id="1679435193" name="Shape 4"/>
          <p:cNvSpPr/>
          <p:nvPr/>
        </p:nvSpPr>
        <p:spPr bwMode="auto">
          <a:xfrm>
            <a:off x="320040" y="822960"/>
            <a:ext cx="2743200" cy="54864"/>
          </a:xfrm>
          <a:prstGeom prst="rect">
            <a:avLst/>
          </a:prstGeom>
          <a:solidFill>
            <a:srgbClr val="00B4D8"/>
          </a:solidFill>
          <a:ln w="12700">
            <a:solidFill>
              <a:srgbClr val="00B4D8"/>
            </a:solidFill>
            <a:prstDash val="solid"/>
          </a:ln>
        </p:spPr>
      </p:sp>
      <p:sp>
        <p:nvSpPr>
          <p:cNvPr id="1949270359" name="Text 6"/>
          <p:cNvSpPr/>
          <p:nvPr/>
        </p:nvSpPr>
        <p:spPr bwMode="auto">
          <a:xfrm>
            <a:off x="457200" y="1783080"/>
            <a:ext cx="2468880" cy="640080"/>
          </a:xfrm>
          <a:prstGeom prst="rect">
            <a:avLst/>
          </a:prstGeom>
          <a:noFill/>
          <a:ln/>
        </p:spPr>
        <p:txBody>
          <a:bodyPr wrap="square" lIns="0" tIns="0" rIns="0" bIns="0" rtlCol="0" anchor="ctr"/>
          <a:lstStyle/>
          <a:p>
            <a:pPr marL="0" indent="0" algn="ctr">
              <a:buNone/>
              <a:defRPr/>
            </a:pPr>
            <a:r>
              <a:rPr lang="en-US" sz="1400" b="1">
                <a:solidFill>
                  <a:srgbClr val="00B4D8"/>
                </a:solidFill>
              </a:rPr>
              <a:t>Manual Waypoint</a:t>
            </a:r>
            <a:endParaRPr lang="en-US" sz="1400"/>
          </a:p>
          <a:p>
            <a:pPr marL="0" indent="0" algn="ctr">
              <a:buNone/>
              <a:defRPr/>
            </a:pPr>
            <a:r>
              <a:rPr lang="en-US" sz="1400" b="1">
                <a:solidFill>
                  <a:srgbClr val="00B4D8"/>
                </a:solidFill>
              </a:rPr>
              <a:t>Creation</a:t>
            </a:r>
            <a:endParaRPr lang="en-US" sz="1400"/>
          </a:p>
        </p:txBody>
      </p:sp>
      <p:sp>
        <p:nvSpPr>
          <p:cNvPr id="1854863920" name="Text 7"/>
          <p:cNvSpPr/>
          <p:nvPr/>
        </p:nvSpPr>
        <p:spPr bwMode="auto">
          <a:xfrm>
            <a:off x="457200" y="2514600"/>
            <a:ext cx="2468880" cy="1508759"/>
          </a:xfrm>
          <a:prstGeom prst="rect">
            <a:avLst/>
          </a:prstGeom>
          <a:noFill/>
          <a:ln/>
        </p:spPr>
        <p:txBody>
          <a:bodyPr wrap="square" lIns="0" tIns="0" rIns="0" bIns="0" rtlCol="0" anchor="ctr"/>
          <a:lstStyle/>
          <a:p>
            <a:pPr marL="0" indent="0" algn="ctr">
              <a:buNone/>
              <a:defRPr/>
            </a:pPr>
            <a:r>
              <a:rPr lang="en-US" sz="1200">
                <a:solidFill>
                  <a:srgbClr val="B8C8DC"/>
                </a:solidFill>
              </a:rPr>
              <a:t>Operators must manually input GPS coordinates one-by-one. Error-prone, time-consuming, and requires expert GIS knowledge.</a:t>
            </a:r>
            <a:endParaRPr lang="en-US" sz="1200"/>
          </a:p>
        </p:txBody>
      </p:sp>
      <p:sp>
        <p:nvSpPr>
          <p:cNvPr id="1458773996" name="Shape 8"/>
          <p:cNvSpPr/>
          <p:nvPr/>
        </p:nvSpPr>
        <p:spPr bwMode="auto">
          <a:xfrm>
            <a:off x="3246120" y="822960"/>
            <a:ext cx="2743200" cy="3383280"/>
          </a:xfrm>
          <a:prstGeom prst="rect">
            <a:avLst/>
          </a:prstGeom>
          <a:solidFill>
            <a:srgbClr val="112240"/>
          </a:solidFill>
          <a:ln w="12700">
            <a:solidFill>
              <a:srgbClr val="0077B6"/>
            </a:solidFill>
            <a:prstDash val="solid"/>
          </a:ln>
        </p:spPr>
      </p:sp>
      <p:sp>
        <p:nvSpPr>
          <p:cNvPr id="446845134" name="Shape 9"/>
          <p:cNvSpPr/>
          <p:nvPr/>
        </p:nvSpPr>
        <p:spPr bwMode="auto">
          <a:xfrm>
            <a:off x="3246120" y="822960"/>
            <a:ext cx="2743200" cy="54864"/>
          </a:xfrm>
          <a:prstGeom prst="rect">
            <a:avLst/>
          </a:prstGeom>
          <a:solidFill>
            <a:srgbClr val="00B4D8"/>
          </a:solidFill>
          <a:ln w="12700">
            <a:solidFill>
              <a:srgbClr val="00B4D8"/>
            </a:solidFill>
            <a:prstDash val="solid"/>
          </a:ln>
        </p:spPr>
      </p:sp>
      <p:sp>
        <p:nvSpPr>
          <p:cNvPr id="425300903" name="Text 11"/>
          <p:cNvSpPr/>
          <p:nvPr/>
        </p:nvSpPr>
        <p:spPr bwMode="auto">
          <a:xfrm>
            <a:off x="3383280" y="1783080"/>
            <a:ext cx="2468880" cy="640080"/>
          </a:xfrm>
          <a:prstGeom prst="rect">
            <a:avLst/>
          </a:prstGeom>
          <a:noFill/>
          <a:ln/>
        </p:spPr>
        <p:txBody>
          <a:bodyPr wrap="square" lIns="0" tIns="0" rIns="0" bIns="0" rtlCol="0" anchor="ctr"/>
          <a:lstStyle/>
          <a:p>
            <a:pPr marL="0" indent="0" algn="ctr">
              <a:buNone/>
              <a:defRPr/>
            </a:pPr>
            <a:r>
              <a:rPr lang="en-US" sz="1400" b="1">
                <a:solidFill>
                  <a:srgbClr val="00B4D8"/>
                </a:solidFill>
              </a:rPr>
              <a:t>Complex Mission</a:t>
            </a:r>
            <a:endParaRPr lang="en-US" sz="1400"/>
          </a:p>
          <a:p>
            <a:pPr marL="0" indent="0" algn="ctr">
              <a:buNone/>
              <a:defRPr/>
            </a:pPr>
            <a:r>
              <a:rPr lang="en-US" sz="1400" b="1">
                <a:solidFill>
                  <a:srgbClr val="00B4D8"/>
                </a:solidFill>
              </a:rPr>
              <a:t>Planning Tools</a:t>
            </a:r>
            <a:endParaRPr lang="en-US" sz="1400"/>
          </a:p>
        </p:txBody>
      </p:sp>
      <p:sp>
        <p:nvSpPr>
          <p:cNvPr id="1582009626" name="Text 12"/>
          <p:cNvSpPr/>
          <p:nvPr/>
        </p:nvSpPr>
        <p:spPr bwMode="auto">
          <a:xfrm>
            <a:off x="3383280" y="2514600"/>
            <a:ext cx="2468880" cy="1508759"/>
          </a:xfrm>
          <a:prstGeom prst="rect">
            <a:avLst/>
          </a:prstGeom>
          <a:noFill/>
          <a:ln/>
        </p:spPr>
        <p:txBody>
          <a:bodyPr wrap="square" lIns="0" tIns="0" rIns="0" bIns="0" rtlCol="0" anchor="ctr"/>
          <a:lstStyle/>
          <a:p>
            <a:pPr marL="0" indent="0" algn="ctr">
              <a:buNone/>
              <a:defRPr/>
            </a:pPr>
            <a:r>
              <a:rPr lang="en-US" sz="1200">
                <a:solidFill>
                  <a:srgbClr val="B8C8DC"/>
                </a:solidFill>
              </a:rPr>
              <a:t>Existing tools like QGroundControl require steep learning curves. Non-experts struggle to plan survey missions effectively.</a:t>
            </a:r>
            <a:endParaRPr lang="en-US" sz="1200"/>
          </a:p>
        </p:txBody>
      </p:sp>
      <p:sp>
        <p:nvSpPr>
          <p:cNvPr id="386400579" name="Shape 13"/>
          <p:cNvSpPr/>
          <p:nvPr/>
        </p:nvSpPr>
        <p:spPr bwMode="auto">
          <a:xfrm>
            <a:off x="6172200" y="822960"/>
            <a:ext cx="2743200" cy="3383280"/>
          </a:xfrm>
          <a:prstGeom prst="rect">
            <a:avLst/>
          </a:prstGeom>
          <a:solidFill>
            <a:srgbClr val="112240"/>
          </a:solidFill>
          <a:ln w="12700">
            <a:solidFill>
              <a:srgbClr val="0077B6"/>
            </a:solidFill>
            <a:prstDash val="solid"/>
          </a:ln>
        </p:spPr>
      </p:sp>
      <p:sp>
        <p:nvSpPr>
          <p:cNvPr id="1589813027" name="Shape 14"/>
          <p:cNvSpPr/>
          <p:nvPr/>
        </p:nvSpPr>
        <p:spPr bwMode="auto">
          <a:xfrm>
            <a:off x="6172200" y="822960"/>
            <a:ext cx="2743200" cy="54864"/>
          </a:xfrm>
          <a:prstGeom prst="rect">
            <a:avLst/>
          </a:prstGeom>
          <a:solidFill>
            <a:srgbClr val="00B4D8"/>
          </a:solidFill>
          <a:ln w="12700">
            <a:solidFill>
              <a:srgbClr val="00B4D8"/>
            </a:solidFill>
            <a:prstDash val="solid"/>
          </a:ln>
        </p:spPr>
      </p:sp>
      <p:sp>
        <p:nvSpPr>
          <p:cNvPr id="750835985" name="Text 16"/>
          <p:cNvSpPr/>
          <p:nvPr/>
        </p:nvSpPr>
        <p:spPr bwMode="auto">
          <a:xfrm>
            <a:off x="6309360" y="1783080"/>
            <a:ext cx="2468880" cy="640080"/>
          </a:xfrm>
          <a:prstGeom prst="rect">
            <a:avLst/>
          </a:prstGeom>
          <a:noFill/>
          <a:ln/>
        </p:spPr>
        <p:txBody>
          <a:bodyPr wrap="square" lIns="0" tIns="0" rIns="0" bIns="0" rtlCol="0" anchor="ctr"/>
          <a:lstStyle/>
          <a:p>
            <a:pPr marL="0" indent="0" algn="ctr">
              <a:buNone/>
              <a:defRPr/>
            </a:pPr>
            <a:r>
              <a:rPr lang="en-US" sz="1400" b="1">
                <a:solidFill>
                  <a:srgbClr val="00B4D8"/>
                </a:solidFill>
              </a:rPr>
              <a:t>No Intuitive</a:t>
            </a:r>
            <a:endParaRPr lang="en-US" sz="1400"/>
          </a:p>
          <a:p>
            <a:pPr marL="0" indent="0" algn="ctr">
              <a:buNone/>
              <a:defRPr/>
            </a:pPr>
            <a:r>
              <a:rPr lang="en-US" sz="1400" b="1">
                <a:solidFill>
                  <a:srgbClr val="00B4D8"/>
                </a:solidFill>
              </a:rPr>
              <a:t>Interface</a:t>
            </a:r>
            <a:endParaRPr lang="en-US" sz="1400"/>
          </a:p>
        </p:txBody>
      </p:sp>
      <p:sp>
        <p:nvSpPr>
          <p:cNvPr id="1573718692" name="Text 17"/>
          <p:cNvSpPr/>
          <p:nvPr/>
        </p:nvSpPr>
        <p:spPr bwMode="auto">
          <a:xfrm>
            <a:off x="6309360" y="2514600"/>
            <a:ext cx="2468880" cy="1508759"/>
          </a:xfrm>
          <a:prstGeom prst="rect">
            <a:avLst/>
          </a:prstGeom>
          <a:noFill/>
          <a:ln/>
        </p:spPr>
        <p:txBody>
          <a:bodyPr wrap="square" lIns="0" tIns="0" rIns="0" bIns="0" rtlCol="0" anchor="ctr"/>
          <a:lstStyle/>
          <a:p>
            <a:pPr marL="0" indent="0" algn="ctr">
              <a:buNone/>
              <a:defRPr/>
            </a:pPr>
            <a:r>
              <a:rPr lang="en-US" sz="1200">
                <a:solidFill>
                  <a:srgbClr val="B8C8DC"/>
                </a:solidFill>
              </a:rPr>
              <a:t>Zero natural language interaction. Missions cannot be described conversationally — every detail must be encoded numerically.</a:t>
            </a:r>
            <a:endParaRPr lang="en-US" sz="1200"/>
          </a:p>
        </p:txBody>
      </p:sp>
      <p:sp>
        <p:nvSpPr>
          <p:cNvPr id="574946462" name="Shape 18"/>
          <p:cNvSpPr/>
          <p:nvPr/>
        </p:nvSpPr>
        <p:spPr bwMode="auto">
          <a:xfrm>
            <a:off x="320040" y="4389120"/>
            <a:ext cx="8503920" cy="566928"/>
          </a:xfrm>
          <a:prstGeom prst="rect">
            <a:avLst/>
          </a:prstGeom>
          <a:solidFill>
            <a:srgbClr val="0077B6">
              <a:alpha val="70000"/>
            </a:srgbClr>
          </a:solidFill>
          <a:ln w="12700">
            <a:solidFill>
              <a:srgbClr val="00B4D8"/>
            </a:solidFill>
            <a:prstDash val="solid"/>
          </a:ln>
        </p:spPr>
      </p:sp>
      <p:sp>
        <p:nvSpPr>
          <p:cNvPr id="304327237" name="Text 19"/>
          <p:cNvSpPr/>
          <p:nvPr/>
        </p:nvSpPr>
        <p:spPr bwMode="auto">
          <a:xfrm>
            <a:off x="457200" y="4416552"/>
            <a:ext cx="8229600" cy="502920"/>
          </a:xfrm>
          <a:prstGeom prst="rect">
            <a:avLst/>
          </a:prstGeom>
          <a:noFill/>
          <a:ln/>
        </p:spPr>
        <p:txBody>
          <a:bodyPr wrap="square" lIns="0" tIns="0" rIns="0" bIns="0" rtlCol="0" anchor="ctr"/>
          <a:lstStyle/>
          <a:p>
            <a:pPr marL="0" indent="0">
              <a:buNone/>
              <a:defRPr/>
            </a:pPr>
            <a:r>
              <a:rPr lang="en-US" sz="1200" b="1">
                <a:solidFill>
                  <a:srgbClr val="FFB703"/>
                </a:solidFill>
              </a:rPr>
              <a:t>Key Insight: UAV mission planning needs an intuitive, AI-driven interface that converts natural language to executable flight plans — without cloud dependency.</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0A1628"/>
        </a:solidFill>
      </p:bgPr>
    </p:bg>
    <p:spTree>
      <p:nvGrpSpPr>
        <p:cNvPr id="1" name=""/>
        <p:cNvGrpSpPr/>
        <p:nvPr/>
      </p:nvGrpSpPr>
      <p:grpSpPr bwMode="auto">
        <a:xfrm>
          <a:off x="0" y="0"/>
          <a:ext cx="0" cy="0"/>
          <a:chOff x="0" y="0"/>
          <a:chExt cx="0" cy="0"/>
        </a:xfrm>
      </p:grpSpPr>
      <p:sp>
        <p:nvSpPr>
          <p:cNvPr id="1105067948" name="Shape 0"/>
          <p:cNvSpPr/>
          <p:nvPr/>
        </p:nvSpPr>
        <p:spPr bwMode="auto">
          <a:xfrm>
            <a:off x="0" y="0"/>
            <a:ext cx="9144000" cy="73152"/>
          </a:xfrm>
          <a:prstGeom prst="rect">
            <a:avLst/>
          </a:prstGeom>
          <a:solidFill>
            <a:srgbClr val="00B4D8"/>
          </a:solidFill>
          <a:ln w="12700">
            <a:solidFill>
              <a:srgbClr val="00B4D8"/>
            </a:solidFill>
            <a:prstDash val="solid"/>
          </a:ln>
        </p:spPr>
      </p:sp>
      <p:sp>
        <p:nvSpPr>
          <p:cNvPr id="982018163" name="Text 1"/>
          <p:cNvSpPr/>
          <p:nvPr/>
        </p:nvSpPr>
        <p:spPr bwMode="auto">
          <a:xfrm>
            <a:off x="365760" y="164592"/>
            <a:ext cx="8229600" cy="457200"/>
          </a:xfrm>
          <a:prstGeom prst="rect">
            <a:avLst/>
          </a:prstGeom>
          <a:noFill/>
          <a:ln/>
        </p:spPr>
        <p:txBody>
          <a:bodyPr wrap="square" lIns="0" tIns="0" rIns="0" bIns="0" rtlCol="0" anchor="ctr"/>
          <a:lstStyle/>
          <a:p>
            <a:pPr marL="0" indent="0">
              <a:buNone/>
              <a:defRPr/>
            </a:pPr>
            <a:r>
              <a:rPr lang="en-US" sz="2400" b="1">
                <a:solidFill>
                  <a:srgbClr val="FFFFFF"/>
                </a:solidFill>
              </a:rPr>
              <a:t>Research Gap</a:t>
            </a:r>
            <a:endParaRPr lang="en-US" sz="2400"/>
          </a:p>
        </p:txBody>
      </p:sp>
      <p:sp>
        <p:nvSpPr>
          <p:cNvPr id="856103345" name="Shape 2"/>
          <p:cNvSpPr/>
          <p:nvPr/>
        </p:nvSpPr>
        <p:spPr bwMode="auto">
          <a:xfrm>
            <a:off x="365760" y="621792"/>
            <a:ext cx="1828800" cy="36576"/>
          </a:xfrm>
          <a:prstGeom prst="rect">
            <a:avLst/>
          </a:prstGeom>
          <a:solidFill>
            <a:srgbClr val="FFB703"/>
          </a:solidFill>
          <a:ln w="12700">
            <a:solidFill>
              <a:srgbClr val="FFB703"/>
            </a:solidFill>
            <a:prstDash val="solid"/>
          </a:ln>
        </p:spPr>
      </p:sp>
      <p:graphicFrame>
        <p:nvGraphicFramePr>
          <p:cNvPr id="690306472" name="Table 0"/>
          <p:cNvGraphicFramePr>
            <a:graphicFrameLocks xmlns:a="http://schemas.openxmlformats.org/drawingml/2006/main" noGrp="1"/>
          </p:cNvGraphicFramePr>
          <p:nvPr/>
        </p:nvGraphicFramePr>
        <p:xfrm rot="0">
          <a:off x="365760" y="804672"/>
          <a:ext cx="8412480" cy="2423160"/>
        </p:xfrm>
        <a:graphic>
          <a:graphicData uri="http://schemas.openxmlformats.org/drawingml/2006/table">
            <a:tbl>
              <a:tblPr firstRow="0" firstCol="0" lastRow="0" lastCol="0" bandRow="0" bandCol="0"/>
              <a:tblGrid>
                <a:gridCol w="2377440"/>
                <a:gridCol w="1097280"/>
                <a:gridCol w="1097280"/>
                <a:gridCol w="1097280"/>
                <a:gridCol w="1371600"/>
                <a:gridCol w="1280160"/>
              </a:tblGrid>
              <a:tr h="450000">
                <a:tc>
                  <a:txBody>
                    <a:bodyPr/>
                    <a:p>
                      <a:pPr marL="0" indent="0" algn="ctr">
                        <a:buNone/>
                        <a:defRPr/>
                      </a:pPr>
                      <a:r>
                        <a:rPr lang="en-US" sz="1000" b="1">
                          <a:solidFill>
                            <a:srgbClr val="FFFFFF"/>
                          </a:solidFill>
                        </a:rPr>
                        <a:t>Approach</a:t>
                      </a:r>
                      <a:endParaRPr lang="en-US" sz="10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077B6"/>
                    </a:solidFill>
                  </a:tcPr>
                </a:tc>
                <a:tc>
                  <a:txBody>
                    <a:bodyPr/>
                    <a:p>
                      <a:pPr marL="0" indent="0" algn="ctr">
                        <a:buNone/>
                        <a:defRPr/>
                      </a:pPr>
                      <a:r>
                        <a:rPr lang="en-US" sz="1000" b="1">
                          <a:solidFill>
                            <a:srgbClr val="FFFFFF"/>
                          </a:solidFill>
                        </a:rPr>
                        <a:t>NL Interface</a:t>
                      </a:r>
                      <a:endParaRPr lang="en-US" sz="10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077B6"/>
                    </a:solidFill>
                  </a:tcPr>
                </a:tc>
                <a:tc>
                  <a:txBody>
                    <a:bodyPr/>
                    <a:p>
                      <a:pPr marL="0" indent="0" algn="ctr">
                        <a:buNone/>
                        <a:defRPr/>
                      </a:pPr>
                      <a:r>
                        <a:rPr lang="en-US" sz="1000" b="1">
                          <a:solidFill>
                            <a:srgbClr val="FFFFFF"/>
                          </a:solidFill>
                        </a:rPr>
                        <a:t>Local LLM</a:t>
                      </a:r>
                      <a:endParaRPr lang="en-US" sz="10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077B6"/>
                    </a:solidFill>
                  </a:tcPr>
                </a:tc>
                <a:tc>
                  <a:txBody>
                    <a:bodyPr/>
                    <a:p>
                      <a:pPr marL="0" indent="0" algn="ctr">
                        <a:buNone/>
                        <a:defRPr/>
                      </a:pPr>
                      <a:r>
                        <a:rPr lang="en-US" sz="1000" b="1">
                          <a:solidFill>
                            <a:srgbClr val="FFFFFF"/>
                          </a:solidFill>
                        </a:rPr>
                        <a:t>Offline Op.</a:t>
                      </a:r>
                      <a:endParaRPr lang="en-US" sz="10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077B6"/>
                    </a:solidFill>
                  </a:tcPr>
                </a:tc>
                <a:tc>
                  <a:txBody>
                    <a:bodyPr/>
                    <a:p>
                      <a:pPr marL="0" indent="0" algn="ctr">
                        <a:buNone/>
                        <a:defRPr/>
                      </a:pPr>
                      <a:r>
                        <a:rPr lang="en-US" sz="1000" b="1">
                          <a:solidFill>
                            <a:srgbClr val="FFFFFF"/>
                          </a:solidFill>
                        </a:rPr>
                        <a:t>MAVLink Upload</a:t>
                      </a:r>
                      <a:endParaRPr lang="en-US" sz="10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077B6"/>
                    </a:solidFill>
                  </a:tcPr>
                </a:tc>
                <a:tc>
                  <a:txBody>
                    <a:bodyPr/>
                    <a:p>
                      <a:pPr marL="0" indent="0" algn="ctr">
                        <a:buNone/>
                        <a:defRPr/>
                      </a:pPr>
                      <a:r>
                        <a:rPr lang="en-US" sz="1000" b="1">
                          <a:solidFill>
                            <a:srgbClr val="FFFFFF"/>
                          </a:solidFill>
                        </a:rPr>
                        <a:t>Real Flights</a:t>
                      </a:r>
                      <a:endParaRPr lang="en-US" sz="10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077B6"/>
                    </a:solidFill>
                  </a:tcPr>
                </a:tc>
              </a:tr>
              <a:tr h="484632">
                <a:tc>
                  <a:txBody>
                    <a:bodyPr/>
                    <a:p>
                      <a:pPr marL="0" indent="0" algn="ctr">
                        <a:buNone/>
                        <a:defRPr/>
                      </a:pPr>
                      <a:r>
                        <a:rPr lang="en-US" sz="1200">
                          <a:solidFill>
                            <a:srgbClr val="B8C8DC"/>
                          </a:solidFill>
                        </a:rPr>
                        <a:t>Chandarana et al.</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100">
                          <a:solidFill>
                            <a:srgbClr val="06D6A0"/>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100">
                          <a:solidFill>
                            <a:srgbClr val="EF476F"/>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100">
                          <a:solidFill>
                            <a:srgbClr val="EF476F"/>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100">
                          <a:solidFill>
                            <a:srgbClr val="EF476F"/>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100">
                          <a:solidFill>
                            <a:srgbClr val="EF476F"/>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r>
              <a:tr h="484632">
                <a:tc>
                  <a:txBody>
                    <a:bodyPr/>
                    <a:p>
                      <a:pPr marL="0" indent="0" algn="ctr">
                        <a:buNone/>
                        <a:defRPr/>
                      </a:pPr>
                      <a:r>
                        <a:rPr lang="en-US" sz="1100">
                          <a:solidFill>
                            <a:srgbClr val="B8C8DC"/>
                          </a:solidFill>
                        </a:rPr>
                        <a:t>LLM-UAV Frameworks</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1B35"/>
                    </a:solidFill>
                  </a:tcPr>
                </a:tc>
                <a:tc>
                  <a:txBody>
                    <a:bodyPr/>
                    <a:p>
                      <a:pPr marL="0" indent="0" algn="ctr">
                        <a:buNone/>
                        <a:defRPr/>
                      </a:pPr>
                      <a:r>
                        <a:rPr lang="en-US" sz="1100">
                          <a:solidFill>
                            <a:srgbClr val="06D6A0"/>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1B35"/>
                    </a:solidFill>
                  </a:tcPr>
                </a:tc>
                <a:tc>
                  <a:txBody>
                    <a:bodyPr/>
                    <a:p>
                      <a:pPr marL="0" indent="0" algn="ctr">
                        <a:buNone/>
                        <a:defRPr/>
                      </a:pPr>
                      <a:r>
                        <a:rPr lang="en-US" sz="1100">
                          <a:solidFill>
                            <a:srgbClr val="EF476F"/>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1B35"/>
                    </a:solidFill>
                  </a:tcPr>
                </a:tc>
                <a:tc>
                  <a:txBody>
                    <a:bodyPr/>
                    <a:p>
                      <a:pPr marL="0" indent="0" algn="ctr">
                        <a:buNone/>
                        <a:defRPr/>
                      </a:pPr>
                      <a:r>
                        <a:rPr lang="en-US" sz="1100">
                          <a:solidFill>
                            <a:srgbClr val="EF476F"/>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1B35"/>
                    </a:solidFill>
                  </a:tcPr>
                </a:tc>
                <a:tc>
                  <a:txBody>
                    <a:bodyPr/>
                    <a:p>
                      <a:pPr marL="0" indent="0" algn="ctr">
                        <a:buNone/>
                        <a:defRPr/>
                      </a:pPr>
                      <a:r>
                        <a:rPr lang="en-US" sz="1100">
                          <a:solidFill>
                            <a:srgbClr val="B8C8DC"/>
                          </a:solidFill>
                        </a:rPr>
                        <a:t>Partial</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1B35"/>
                    </a:solidFill>
                  </a:tcPr>
                </a:tc>
                <a:tc>
                  <a:txBody>
                    <a:bodyPr/>
                    <a:p>
                      <a:pPr marL="0" indent="0" algn="ctr">
                        <a:buNone/>
                        <a:defRPr/>
                      </a:pPr>
                      <a:r>
                        <a:rPr lang="en-US" sz="1100">
                          <a:solidFill>
                            <a:srgbClr val="EF476F"/>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1B35"/>
                    </a:solidFill>
                  </a:tcPr>
                </a:tc>
              </a:tr>
              <a:tr h="484632">
                <a:tc>
                  <a:txBody>
                    <a:bodyPr/>
                    <a:p>
                      <a:pPr marL="0" indent="0" algn="ctr">
                        <a:buNone/>
                        <a:defRPr/>
                      </a:pPr>
                      <a:r>
                        <a:rPr lang="en-US" sz="1100">
                          <a:solidFill>
                            <a:srgbClr val="B8C8DC"/>
                          </a:solidFill>
                        </a:rPr>
                        <a:t>Conventional Mission Planners</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100">
                          <a:solidFill>
                            <a:srgbClr val="EF476F"/>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100">
                          <a:solidFill>
                            <a:srgbClr val="B8C8DC"/>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100">
                          <a:solidFill>
                            <a:srgbClr val="06D6A0"/>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100">
                          <a:solidFill>
                            <a:srgbClr val="06D6A0"/>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100">
                          <a:solidFill>
                            <a:srgbClr val="06D6A0"/>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r>
              <a:tr h="484632">
                <a:tc>
                  <a:txBody>
                    <a:bodyPr/>
                    <a:p>
                      <a:pPr marL="0" indent="0" algn="ctr">
                        <a:buNone/>
                        <a:defRPr/>
                      </a:pPr>
                      <a:r>
                        <a:rPr lang="en-US" sz="1100" b="1">
                          <a:solidFill>
                            <a:srgbClr val="B8C8DC"/>
                          </a:solidFill>
                        </a:rPr>
                        <a:t>PRANAVA (Ours)</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F2547"/>
                    </a:solidFill>
                  </a:tcPr>
                </a:tc>
                <a:tc>
                  <a:txBody>
                    <a:bodyPr/>
                    <a:p>
                      <a:pPr marL="0" indent="0" algn="ctr">
                        <a:buNone/>
                        <a:defRPr/>
                      </a:pPr>
                      <a:r>
                        <a:rPr lang="en-US" sz="1100" b="1">
                          <a:solidFill>
                            <a:srgbClr val="06D6A0"/>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F2547"/>
                    </a:solidFill>
                  </a:tcPr>
                </a:tc>
                <a:tc>
                  <a:txBody>
                    <a:bodyPr/>
                    <a:p>
                      <a:pPr marL="0" indent="0" algn="ctr">
                        <a:buNone/>
                        <a:defRPr/>
                      </a:pPr>
                      <a:r>
                        <a:rPr lang="en-US" sz="1100" b="1">
                          <a:solidFill>
                            <a:srgbClr val="06D6A0"/>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F2547"/>
                    </a:solidFill>
                  </a:tcPr>
                </a:tc>
                <a:tc>
                  <a:txBody>
                    <a:bodyPr/>
                    <a:p>
                      <a:pPr marL="0" indent="0" algn="ctr">
                        <a:buNone/>
                        <a:defRPr/>
                      </a:pPr>
                      <a:r>
                        <a:rPr lang="en-US" sz="1100" b="1">
                          <a:solidFill>
                            <a:srgbClr val="06D6A0"/>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F2547"/>
                    </a:solidFill>
                  </a:tcPr>
                </a:tc>
                <a:tc>
                  <a:txBody>
                    <a:bodyPr/>
                    <a:p>
                      <a:pPr marL="0" indent="0" algn="ctr">
                        <a:buNone/>
                        <a:defRPr/>
                      </a:pPr>
                      <a:r>
                        <a:rPr lang="en-US" sz="1100" b="1">
                          <a:solidFill>
                            <a:srgbClr val="06D6A0"/>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F2547"/>
                    </a:solidFill>
                  </a:tcPr>
                </a:tc>
                <a:tc>
                  <a:txBody>
                    <a:bodyPr/>
                    <a:p>
                      <a:pPr marL="0" indent="0" algn="ctr">
                        <a:buNone/>
                        <a:defRPr/>
                      </a:pPr>
                      <a:r>
                        <a:rPr lang="en-US" sz="1100" b="1">
                          <a:solidFill>
                            <a:srgbClr val="06D6A0"/>
                          </a:solidFill>
                        </a:rPr>
                        <a:t>✓</a:t>
                      </a:r>
                      <a:endParaRPr lang="en-US" sz="11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F2547"/>
                    </a:solidFill>
                  </a:tcPr>
                </a:tc>
              </a:tr>
            </a:tbl>
          </a:graphicData>
        </a:graphic>
      </p:graphicFrame>
      <p:sp>
        <p:nvSpPr>
          <p:cNvPr id="1909239404" name="Text 3"/>
          <p:cNvSpPr/>
          <p:nvPr/>
        </p:nvSpPr>
        <p:spPr bwMode="auto">
          <a:xfrm>
            <a:off x="365760" y="3401568"/>
            <a:ext cx="8412480" cy="292608"/>
          </a:xfrm>
          <a:prstGeom prst="rect">
            <a:avLst/>
          </a:prstGeom>
          <a:noFill/>
          <a:ln/>
        </p:spPr>
        <p:txBody>
          <a:bodyPr wrap="square" lIns="0" tIns="0" rIns="0" bIns="0" rtlCol="0" anchor="ctr"/>
          <a:lstStyle/>
          <a:p>
            <a:pPr marL="0" indent="0">
              <a:buNone/>
              <a:defRPr/>
            </a:pPr>
            <a:r>
              <a:rPr lang="en-US" sz="1300" b="1">
                <a:solidFill>
                  <a:srgbClr val="00B4D8"/>
                </a:solidFill>
              </a:rPr>
              <a:t>Key Limitations of Prior Work:</a:t>
            </a:r>
            <a:endParaRPr lang="en-US" sz="1300"/>
          </a:p>
        </p:txBody>
      </p:sp>
      <p:sp>
        <p:nvSpPr>
          <p:cNvPr id="1459760076" name="Shape 4"/>
          <p:cNvSpPr/>
          <p:nvPr/>
        </p:nvSpPr>
        <p:spPr bwMode="auto">
          <a:xfrm>
            <a:off x="320040" y="3749040"/>
            <a:ext cx="2743200" cy="1170432"/>
          </a:xfrm>
          <a:prstGeom prst="rect">
            <a:avLst/>
          </a:prstGeom>
          <a:solidFill>
            <a:srgbClr val="112240"/>
          </a:solidFill>
          <a:ln w="12700">
            <a:solidFill>
              <a:srgbClr val="EF476F"/>
            </a:solidFill>
            <a:prstDash val="solid"/>
          </a:ln>
        </p:spPr>
      </p:sp>
      <p:sp>
        <p:nvSpPr>
          <p:cNvPr id="781620051" name="Text 5"/>
          <p:cNvSpPr/>
          <p:nvPr/>
        </p:nvSpPr>
        <p:spPr bwMode="auto">
          <a:xfrm>
            <a:off x="411480" y="3794760"/>
            <a:ext cx="2560320" cy="274320"/>
          </a:xfrm>
          <a:prstGeom prst="rect">
            <a:avLst/>
          </a:prstGeom>
          <a:noFill/>
          <a:ln/>
        </p:spPr>
        <p:txBody>
          <a:bodyPr wrap="square" lIns="0" tIns="0" rIns="0" bIns="0" rtlCol="0" anchor="ctr"/>
          <a:lstStyle/>
          <a:p>
            <a:pPr marL="0" indent="0">
              <a:buNone/>
              <a:defRPr/>
            </a:pPr>
            <a:r>
              <a:rPr lang="en-US" sz="1100" b="1">
                <a:solidFill>
                  <a:srgbClr val="FFB703"/>
                </a:solidFill>
              </a:rPr>
              <a:t>Cloud Dependency</a:t>
            </a:r>
            <a:endParaRPr lang="en-US" sz="1100"/>
          </a:p>
        </p:txBody>
      </p:sp>
      <p:sp>
        <p:nvSpPr>
          <p:cNvPr id="1458090996" name="Text 6"/>
          <p:cNvSpPr/>
          <p:nvPr/>
        </p:nvSpPr>
        <p:spPr bwMode="auto">
          <a:xfrm>
            <a:off x="411480" y="4087368"/>
            <a:ext cx="2560320" cy="758952"/>
          </a:xfrm>
          <a:prstGeom prst="rect">
            <a:avLst/>
          </a:prstGeom>
          <a:noFill/>
          <a:ln/>
        </p:spPr>
        <p:txBody>
          <a:bodyPr wrap="square" lIns="0" tIns="0" rIns="0" bIns="0" rtlCol="0" anchor="ctr"/>
          <a:lstStyle/>
          <a:p>
            <a:pPr marL="0" indent="0">
              <a:buNone/>
              <a:defRPr/>
            </a:pPr>
            <a:r>
              <a:rPr lang="en-US" sz="1100">
                <a:solidFill>
                  <a:srgbClr val="B8C8DC"/>
                </a:solidFill>
              </a:rPr>
              <a:t>Existing LLM-UAV systems rely on OpenAI/GPT APIs — require internet, incur costs, raise data privacy concerns.</a:t>
            </a:r>
            <a:endParaRPr lang="en-US" sz="1100"/>
          </a:p>
        </p:txBody>
      </p:sp>
      <p:sp>
        <p:nvSpPr>
          <p:cNvPr id="1866170691" name="Shape 7"/>
          <p:cNvSpPr/>
          <p:nvPr/>
        </p:nvSpPr>
        <p:spPr bwMode="auto">
          <a:xfrm>
            <a:off x="3246120" y="3749040"/>
            <a:ext cx="2743200" cy="1170432"/>
          </a:xfrm>
          <a:prstGeom prst="rect">
            <a:avLst/>
          </a:prstGeom>
          <a:solidFill>
            <a:srgbClr val="112240"/>
          </a:solidFill>
          <a:ln w="12700">
            <a:solidFill>
              <a:srgbClr val="EF476F"/>
            </a:solidFill>
            <a:prstDash val="solid"/>
          </a:ln>
        </p:spPr>
      </p:sp>
      <p:sp>
        <p:nvSpPr>
          <p:cNvPr id="532640348" name="Text 8"/>
          <p:cNvSpPr/>
          <p:nvPr/>
        </p:nvSpPr>
        <p:spPr bwMode="auto">
          <a:xfrm>
            <a:off x="3337560" y="3794760"/>
            <a:ext cx="2560320" cy="274320"/>
          </a:xfrm>
          <a:prstGeom prst="rect">
            <a:avLst/>
          </a:prstGeom>
          <a:noFill/>
          <a:ln/>
        </p:spPr>
        <p:txBody>
          <a:bodyPr wrap="square" lIns="0" tIns="0" rIns="0" bIns="0" rtlCol="0" anchor="ctr"/>
          <a:lstStyle/>
          <a:p>
            <a:pPr marL="0" indent="0">
              <a:buNone/>
              <a:defRPr/>
            </a:pPr>
            <a:r>
              <a:rPr lang="en-US" sz="1100" b="1">
                <a:solidFill>
                  <a:srgbClr val="FFB703"/>
                </a:solidFill>
              </a:rPr>
              <a:t> No Direct Upload</a:t>
            </a:r>
            <a:endParaRPr lang="en-US" sz="1100"/>
          </a:p>
        </p:txBody>
      </p:sp>
      <p:sp>
        <p:nvSpPr>
          <p:cNvPr id="1478859296" name="Text 9"/>
          <p:cNvSpPr/>
          <p:nvPr/>
        </p:nvSpPr>
        <p:spPr bwMode="auto">
          <a:xfrm>
            <a:off x="3337560" y="4087368"/>
            <a:ext cx="2560320" cy="758952"/>
          </a:xfrm>
          <a:prstGeom prst="rect">
            <a:avLst/>
          </a:prstGeom>
          <a:noFill/>
          <a:ln/>
        </p:spPr>
        <p:txBody>
          <a:bodyPr wrap="square" lIns="0" tIns="0" rIns="0" bIns="0" rtlCol="0" anchor="ctr"/>
          <a:lstStyle/>
          <a:p>
            <a:pPr marL="0" indent="0">
              <a:buNone/>
              <a:defRPr/>
            </a:pPr>
            <a:r>
              <a:rPr lang="en-US" sz="1100">
                <a:solidFill>
                  <a:srgbClr val="B8C8DC"/>
                </a:solidFill>
              </a:rPr>
              <a:t>Prior systems output text-based plans but lack direct MAVLink integration for real flight hardware upload.</a:t>
            </a:r>
            <a:endParaRPr lang="en-US" sz="1100"/>
          </a:p>
        </p:txBody>
      </p:sp>
      <p:sp>
        <p:nvSpPr>
          <p:cNvPr id="1051990269" name="Shape 10"/>
          <p:cNvSpPr/>
          <p:nvPr/>
        </p:nvSpPr>
        <p:spPr bwMode="auto">
          <a:xfrm>
            <a:off x="6172200" y="3749040"/>
            <a:ext cx="2743200" cy="1170432"/>
          </a:xfrm>
          <a:prstGeom prst="rect">
            <a:avLst/>
          </a:prstGeom>
          <a:solidFill>
            <a:srgbClr val="112240"/>
          </a:solidFill>
          <a:ln w="12700">
            <a:solidFill>
              <a:srgbClr val="EF476F"/>
            </a:solidFill>
            <a:prstDash val="solid"/>
          </a:ln>
        </p:spPr>
      </p:sp>
      <p:sp>
        <p:nvSpPr>
          <p:cNvPr id="1807256440" name="Text 11"/>
          <p:cNvSpPr/>
          <p:nvPr/>
        </p:nvSpPr>
        <p:spPr bwMode="auto">
          <a:xfrm>
            <a:off x="6263640" y="3794760"/>
            <a:ext cx="2560320" cy="274320"/>
          </a:xfrm>
          <a:prstGeom prst="rect">
            <a:avLst/>
          </a:prstGeom>
          <a:noFill/>
          <a:ln/>
        </p:spPr>
        <p:txBody>
          <a:bodyPr wrap="square" lIns="0" tIns="0" rIns="0" bIns="0" rtlCol="0" anchor="ctr"/>
          <a:lstStyle/>
          <a:p>
            <a:pPr marL="0" indent="0">
              <a:buNone/>
              <a:defRPr/>
            </a:pPr>
            <a:r>
              <a:rPr lang="en-US" sz="1100" b="1">
                <a:solidFill>
                  <a:srgbClr val="FFB703"/>
                </a:solidFill>
              </a:rPr>
              <a:t> Limited Validation</a:t>
            </a:r>
            <a:endParaRPr lang="en-US" sz="1100"/>
          </a:p>
        </p:txBody>
      </p:sp>
      <p:sp>
        <p:nvSpPr>
          <p:cNvPr id="1293919719" name="Text 12"/>
          <p:cNvSpPr/>
          <p:nvPr/>
        </p:nvSpPr>
        <p:spPr bwMode="auto">
          <a:xfrm>
            <a:off x="6263640" y="4087368"/>
            <a:ext cx="2560320" cy="758952"/>
          </a:xfrm>
          <a:prstGeom prst="rect">
            <a:avLst/>
          </a:prstGeom>
          <a:noFill/>
          <a:ln/>
        </p:spPr>
        <p:txBody>
          <a:bodyPr wrap="square" lIns="0" tIns="0" rIns="0" bIns="0" rtlCol="0" anchor="ctr"/>
          <a:lstStyle/>
          <a:p>
            <a:pPr marL="0" indent="0">
              <a:buNone/>
              <a:defRPr/>
            </a:pPr>
            <a:r>
              <a:rPr lang="en-US" sz="1100">
                <a:solidFill>
                  <a:srgbClr val="B8C8DC"/>
                </a:solidFill>
              </a:rPr>
              <a:t>Most frameworks validate only in simulation; real hardware testing on Pixhawk remains unexplored.</a:t>
            </a:r>
            <a:endParaRPr lang="en-US"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0A1628"/>
        </a:solidFill>
      </p:bgPr>
    </p:bg>
    <p:spTree>
      <p:nvGrpSpPr>
        <p:cNvPr id="1" name=""/>
        <p:cNvGrpSpPr/>
        <p:nvPr/>
      </p:nvGrpSpPr>
      <p:grpSpPr bwMode="auto">
        <a:xfrm>
          <a:off x="0" y="0"/>
          <a:ext cx="0" cy="0"/>
          <a:chOff x="0" y="0"/>
          <a:chExt cx="0" cy="0"/>
        </a:xfrm>
      </p:grpSpPr>
      <p:sp>
        <p:nvSpPr>
          <p:cNvPr id="615611092" name="Shape 0"/>
          <p:cNvSpPr/>
          <p:nvPr/>
        </p:nvSpPr>
        <p:spPr bwMode="auto">
          <a:xfrm>
            <a:off x="0" y="0"/>
            <a:ext cx="9144000" cy="73152"/>
          </a:xfrm>
          <a:prstGeom prst="rect">
            <a:avLst/>
          </a:prstGeom>
          <a:solidFill>
            <a:srgbClr val="00B4D8"/>
          </a:solidFill>
          <a:ln w="12700">
            <a:solidFill>
              <a:srgbClr val="00B4D8"/>
            </a:solidFill>
            <a:prstDash val="solid"/>
          </a:ln>
        </p:spPr>
      </p:sp>
      <p:sp>
        <p:nvSpPr>
          <p:cNvPr id="1355350488" name="Text 1"/>
          <p:cNvSpPr/>
          <p:nvPr/>
        </p:nvSpPr>
        <p:spPr bwMode="auto">
          <a:xfrm>
            <a:off x="365760" y="164592"/>
            <a:ext cx="8229600" cy="457200"/>
          </a:xfrm>
          <a:prstGeom prst="rect">
            <a:avLst/>
          </a:prstGeom>
          <a:noFill/>
          <a:ln/>
        </p:spPr>
        <p:txBody>
          <a:bodyPr wrap="square" lIns="0" tIns="0" rIns="0" bIns="0" rtlCol="0" anchor="ctr"/>
          <a:lstStyle/>
          <a:p>
            <a:pPr marL="0" indent="0">
              <a:buNone/>
              <a:defRPr/>
            </a:pPr>
            <a:r>
              <a:rPr lang="en-US" sz="2400" b="1">
                <a:solidFill>
                  <a:srgbClr val="FFFFFF"/>
                </a:solidFill>
              </a:rPr>
              <a:t>Project Objectives</a:t>
            </a:r>
            <a:endParaRPr lang="en-US" sz="2400"/>
          </a:p>
        </p:txBody>
      </p:sp>
      <p:sp>
        <p:nvSpPr>
          <p:cNvPr id="1470008828" name="Shape 2"/>
          <p:cNvSpPr/>
          <p:nvPr/>
        </p:nvSpPr>
        <p:spPr bwMode="auto">
          <a:xfrm>
            <a:off x="365760" y="621792"/>
            <a:ext cx="2286000" cy="36576"/>
          </a:xfrm>
          <a:prstGeom prst="rect">
            <a:avLst/>
          </a:prstGeom>
          <a:solidFill>
            <a:srgbClr val="FFB703"/>
          </a:solidFill>
          <a:ln w="12700">
            <a:solidFill>
              <a:srgbClr val="FFB703"/>
            </a:solidFill>
            <a:prstDash val="solid"/>
          </a:ln>
        </p:spPr>
      </p:sp>
      <p:sp>
        <p:nvSpPr>
          <p:cNvPr id="1667125903" name="Shape 3"/>
          <p:cNvSpPr/>
          <p:nvPr/>
        </p:nvSpPr>
        <p:spPr bwMode="auto">
          <a:xfrm>
            <a:off x="274320" y="868680"/>
            <a:ext cx="4114800" cy="1828800"/>
          </a:xfrm>
          <a:prstGeom prst="rect">
            <a:avLst/>
          </a:prstGeom>
          <a:solidFill>
            <a:srgbClr val="112240"/>
          </a:solidFill>
          <a:ln w="19050">
            <a:solidFill>
              <a:srgbClr val="00B4D8"/>
            </a:solidFill>
            <a:prstDash val="solid"/>
          </a:ln>
        </p:spPr>
      </p:sp>
      <p:sp>
        <p:nvSpPr>
          <p:cNvPr id="1502950589" name="Shape 4"/>
          <p:cNvSpPr/>
          <p:nvPr/>
        </p:nvSpPr>
        <p:spPr bwMode="auto">
          <a:xfrm>
            <a:off x="274320" y="868680"/>
            <a:ext cx="822960" cy="1828800"/>
          </a:xfrm>
          <a:prstGeom prst="rect">
            <a:avLst/>
          </a:prstGeom>
          <a:solidFill>
            <a:srgbClr val="00B4D8">
              <a:alpha val="80000"/>
            </a:srgbClr>
          </a:solidFill>
          <a:ln w="12700">
            <a:solidFill>
              <a:srgbClr val="00B4D8"/>
            </a:solidFill>
            <a:prstDash val="solid"/>
          </a:ln>
        </p:spPr>
      </p:sp>
      <p:sp>
        <p:nvSpPr>
          <p:cNvPr id="1743746282" name="Text 5"/>
          <p:cNvSpPr/>
          <p:nvPr/>
        </p:nvSpPr>
        <p:spPr bwMode="auto">
          <a:xfrm>
            <a:off x="320040" y="1463040"/>
            <a:ext cx="731520" cy="594360"/>
          </a:xfrm>
          <a:prstGeom prst="rect">
            <a:avLst/>
          </a:prstGeom>
          <a:noFill/>
          <a:ln/>
        </p:spPr>
        <p:txBody>
          <a:bodyPr wrap="square" lIns="0" tIns="0" rIns="0" bIns="0" rtlCol="0" anchor="ctr"/>
          <a:lstStyle/>
          <a:p>
            <a:pPr marL="0" indent="0" algn="ctr">
              <a:buNone/>
              <a:defRPr/>
            </a:pPr>
            <a:r>
              <a:rPr lang="en-US" sz="2800" b="1">
                <a:solidFill>
                  <a:srgbClr val="FFFFFF"/>
                </a:solidFill>
              </a:rPr>
              <a:t>01</a:t>
            </a:r>
            <a:endParaRPr lang="en-US" sz="2800"/>
          </a:p>
        </p:txBody>
      </p:sp>
      <p:sp>
        <p:nvSpPr>
          <p:cNvPr id="458862969" name="Text 6"/>
          <p:cNvSpPr/>
          <p:nvPr/>
        </p:nvSpPr>
        <p:spPr bwMode="auto">
          <a:xfrm>
            <a:off x="1234440" y="960120"/>
            <a:ext cx="3017519" cy="640080"/>
          </a:xfrm>
          <a:prstGeom prst="rect">
            <a:avLst/>
          </a:prstGeom>
          <a:noFill/>
          <a:ln/>
        </p:spPr>
        <p:txBody>
          <a:bodyPr wrap="square" lIns="0" tIns="0" rIns="0" bIns="0" rtlCol="0" anchor="ctr"/>
          <a:lstStyle/>
          <a:p>
            <a:pPr marL="0" indent="0" algn="l">
              <a:buNone/>
              <a:defRPr/>
            </a:pPr>
            <a:r>
              <a:rPr lang="en-US" sz="1300" b="1">
                <a:solidFill>
                  <a:srgbClr val="00B4D8"/>
                </a:solidFill>
              </a:rPr>
              <a:t>Prompt-to-Mission</a:t>
            </a:r>
            <a:endParaRPr lang="en-US" sz="1300"/>
          </a:p>
          <a:p>
            <a:pPr marL="0" indent="0" algn="l">
              <a:buNone/>
              <a:defRPr/>
            </a:pPr>
            <a:r>
              <a:rPr lang="en-US" sz="1300" b="1">
                <a:solidFill>
                  <a:srgbClr val="00B4D8"/>
                </a:solidFill>
              </a:rPr>
              <a:t>Generation</a:t>
            </a:r>
            <a:endParaRPr lang="en-US" sz="1300"/>
          </a:p>
        </p:txBody>
      </p:sp>
      <p:sp>
        <p:nvSpPr>
          <p:cNvPr id="612298801" name="Text 7"/>
          <p:cNvSpPr/>
          <p:nvPr/>
        </p:nvSpPr>
        <p:spPr bwMode="auto">
          <a:xfrm>
            <a:off x="1234440" y="1618488"/>
            <a:ext cx="3017519" cy="960120"/>
          </a:xfrm>
          <a:prstGeom prst="rect">
            <a:avLst/>
          </a:prstGeom>
          <a:noFill/>
          <a:ln/>
        </p:spPr>
        <p:txBody>
          <a:bodyPr wrap="square" lIns="0" tIns="0" rIns="0" bIns="0" rtlCol="0" anchor="ctr"/>
          <a:lstStyle/>
          <a:p>
            <a:pPr marL="0" indent="0" algn="l">
              <a:buNone/>
              <a:defRPr/>
            </a:pPr>
            <a:r>
              <a:rPr lang="en-US" sz="1050">
                <a:solidFill>
                  <a:srgbClr val="B8C8DC"/>
                </a:solidFill>
              </a:rPr>
              <a:t>Enable users to describe UAV missions in natural language and automatically generate structured, executable flight plans.</a:t>
            </a:r>
            <a:endParaRPr lang="en-US" sz="1050"/>
          </a:p>
        </p:txBody>
      </p:sp>
      <p:sp>
        <p:nvSpPr>
          <p:cNvPr id="1847107468" name="Shape 8"/>
          <p:cNvSpPr/>
          <p:nvPr/>
        </p:nvSpPr>
        <p:spPr bwMode="auto">
          <a:xfrm>
            <a:off x="4709160" y="868680"/>
            <a:ext cx="4114800" cy="1828800"/>
          </a:xfrm>
          <a:prstGeom prst="rect">
            <a:avLst/>
          </a:prstGeom>
          <a:solidFill>
            <a:srgbClr val="112240"/>
          </a:solidFill>
          <a:ln w="19050">
            <a:solidFill>
              <a:srgbClr val="FFB703"/>
            </a:solidFill>
            <a:prstDash val="solid"/>
          </a:ln>
        </p:spPr>
      </p:sp>
      <p:sp>
        <p:nvSpPr>
          <p:cNvPr id="1409970042" name="Shape 9"/>
          <p:cNvSpPr/>
          <p:nvPr/>
        </p:nvSpPr>
        <p:spPr bwMode="auto">
          <a:xfrm>
            <a:off x="4709160" y="868680"/>
            <a:ext cx="822960" cy="1828800"/>
          </a:xfrm>
          <a:prstGeom prst="rect">
            <a:avLst/>
          </a:prstGeom>
          <a:solidFill>
            <a:srgbClr val="FFB703">
              <a:alpha val="80000"/>
            </a:srgbClr>
          </a:solidFill>
          <a:ln w="12700">
            <a:solidFill>
              <a:srgbClr val="FFB703"/>
            </a:solidFill>
            <a:prstDash val="solid"/>
          </a:ln>
        </p:spPr>
      </p:sp>
      <p:sp>
        <p:nvSpPr>
          <p:cNvPr id="1190176123" name="Text 10"/>
          <p:cNvSpPr/>
          <p:nvPr/>
        </p:nvSpPr>
        <p:spPr bwMode="auto">
          <a:xfrm>
            <a:off x="4754880" y="1463040"/>
            <a:ext cx="731520" cy="594360"/>
          </a:xfrm>
          <a:prstGeom prst="rect">
            <a:avLst/>
          </a:prstGeom>
          <a:noFill/>
          <a:ln/>
        </p:spPr>
        <p:txBody>
          <a:bodyPr wrap="square" lIns="0" tIns="0" rIns="0" bIns="0" rtlCol="0" anchor="ctr"/>
          <a:lstStyle/>
          <a:p>
            <a:pPr marL="0" indent="0" algn="ctr">
              <a:buNone/>
              <a:defRPr/>
            </a:pPr>
            <a:r>
              <a:rPr lang="en-US" sz="2800" b="1">
                <a:solidFill>
                  <a:srgbClr val="FFFFFF"/>
                </a:solidFill>
              </a:rPr>
              <a:t>02</a:t>
            </a:r>
            <a:endParaRPr lang="en-US" sz="2800"/>
          </a:p>
        </p:txBody>
      </p:sp>
      <p:sp>
        <p:nvSpPr>
          <p:cNvPr id="397602766" name="Text 11"/>
          <p:cNvSpPr/>
          <p:nvPr/>
        </p:nvSpPr>
        <p:spPr bwMode="auto">
          <a:xfrm>
            <a:off x="5669280" y="960120"/>
            <a:ext cx="3017519" cy="640080"/>
          </a:xfrm>
          <a:prstGeom prst="rect">
            <a:avLst/>
          </a:prstGeom>
          <a:noFill/>
          <a:ln/>
        </p:spPr>
        <p:txBody>
          <a:bodyPr wrap="square" lIns="0" tIns="0" rIns="0" bIns="0" rtlCol="0" anchor="ctr"/>
          <a:lstStyle/>
          <a:p>
            <a:pPr marL="0" indent="0" algn="l">
              <a:buNone/>
              <a:defRPr/>
            </a:pPr>
            <a:r>
              <a:rPr lang="en-US" sz="1300" b="1">
                <a:solidFill>
                  <a:srgbClr val="FFB703"/>
                </a:solidFill>
              </a:rPr>
              <a:t>Local LLM</a:t>
            </a:r>
            <a:endParaRPr lang="en-US" sz="1300"/>
          </a:p>
          <a:p>
            <a:pPr marL="0" indent="0" algn="l">
              <a:buNone/>
              <a:defRPr/>
            </a:pPr>
            <a:r>
              <a:rPr lang="en-US" sz="1300" b="1">
                <a:solidFill>
                  <a:srgbClr val="FFB703"/>
                </a:solidFill>
              </a:rPr>
              <a:t>Deployment</a:t>
            </a:r>
            <a:endParaRPr lang="en-US" sz="1300"/>
          </a:p>
        </p:txBody>
      </p:sp>
      <p:sp>
        <p:nvSpPr>
          <p:cNvPr id="1187670258" name="Text 12"/>
          <p:cNvSpPr/>
          <p:nvPr/>
        </p:nvSpPr>
        <p:spPr bwMode="auto">
          <a:xfrm>
            <a:off x="5669280" y="1618488"/>
            <a:ext cx="3017519" cy="960120"/>
          </a:xfrm>
          <a:prstGeom prst="rect">
            <a:avLst/>
          </a:prstGeom>
          <a:noFill/>
          <a:ln/>
        </p:spPr>
        <p:txBody>
          <a:bodyPr wrap="square" lIns="0" tIns="0" rIns="0" bIns="0" rtlCol="0" anchor="ctr"/>
          <a:lstStyle/>
          <a:p>
            <a:pPr marL="0" indent="0" algn="l">
              <a:buNone/>
              <a:defRPr/>
            </a:pPr>
            <a:r>
              <a:rPr lang="en-US" sz="1050">
                <a:solidFill>
                  <a:srgbClr val="B8C8DC"/>
                </a:solidFill>
              </a:rPr>
              <a:t>Deploy Mistral 7B via Ollama entirely on-device — zero cloud dependency, full offline operation, and data privacy.</a:t>
            </a:r>
            <a:endParaRPr lang="en-US" sz="1050"/>
          </a:p>
        </p:txBody>
      </p:sp>
      <p:sp>
        <p:nvSpPr>
          <p:cNvPr id="2068801465" name="Shape 13"/>
          <p:cNvSpPr/>
          <p:nvPr/>
        </p:nvSpPr>
        <p:spPr bwMode="auto">
          <a:xfrm>
            <a:off x="274320" y="2880360"/>
            <a:ext cx="4114800" cy="1828800"/>
          </a:xfrm>
          <a:prstGeom prst="rect">
            <a:avLst/>
          </a:prstGeom>
          <a:solidFill>
            <a:srgbClr val="112240"/>
          </a:solidFill>
          <a:ln w="19050">
            <a:solidFill>
              <a:srgbClr val="06D6A0"/>
            </a:solidFill>
            <a:prstDash val="solid"/>
          </a:ln>
        </p:spPr>
      </p:sp>
      <p:sp>
        <p:nvSpPr>
          <p:cNvPr id="1944578862" name="Shape 14"/>
          <p:cNvSpPr/>
          <p:nvPr/>
        </p:nvSpPr>
        <p:spPr bwMode="auto">
          <a:xfrm>
            <a:off x="274320" y="2880360"/>
            <a:ext cx="822960" cy="1828800"/>
          </a:xfrm>
          <a:prstGeom prst="rect">
            <a:avLst/>
          </a:prstGeom>
          <a:solidFill>
            <a:srgbClr val="06D6A0">
              <a:alpha val="80000"/>
            </a:srgbClr>
          </a:solidFill>
          <a:ln w="12700">
            <a:solidFill>
              <a:srgbClr val="06D6A0"/>
            </a:solidFill>
            <a:prstDash val="solid"/>
          </a:ln>
        </p:spPr>
      </p:sp>
      <p:sp>
        <p:nvSpPr>
          <p:cNvPr id="734420623" name="Text 15"/>
          <p:cNvSpPr/>
          <p:nvPr/>
        </p:nvSpPr>
        <p:spPr bwMode="auto">
          <a:xfrm>
            <a:off x="320040" y="3474720"/>
            <a:ext cx="731520" cy="594360"/>
          </a:xfrm>
          <a:prstGeom prst="rect">
            <a:avLst/>
          </a:prstGeom>
          <a:noFill/>
          <a:ln/>
        </p:spPr>
        <p:txBody>
          <a:bodyPr wrap="square" lIns="0" tIns="0" rIns="0" bIns="0" rtlCol="0" anchor="ctr"/>
          <a:lstStyle/>
          <a:p>
            <a:pPr marL="0" indent="0" algn="ctr">
              <a:buNone/>
              <a:defRPr/>
            </a:pPr>
            <a:r>
              <a:rPr lang="en-US" sz="2800" b="1">
                <a:solidFill>
                  <a:srgbClr val="FFFFFF"/>
                </a:solidFill>
              </a:rPr>
              <a:t>03</a:t>
            </a:r>
            <a:endParaRPr lang="en-US" sz="2800"/>
          </a:p>
        </p:txBody>
      </p:sp>
      <p:sp>
        <p:nvSpPr>
          <p:cNvPr id="373536660" name="Text 16"/>
          <p:cNvSpPr/>
          <p:nvPr/>
        </p:nvSpPr>
        <p:spPr bwMode="auto">
          <a:xfrm>
            <a:off x="1234440" y="2971800"/>
            <a:ext cx="3017519" cy="640080"/>
          </a:xfrm>
          <a:prstGeom prst="rect">
            <a:avLst/>
          </a:prstGeom>
          <a:noFill/>
          <a:ln/>
        </p:spPr>
        <p:txBody>
          <a:bodyPr wrap="square" lIns="0" tIns="0" rIns="0" bIns="0" rtlCol="0" anchor="ctr"/>
          <a:lstStyle/>
          <a:p>
            <a:pPr marL="0" indent="0" algn="l">
              <a:buNone/>
              <a:defRPr/>
            </a:pPr>
            <a:r>
              <a:rPr lang="en-US" sz="1300" b="1">
                <a:solidFill>
                  <a:srgbClr val="06D6A0"/>
                </a:solidFill>
              </a:rPr>
              <a:t>MAVLink Mission</a:t>
            </a:r>
            <a:endParaRPr lang="en-US" sz="1300"/>
          </a:p>
          <a:p>
            <a:pPr marL="0" indent="0" algn="l">
              <a:buNone/>
              <a:defRPr/>
            </a:pPr>
            <a:r>
              <a:rPr lang="en-US" sz="1300" b="1">
                <a:solidFill>
                  <a:srgbClr val="06D6A0"/>
                </a:solidFill>
              </a:rPr>
              <a:t>Creation</a:t>
            </a:r>
            <a:endParaRPr lang="en-US" sz="1300"/>
          </a:p>
        </p:txBody>
      </p:sp>
      <p:sp>
        <p:nvSpPr>
          <p:cNvPr id="53641500" name="Text 17"/>
          <p:cNvSpPr/>
          <p:nvPr/>
        </p:nvSpPr>
        <p:spPr bwMode="auto">
          <a:xfrm>
            <a:off x="1234440" y="3630168"/>
            <a:ext cx="3017519" cy="960120"/>
          </a:xfrm>
          <a:prstGeom prst="rect">
            <a:avLst/>
          </a:prstGeom>
          <a:noFill/>
          <a:ln/>
        </p:spPr>
        <p:txBody>
          <a:bodyPr wrap="square" lIns="0" tIns="0" rIns="0" bIns="0" rtlCol="0" anchor="ctr"/>
          <a:lstStyle/>
          <a:p>
            <a:pPr marL="0" indent="0" algn="l">
              <a:buNone/>
              <a:defRPr/>
            </a:pPr>
            <a:r>
              <a:rPr lang="en-US" sz="1050">
                <a:solidFill>
                  <a:srgbClr val="B8C8DC"/>
                </a:solidFill>
              </a:rPr>
              <a:t>Parse AI-generated schemas into MAVLink-compatible MISSION_ITEM_INT commands for upload to ArduPilot/Pixhawk.</a:t>
            </a:r>
            <a:endParaRPr lang="en-US" sz="1050"/>
          </a:p>
        </p:txBody>
      </p:sp>
      <p:sp>
        <p:nvSpPr>
          <p:cNvPr id="1678850408" name="Shape 18"/>
          <p:cNvSpPr/>
          <p:nvPr/>
        </p:nvSpPr>
        <p:spPr bwMode="auto">
          <a:xfrm>
            <a:off x="4709160" y="2880360"/>
            <a:ext cx="4114800" cy="1828800"/>
          </a:xfrm>
          <a:prstGeom prst="rect">
            <a:avLst/>
          </a:prstGeom>
          <a:solidFill>
            <a:srgbClr val="112240"/>
          </a:solidFill>
          <a:ln w="19050">
            <a:solidFill>
              <a:srgbClr val="EF476F"/>
            </a:solidFill>
            <a:prstDash val="solid"/>
          </a:ln>
        </p:spPr>
      </p:sp>
      <p:sp>
        <p:nvSpPr>
          <p:cNvPr id="1626550267" name="Shape 19"/>
          <p:cNvSpPr/>
          <p:nvPr/>
        </p:nvSpPr>
        <p:spPr bwMode="auto">
          <a:xfrm>
            <a:off x="4709160" y="2880360"/>
            <a:ext cx="822960" cy="1828800"/>
          </a:xfrm>
          <a:prstGeom prst="rect">
            <a:avLst/>
          </a:prstGeom>
          <a:solidFill>
            <a:srgbClr val="EF476F">
              <a:alpha val="80000"/>
            </a:srgbClr>
          </a:solidFill>
          <a:ln w="12700">
            <a:solidFill>
              <a:srgbClr val="EF476F"/>
            </a:solidFill>
            <a:prstDash val="solid"/>
          </a:ln>
        </p:spPr>
      </p:sp>
      <p:sp>
        <p:nvSpPr>
          <p:cNvPr id="101482278" name="Text 20"/>
          <p:cNvSpPr/>
          <p:nvPr/>
        </p:nvSpPr>
        <p:spPr bwMode="auto">
          <a:xfrm>
            <a:off x="4754880" y="3474720"/>
            <a:ext cx="731520" cy="594360"/>
          </a:xfrm>
          <a:prstGeom prst="rect">
            <a:avLst/>
          </a:prstGeom>
          <a:noFill/>
          <a:ln/>
        </p:spPr>
        <p:txBody>
          <a:bodyPr wrap="square" lIns="0" tIns="0" rIns="0" bIns="0" rtlCol="0" anchor="ctr"/>
          <a:lstStyle/>
          <a:p>
            <a:pPr marL="0" indent="0" algn="ctr">
              <a:buNone/>
              <a:defRPr/>
            </a:pPr>
            <a:r>
              <a:rPr lang="en-US" sz="2800" b="1">
                <a:solidFill>
                  <a:srgbClr val="FFFFFF"/>
                </a:solidFill>
              </a:rPr>
              <a:t>04</a:t>
            </a:r>
            <a:endParaRPr lang="en-US" sz="2800"/>
          </a:p>
        </p:txBody>
      </p:sp>
      <p:sp>
        <p:nvSpPr>
          <p:cNvPr id="784438080" name="Text 21"/>
          <p:cNvSpPr/>
          <p:nvPr/>
        </p:nvSpPr>
        <p:spPr bwMode="auto">
          <a:xfrm>
            <a:off x="5669280" y="2971800"/>
            <a:ext cx="3017519" cy="640080"/>
          </a:xfrm>
          <a:prstGeom prst="rect">
            <a:avLst/>
          </a:prstGeom>
          <a:noFill/>
          <a:ln/>
        </p:spPr>
        <p:txBody>
          <a:bodyPr wrap="square" lIns="0" tIns="0" rIns="0" bIns="0" rtlCol="0" anchor="ctr"/>
          <a:lstStyle/>
          <a:p>
            <a:pPr marL="0" indent="0" algn="l">
              <a:buNone/>
              <a:defRPr/>
            </a:pPr>
            <a:r>
              <a:rPr lang="en-US" sz="1300" b="1">
                <a:solidFill>
                  <a:srgbClr val="EF476F"/>
                </a:solidFill>
              </a:rPr>
              <a:t>Autonomous</a:t>
            </a:r>
            <a:endParaRPr lang="en-US" sz="1300"/>
          </a:p>
          <a:p>
            <a:pPr marL="0" indent="0" algn="l">
              <a:buNone/>
              <a:defRPr/>
            </a:pPr>
            <a:r>
              <a:rPr lang="en-US" sz="1300" b="1">
                <a:solidFill>
                  <a:srgbClr val="EF476F"/>
                </a:solidFill>
              </a:rPr>
              <a:t>Execution</a:t>
            </a:r>
            <a:endParaRPr lang="en-US" sz="1300"/>
          </a:p>
        </p:txBody>
      </p:sp>
      <p:sp>
        <p:nvSpPr>
          <p:cNvPr id="670573409" name="Text 22"/>
          <p:cNvSpPr/>
          <p:nvPr/>
        </p:nvSpPr>
        <p:spPr bwMode="auto">
          <a:xfrm>
            <a:off x="5669280" y="3630168"/>
            <a:ext cx="3017519" cy="960120"/>
          </a:xfrm>
          <a:prstGeom prst="rect">
            <a:avLst/>
          </a:prstGeom>
          <a:noFill/>
          <a:ln/>
        </p:spPr>
        <p:txBody>
          <a:bodyPr wrap="square" lIns="0" tIns="0" rIns="0" bIns="0" rtlCol="0" anchor="ctr"/>
          <a:lstStyle/>
          <a:p>
            <a:pPr marL="0" indent="0" algn="l">
              <a:buNone/>
              <a:defRPr/>
            </a:pPr>
            <a:r>
              <a:rPr lang="en-US" sz="1050">
                <a:solidFill>
                  <a:srgbClr val="B8C8DC"/>
                </a:solidFill>
              </a:rPr>
              <a:t>Validate full mission lifecycle from prompt to autonomous flight on both SITL simulation and real Pixhawk hardware.</a:t>
            </a:r>
            <a:endParaRPr lang="en-US" sz="10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0A1628"/>
        </a:solidFill>
      </p:bgPr>
    </p:bg>
    <p:spTree>
      <p:nvGrpSpPr>
        <p:cNvPr id="1" name=""/>
        <p:cNvGrpSpPr/>
        <p:nvPr/>
      </p:nvGrpSpPr>
      <p:grpSpPr bwMode="auto">
        <a:xfrm>
          <a:off x="0" y="0"/>
          <a:ext cx="0" cy="0"/>
          <a:chOff x="0" y="0"/>
          <a:chExt cx="0" cy="0"/>
        </a:xfrm>
      </p:grpSpPr>
      <p:sp>
        <p:nvSpPr>
          <p:cNvPr id="374080015" name="Shape 0"/>
          <p:cNvSpPr/>
          <p:nvPr/>
        </p:nvSpPr>
        <p:spPr bwMode="auto">
          <a:xfrm>
            <a:off x="0" y="0"/>
            <a:ext cx="9144000" cy="73152"/>
          </a:xfrm>
          <a:prstGeom prst="rect">
            <a:avLst/>
          </a:prstGeom>
          <a:solidFill>
            <a:srgbClr val="00B4D8"/>
          </a:solidFill>
          <a:ln w="12700">
            <a:solidFill>
              <a:srgbClr val="00B4D8"/>
            </a:solidFill>
            <a:prstDash val="solid"/>
          </a:ln>
        </p:spPr>
      </p:sp>
      <p:sp>
        <p:nvSpPr>
          <p:cNvPr id="292673096" name="Text 1"/>
          <p:cNvSpPr/>
          <p:nvPr/>
        </p:nvSpPr>
        <p:spPr bwMode="auto">
          <a:xfrm>
            <a:off x="365760" y="137160"/>
            <a:ext cx="8229600" cy="411480"/>
          </a:xfrm>
          <a:prstGeom prst="rect">
            <a:avLst/>
          </a:prstGeom>
          <a:noFill/>
          <a:ln/>
        </p:spPr>
        <p:txBody>
          <a:bodyPr wrap="square" lIns="0" tIns="0" rIns="0" bIns="0" rtlCol="0" anchor="ctr"/>
          <a:lstStyle/>
          <a:p>
            <a:pPr marL="0" indent="0">
              <a:buNone/>
              <a:defRPr/>
            </a:pPr>
            <a:r>
              <a:rPr lang="en-US" sz="2400" b="1">
                <a:solidFill>
                  <a:srgbClr val="FFFFFF"/>
                </a:solidFill>
              </a:rPr>
              <a:t>System Architecture</a:t>
            </a:r>
            <a:endParaRPr lang="en-US" sz="2400"/>
          </a:p>
        </p:txBody>
      </p:sp>
      <p:sp>
        <p:nvSpPr>
          <p:cNvPr id="2048657695" name="Shape 2"/>
          <p:cNvSpPr/>
          <p:nvPr/>
        </p:nvSpPr>
        <p:spPr bwMode="auto">
          <a:xfrm>
            <a:off x="2286000" y="685800"/>
            <a:ext cx="4114800" cy="438912"/>
          </a:xfrm>
          <a:prstGeom prst="rect">
            <a:avLst/>
          </a:prstGeom>
          <a:solidFill>
            <a:srgbClr val="112240"/>
          </a:solidFill>
          <a:ln w="19050">
            <a:solidFill>
              <a:srgbClr val="FFB703"/>
            </a:solidFill>
            <a:prstDash val="solid"/>
          </a:ln>
        </p:spPr>
      </p:sp>
      <p:sp>
        <p:nvSpPr>
          <p:cNvPr id="924300160" name="Shape 3"/>
          <p:cNvSpPr/>
          <p:nvPr/>
        </p:nvSpPr>
        <p:spPr bwMode="auto">
          <a:xfrm>
            <a:off x="2286000" y="685800"/>
            <a:ext cx="91440" cy="438912"/>
          </a:xfrm>
          <a:prstGeom prst="rect">
            <a:avLst/>
          </a:prstGeom>
          <a:solidFill>
            <a:srgbClr val="FFB703"/>
          </a:solidFill>
          <a:ln w="12700">
            <a:solidFill>
              <a:srgbClr val="FFB703"/>
            </a:solidFill>
            <a:prstDash val="solid"/>
          </a:ln>
        </p:spPr>
      </p:sp>
      <p:sp>
        <p:nvSpPr>
          <p:cNvPr id="1229696461" name="Text 4"/>
          <p:cNvSpPr/>
          <p:nvPr/>
        </p:nvSpPr>
        <p:spPr bwMode="auto">
          <a:xfrm>
            <a:off x="2468880" y="722376"/>
            <a:ext cx="2560320" cy="201168"/>
          </a:xfrm>
          <a:prstGeom prst="rect">
            <a:avLst/>
          </a:prstGeom>
          <a:noFill/>
          <a:ln/>
        </p:spPr>
        <p:txBody>
          <a:bodyPr wrap="square" lIns="0" tIns="0" rIns="0" bIns="0" rtlCol="0" anchor="ctr"/>
          <a:lstStyle/>
          <a:p>
            <a:pPr marL="0" indent="0">
              <a:buNone/>
              <a:defRPr/>
            </a:pPr>
            <a:r>
              <a:rPr lang="en-US" sz="1100" b="1">
                <a:solidFill>
                  <a:srgbClr val="FFB703"/>
                </a:solidFill>
              </a:rPr>
              <a:t>User Prompt</a:t>
            </a:r>
            <a:endParaRPr lang="en-US" sz="1100"/>
          </a:p>
        </p:txBody>
      </p:sp>
      <p:sp>
        <p:nvSpPr>
          <p:cNvPr id="1277050567" name="Text 5"/>
          <p:cNvSpPr/>
          <p:nvPr/>
        </p:nvSpPr>
        <p:spPr bwMode="auto">
          <a:xfrm>
            <a:off x="2468880" y="923544"/>
            <a:ext cx="2560320" cy="164592"/>
          </a:xfrm>
          <a:prstGeom prst="rect">
            <a:avLst/>
          </a:prstGeom>
          <a:noFill/>
          <a:ln/>
        </p:spPr>
        <p:txBody>
          <a:bodyPr wrap="square" lIns="0" tIns="0" rIns="0" bIns="0" rtlCol="0" anchor="ctr"/>
          <a:lstStyle/>
          <a:p>
            <a:pPr marL="0" indent="0">
              <a:buNone/>
              <a:defRPr/>
            </a:pPr>
            <a:r>
              <a:rPr lang="en-US" sz="900">
                <a:solidFill>
                  <a:srgbClr val="B8C8DC"/>
                </a:solidFill>
              </a:rPr>
              <a:t>Natural Language Input</a:t>
            </a:r>
            <a:endParaRPr lang="en-US" sz="900"/>
          </a:p>
        </p:txBody>
      </p:sp>
      <p:sp>
        <p:nvSpPr>
          <p:cNvPr id="1429919835" name="Shape 6"/>
          <p:cNvSpPr/>
          <p:nvPr/>
        </p:nvSpPr>
        <p:spPr bwMode="auto">
          <a:xfrm>
            <a:off x="3401568" y="1124712"/>
            <a:ext cx="0" cy="82296"/>
          </a:xfrm>
          <a:prstGeom prst="line">
            <a:avLst/>
          </a:prstGeom>
          <a:noFill/>
          <a:ln w="19050">
            <a:solidFill>
              <a:srgbClr val="00B4D8"/>
            </a:solidFill>
            <a:prstDash val="solid"/>
          </a:ln>
        </p:spPr>
      </p:sp>
      <p:sp>
        <p:nvSpPr>
          <p:cNvPr id="1127834347" name="Shape 7"/>
          <p:cNvSpPr/>
          <p:nvPr/>
        </p:nvSpPr>
        <p:spPr bwMode="auto">
          <a:xfrm>
            <a:off x="2286000" y="1207008"/>
            <a:ext cx="4114800" cy="438912"/>
          </a:xfrm>
          <a:prstGeom prst="rect">
            <a:avLst/>
          </a:prstGeom>
          <a:solidFill>
            <a:srgbClr val="112240"/>
          </a:solidFill>
          <a:ln w="19050">
            <a:solidFill>
              <a:srgbClr val="00B4D8"/>
            </a:solidFill>
            <a:prstDash val="solid"/>
          </a:ln>
        </p:spPr>
      </p:sp>
      <p:sp>
        <p:nvSpPr>
          <p:cNvPr id="917545297" name="Shape 8"/>
          <p:cNvSpPr/>
          <p:nvPr/>
        </p:nvSpPr>
        <p:spPr bwMode="auto">
          <a:xfrm>
            <a:off x="2286000" y="1207008"/>
            <a:ext cx="91440" cy="438912"/>
          </a:xfrm>
          <a:prstGeom prst="rect">
            <a:avLst/>
          </a:prstGeom>
          <a:solidFill>
            <a:srgbClr val="00B4D8"/>
          </a:solidFill>
          <a:ln w="12700">
            <a:solidFill>
              <a:srgbClr val="00B4D8"/>
            </a:solidFill>
            <a:prstDash val="solid"/>
          </a:ln>
        </p:spPr>
      </p:sp>
      <p:sp>
        <p:nvSpPr>
          <p:cNvPr id="1198737194" name="Text 9"/>
          <p:cNvSpPr/>
          <p:nvPr/>
        </p:nvSpPr>
        <p:spPr bwMode="auto">
          <a:xfrm>
            <a:off x="2468880" y="1243583"/>
            <a:ext cx="2560320" cy="201168"/>
          </a:xfrm>
          <a:prstGeom prst="rect">
            <a:avLst/>
          </a:prstGeom>
          <a:noFill/>
          <a:ln/>
        </p:spPr>
        <p:txBody>
          <a:bodyPr wrap="square" lIns="0" tIns="0" rIns="0" bIns="0" rtlCol="0" anchor="ctr"/>
          <a:lstStyle/>
          <a:p>
            <a:pPr marL="0" indent="0">
              <a:buNone/>
              <a:defRPr/>
            </a:pPr>
            <a:r>
              <a:rPr lang="en-US" sz="1100" b="1">
                <a:solidFill>
                  <a:srgbClr val="00B4D8"/>
                </a:solidFill>
              </a:rPr>
              <a:t>PRANAVA Chat Interface</a:t>
            </a:r>
            <a:endParaRPr lang="en-US" sz="1100"/>
          </a:p>
        </p:txBody>
      </p:sp>
      <p:sp>
        <p:nvSpPr>
          <p:cNvPr id="608673659" name="Text 10"/>
          <p:cNvSpPr/>
          <p:nvPr/>
        </p:nvSpPr>
        <p:spPr bwMode="auto">
          <a:xfrm>
            <a:off x="2468880" y="1444752"/>
            <a:ext cx="2560320" cy="164592"/>
          </a:xfrm>
          <a:prstGeom prst="rect">
            <a:avLst/>
          </a:prstGeom>
          <a:noFill/>
          <a:ln/>
        </p:spPr>
        <p:txBody>
          <a:bodyPr wrap="square" lIns="0" tIns="0" rIns="0" bIns="0" rtlCol="0" anchor="ctr"/>
          <a:lstStyle/>
          <a:p>
            <a:pPr marL="0" indent="0">
              <a:buNone/>
              <a:defRPr/>
            </a:pPr>
            <a:r>
              <a:rPr lang="en-US" sz="900">
                <a:solidFill>
                  <a:srgbClr val="B8C8DC"/>
                </a:solidFill>
              </a:rPr>
              <a:t>PyQt5 GUI</a:t>
            </a:r>
            <a:endParaRPr lang="en-US" sz="900"/>
          </a:p>
        </p:txBody>
      </p:sp>
      <p:sp>
        <p:nvSpPr>
          <p:cNvPr id="1913072205" name="Shape 11"/>
          <p:cNvSpPr/>
          <p:nvPr/>
        </p:nvSpPr>
        <p:spPr bwMode="auto">
          <a:xfrm>
            <a:off x="3401568" y="1645920"/>
            <a:ext cx="0" cy="82296"/>
          </a:xfrm>
          <a:prstGeom prst="line">
            <a:avLst/>
          </a:prstGeom>
          <a:noFill/>
          <a:ln w="19050">
            <a:solidFill>
              <a:srgbClr val="00B4D8"/>
            </a:solidFill>
            <a:prstDash val="solid"/>
          </a:ln>
        </p:spPr>
      </p:sp>
      <p:sp>
        <p:nvSpPr>
          <p:cNvPr id="443574033" name="Shape 12"/>
          <p:cNvSpPr/>
          <p:nvPr/>
        </p:nvSpPr>
        <p:spPr bwMode="auto">
          <a:xfrm>
            <a:off x="2286000" y="1728216"/>
            <a:ext cx="4114800" cy="438912"/>
          </a:xfrm>
          <a:prstGeom prst="rect">
            <a:avLst/>
          </a:prstGeom>
          <a:solidFill>
            <a:srgbClr val="112240"/>
          </a:solidFill>
          <a:ln w="19050">
            <a:solidFill>
              <a:srgbClr val="7B2FBE"/>
            </a:solidFill>
            <a:prstDash val="solid"/>
          </a:ln>
        </p:spPr>
      </p:sp>
      <p:sp>
        <p:nvSpPr>
          <p:cNvPr id="651716281" name="Shape 13"/>
          <p:cNvSpPr/>
          <p:nvPr/>
        </p:nvSpPr>
        <p:spPr bwMode="auto">
          <a:xfrm>
            <a:off x="2286000" y="1728216"/>
            <a:ext cx="91440" cy="438912"/>
          </a:xfrm>
          <a:prstGeom prst="rect">
            <a:avLst/>
          </a:prstGeom>
          <a:solidFill>
            <a:srgbClr val="7B2FBE"/>
          </a:solidFill>
          <a:ln w="12700">
            <a:solidFill>
              <a:srgbClr val="7B2FBE"/>
            </a:solidFill>
            <a:prstDash val="solid"/>
          </a:ln>
        </p:spPr>
      </p:sp>
      <p:sp>
        <p:nvSpPr>
          <p:cNvPr id="1999864415" name="Text 14"/>
          <p:cNvSpPr/>
          <p:nvPr/>
        </p:nvSpPr>
        <p:spPr bwMode="auto">
          <a:xfrm>
            <a:off x="2468880" y="1764792"/>
            <a:ext cx="2560320" cy="201168"/>
          </a:xfrm>
          <a:prstGeom prst="rect">
            <a:avLst/>
          </a:prstGeom>
          <a:noFill/>
          <a:ln/>
        </p:spPr>
        <p:txBody>
          <a:bodyPr wrap="square" lIns="0" tIns="0" rIns="0" bIns="0" rtlCol="0" anchor="ctr"/>
          <a:lstStyle/>
          <a:p>
            <a:pPr marL="0" indent="0">
              <a:buNone/>
              <a:defRPr/>
            </a:pPr>
            <a:r>
              <a:rPr lang="en-US" sz="1100" b="1">
                <a:solidFill>
                  <a:srgbClr val="7B2FBE"/>
                </a:solidFill>
              </a:rPr>
              <a:t>Mistral 7B via Ollama</a:t>
            </a:r>
            <a:endParaRPr lang="en-US" sz="1100"/>
          </a:p>
        </p:txBody>
      </p:sp>
      <p:sp>
        <p:nvSpPr>
          <p:cNvPr id="1883405253" name="Text 15"/>
          <p:cNvSpPr/>
          <p:nvPr/>
        </p:nvSpPr>
        <p:spPr bwMode="auto">
          <a:xfrm>
            <a:off x="2468880" y="1965960"/>
            <a:ext cx="2560320" cy="164592"/>
          </a:xfrm>
          <a:prstGeom prst="rect">
            <a:avLst/>
          </a:prstGeom>
          <a:noFill/>
          <a:ln/>
        </p:spPr>
        <p:txBody>
          <a:bodyPr wrap="square" lIns="0" tIns="0" rIns="0" bIns="0" rtlCol="0" anchor="ctr"/>
          <a:lstStyle/>
          <a:p>
            <a:pPr marL="0" indent="0">
              <a:buNone/>
              <a:defRPr/>
            </a:pPr>
            <a:r>
              <a:rPr lang="en-US" sz="900">
                <a:solidFill>
                  <a:srgbClr val="B8C8DC"/>
                </a:solidFill>
              </a:rPr>
              <a:t>Local LLM Inference</a:t>
            </a:r>
            <a:endParaRPr lang="en-US" sz="900"/>
          </a:p>
        </p:txBody>
      </p:sp>
      <p:sp>
        <p:nvSpPr>
          <p:cNvPr id="995194142" name="Shape 16"/>
          <p:cNvSpPr/>
          <p:nvPr/>
        </p:nvSpPr>
        <p:spPr bwMode="auto">
          <a:xfrm>
            <a:off x="3401568" y="2167128"/>
            <a:ext cx="0" cy="82296"/>
          </a:xfrm>
          <a:prstGeom prst="line">
            <a:avLst/>
          </a:prstGeom>
          <a:noFill/>
          <a:ln w="19050">
            <a:solidFill>
              <a:srgbClr val="00B4D8"/>
            </a:solidFill>
            <a:prstDash val="solid"/>
          </a:ln>
        </p:spPr>
      </p:sp>
      <p:sp>
        <p:nvSpPr>
          <p:cNvPr id="1883315854" name="Shape 17"/>
          <p:cNvSpPr/>
          <p:nvPr/>
        </p:nvSpPr>
        <p:spPr bwMode="auto">
          <a:xfrm>
            <a:off x="2286000" y="2249424"/>
            <a:ext cx="4114800" cy="438912"/>
          </a:xfrm>
          <a:prstGeom prst="rect">
            <a:avLst/>
          </a:prstGeom>
          <a:solidFill>
            <a:srgbClr val="112240"/>
          </a:solidFill>
          <a:ln w="19050">
            <a:solidFill>
              <a:srgbClr val="0077B6"/>
            </a:solidFill>
            <a:prstDash val="solid"/>
          </a:ln>
        </p:spPr>
      </p:sp>
      <p:sp>
        <p:nvSpPr>
          <p:cNvPr id="648101513" name="Shape 18"/>
          <p:cNvSpPr/>
          <p:nvPr/>
        </p:nvSpPr>
        <p:spPr bwMode="auto">
          <a:xfrm>
            <a:off x="2286000" y="2249424"/>
            <a:ext cx="91440" cy="438912"/>
          </a:xfrm>
          <a:prstGeom prst="rect">
            <a:avLst/>
          </a:prstGeom>
          <a:solidFill>
            <a:srgbClr val="0077B6"/>
          </a:solidFill>
          <a:ln w="12700">
            <a:solidFill>
              <a:srgbClr val="0077B6"/>
            </a:solidFill>
            <a:prstDash val="solid"/>
          </a:ln>
        </p:spPr>
      </p:sp>
      <p:sp>
        <p:nvSpPr>
          <p:cNvPr id="442351288" name="Text 19"/>
          <p:cNvSpPr/>
          <p:nvPr/>
        </p:nvSpPr>
        <p:spPr bwMode="auto">
          <a:xfrm>
            <a:off x="2468880" y="2286000"/>
            <a:ext cx="2560320" cy="201168"/>
          </a:xfrm>
          <a:prstGeom prst="rect">
            <a:avLst/>
          </a:prstGeom>
          <a:noFill/>
          <a:ln/>
        </p:spPr>
        <p:txBody>
          <a:bodyPr wrap="square" lIns="0" tIns="0" rIns="0" bIns="0" rtlCol="0" anchor="ctr"/>
          <a:lstStyle/>
          <a:p>
            <a:pPr marL="0" indent="0">
              <a:buNone/>
              <a:defRPr/>
            </a:pPr>
            <a:r>
              <a:rPr lang="en-US" sz="1100" b="1">
                <a:solidFill>
                  <a:srgbClr val="0077B6"/>
                </a:solidFill>
              </a:rPr>
              <a:t>Mission Schema Extraction</a:t>
            </a:r>
            <a:endParaRPr lang="en-US" sz="1100"/>
          </a:p>
        </p:txBody>
      </p:sp>
      <p:sp>
        <p:nvSpPr>
          <p:cNvPr id="192291117" name="Text 20"/>
          <p:cNvSpPr/>
          <p:nvPr/>
        </p:nvSpPr>
        <p:spPr bwMode="auto">
          <a:xfrm>
            <a:off x="2468880" y="2487167"/>
            <a:ext cx="2560320" cy="164592"/>
          </a:xfrm>
          <a:prstGeom prst="rect">
            <a:avLst/>
          </a:prstGeom>
          <a:noFill/>
          <a:ln/>
        </p:spPr>
        <p:txBody>
          <a:bodyPr wrap="square" lIns="0" tIns="0" rIns="0" bIns="0" rtlCol="0" anchor="ctr"/>
          <a:lstStyle/>
          <a:p>
            <a:pPr marL="0" indent="0">
              <a:buNone/>
              <a:defRPr/>
            </a:pPr>
            <a:r>
              <a:rPr lang="en-US" sz="900">
                <a:solidFill>
                  <a:srgbClr val="B8C8DC"/>
                </a:solidFill>
              </a:rPr>
              <a:t>JSON Parser</a:t>
            </a:r>
            <a:endParaRPr lang="en-US" sz="900"/>
          </a:p>
        </p:txBody>
      </p:sp>
      <p:sp>
        <p:nvSpPr>
          <p:cNvPr id="438981448" name="Shape 21"/>
          <p:cNvSpPr/>
          <p:nvPr/>
        </p:nvSpPr>
        <p:spPr bwMode="auto">
          <a:xfrm>
            <a:off x="3401568" y="2688336"/>
            <a:ext cx="0" cy="82296"/>
          </a:xfrm>
          <a:prstGeom prst="line">
            <a:avLst/>
          </a:prstGeom>
          <a:noFill/>
          <a:ln w="19050">
            <a:solidFill>
              <a:srgbClr val="00B4D8"/>
            </a:solidFill>
            <a:prstDash val="solid"/>
          </a:ln>
        </p:spPr>
      </p:sp>
      <p:sp>
        <p:nvSpPr>
          <p:cNvPr id="193093149" name="Shape 22"/>
          <p:cNvSpPr/>
          <p:nvPr/>
        </p:nvSpPr>
        <p:spPr bwMode="auto">
          <a:xfrm>
            <a:off x="2286000" y="2770632"/>
            <a:ext cx="4114800" cy="438912"/>
          </a:xfrm>
          <a:prstGeom prst="rect">
            <a:avLst/>
          </a:prstGeom>
          <a:solidFill>
            <a:srgbClr val="112240"/>
          </a:solidFill>
          <a:ln w="19050">
            <a:solidFill>
              <a:srgbClr val="06D6A0"/>
            </a:solidFill>
            <a:prstDash val="solid"/>
          </a:ln>
        </p:spPr>
      </p:sp>
      <p:sp>
        <p:nvSpPr>
          <p:cNvPr id="1932688437" name="Shape 23"/>
          <p:cNvSpPr/>
          <p:nvPr/>
        </p:nvSpPr>
        <p:spPr bwMode="auto">
          <a:xfrm>
            <a:off x="2286000" y="2770632"/>
            <a:ext cx="91440" cy="438912"/>
          </a:xfrm>
          <a:prstGeom prst="rect">
            <a:avLst/>
          </a:prstGeom>
          <a:solidFill>
            <a:srgbClr val="06D6A0"/>
          </a:solidFill>
          <a:ln w="12700">
            <a:solidFill>
              <a:srgbClr val="06D6A0"/>
            </a:solidFill>
            <a:prstDash val="solid"/>
          </a:ln>
        </p:spPr>
      </p:sp>
      <p:sp>
        <p:nvSpPr>
          <p:cNvPr id="956772618" name="Text 24"/>
          <p:cNvSpPr/>
          <p:nvPr/>
        </p:nvSpPr>
        <p:spPr bwMode="auto">
          <a:xfrm>
            <a:off x="2468880" y="2807207"/>
            <a:ext cx="2560320" cy="201168"/>
          </a:xfrm>
          <a:prstGeom prst="rect">
            <a:avLst/>
          </a:prstGeom>
          <a:noFill/>
          <a:ln/>
        </p:spPr>
        <p:txBody>
          <a:bodyPr wrap="square" lIns="0" tIns="0" rIns="0" bIns="0" rtlCol="0" anchor="ctr"/>
          <a:lstStyle/>
          <a:p>
            <a:pPr marL="0" indent="0">
              <a:buNone/>
              <a:defRPr/>
            </a:pPr>
            <a:r>
              <a:rPr lang="en-US" sz="1100" b="1">
                <a:solidFill>
                  <a:srgbClr val="06D6A0"/>
                </a:solidFill>
              </a:rPr>
              <a:t>Mission Planner</a:t>
            </a:r>
            <a:endParaRPr lang="en-US" sz="1100"/>
          </a:p>
        </p:txBody>
      </p:sp>
      <p:sp>
        <p:nvSpPr>
          <p:cNvPr id="837514497" name="Text 25"/>
          <p:cNvSpPr/>
          <p:nvPr/>
        </p:nvSpPr>
        <p:spPr bwMode="auto">
          <a:xfrm>
            <a:off x="2468880" y="3008376"/>
            <a:ext cx="2560320" cy="164592"/>
          </a:xfrm>
          <a:prstGeom prst="rect">
            <a:avLst/>
          </a:prstGeom>
          <a:noFill/>
          <a:ln/>
        </p:spPr>
        <p:txBody>
          <a:bodyPr wrap="square" lIns="0" tIns="0" rIns="0" bIns="0" rtlCol="0" anchor="ctr"/>
          <a:lstStyle/>
          <a:p>
            <a:pPr marL="0" indent="0">
              <a:buNone/>
              <a:defRPr/>
            </a:pPr>
            <a:r>
              <a:rPr lang="en-US" sz="900">
                <a:solidFill>
                  <a:srgbClr val="B8C8DC"/>
                </a:solidFill>
              </a:rPr>
              <a:t>Grid / Spiral / Waypoint</a:t>
            </a:r>
            <a:endParaRPr lang="en-US" sz="900"/>
          </a:p>
        </p:txBody>
      </p:sp>
      <p:sp>
        <p:nvSpPr>
          <p:cNvPr id="124342904" name="Shape 26"/>
          <p:cNvSpPr/>
          <p:nvPr/>
        </p:nvSpPr>
        <p:spPr bwMode="auto">
          <a:xfrm>
            <a:off x="3401568" y="3209544"/>
            <a:ext cx="0" cy="82296"/>
          </a:xfrm>
          <a:prstGeom prst="line">
            <a:avLst/>
          </a:prstGeom>
          <a:noFill/>
          <a:ln w="19050">
            <a:solidFill>
              <a:srgbClr val="00B4D8"/>
            </a:solidFill>
            <a:prstDash val="solid"/>
          </a:ln>
        </p:spPr>
      </p:sp>
      <p:sp>
        <p:nvSpPr>
          <p:cNvPr id="1658501036" name="Shape 27"/>
          <p:cNvSpPr/>
          <p:nvPr/>
        </p:nvSpPr>
        <p:spPr bwMode="auto">
          <a:xfrm>
            <a:off x="2286000" y="3291840"/>
            <a:ext cx="4114800" cy="438912"/>
          </a:xfrm>
          <a:prstGeom prst="rect">
            <a:avLst/>
          </a:prstGeom>
          <a:solidFill>
            <a:srgbClr val="112240"/>
          </a:solidFill>
          <a:ln w="19050">
            <a:solidFill>
              <a:srgbClr val="00B4D8"/>
            </a:solidFill>
            <a:prstDash val="solid"/>
          </a:ln>
        </p:spPr>
      </p:sp>
      <p:sp>
        <p:nvSpPr>
          <p:cNvPr id="1389373804" name="Shape 28"/>
          <p:cNvSpPr/>
          <p:nvPr/>
        </p:nvSpPr>
        <p:spPr bwMode="auto">
          <a:xfrm>
            <a:off x="2286000" y="3291840"/>
            <a:ext cx="91440" cy="438912"/>
          </a:xfrm>
          <a:prstGeom prst="rect">
            <a:avLst/>
          </a:prstGeom>
          <a:solidFill>
            <a:srgbClr val="00B4D8"/>
          </a:solidFill>
          <a:ln w="12700">
            <a:solidFill>
              <a:srgbClr val="00B4D8"/>
            </a:solidFill>
            <a:prstDash val="solid"/>
          </a:ln>
        </p:spPr>
      </p:sp>
      <p:sp>
        <p:nvSpPr>
          <p:cNvPr id="1724759880" name="Text 29"/>
          <p:cNvSpPr/>
          <p:nvPr/>
        </p:nvSpPr>
        <p:spPr bwMode="auto">
          <a:xfrm>
            <a:off x="2468880" y="3328416"/>
            <a:ext cx="2560320" cy="201168"/>
          </a:xfrm>
          <a:prstGeom prst="rect">
            <a:avLst/>
          </a:prstGeom>
          <a:noFill/>
          <a:ln/>
        </p:spPr>
        <p:txBody>
          <a:bodyPr wrap="square" lIns="0" tIns="0" rIns="0" bIns="0" rtlCol="0" anchor="ctr"/>
          <a:lstStyle/>
          <a:p>
            <a:pPr marL="0" indent="0">
              <a:buNone/>
              <a:defRPr/>
            </a:pPr>
            <a:r>
              <a:rPr lang="en-US" sz="1100" b="1">
                <a:solidFill>
                  <a:srgbClr val="00B4D8"/>
                </a:solidFill>
              </a:rPr>
              <a:t>MAVLink Upload Engine</a:t>
            </a:r>
            <a:endParaRPr lang="en-US" sz="1100"/>
          </a:p>
        </p:txBody>
      </p:sp>
      <p:sp>
        <p:nvSpPr>
          <p:cNvPr id="1148119313" name="Text 30"/>
          <p:cNvSpPr/>
          <p:nvPr/>
        </p:nvSpPr>
        <p:spPr bwMode="auto">
          <a:xfrm>
            <a:off x="2468880" y="3529584"/>
            <a:ext cx="2560320" cy="164592"/>
          </a:xfrm>
          <a:prstGeom prst="rect">
            <a:avLst/>
          </a:prstGeom>
          <a:noFill/>
          <a:ln/>
        </p:spPr>
        <p:txBody>
          <a:bodyPr wrap="square" lIns="0" tIns="0" rIns="0" bIns="0" rtlCol="0" anchor="ctr"/>
          <a:lstStyle/>
          <a:p>
            <a:pPr marL="0" indent="0">
              <a:buNone/>
              <a:defRPr/>
            </a:pPr>
            <a:r>
              <a:rPr lang="en-US" sz="900">
                <a:solidFill>
                  <a:srgbClr val="B8C8DC"/>
                </a:solidFill>
              </a:rPr>
              <a:t>pymavlink Protocol</a:t>
            </a:r>
            <a:endParaRPr lang="en-US" sz="900"/>
          </a:p>
        </p:txBody>
      </p:sp>
      <p:sp>
        <p:nvSpPr>
          <p:cNvPr id="46753213" name="Shape 31"/>
          <p:cNvSpPr/>
          <p:nvPr/>
        </p:nvSpPr>
        <p:spPr bwMode="auto">
          <a:xfrm>
            <a:off x="3401568" y="3730752"/>
            <a:ext cx="0" cy="82296"/>
          </a:xfrm>
          <a:prstGeom prst="line">
            <a:avLst/>
          </a:prstGeom>
          <a:noFill/>
          <a:ln w="19050">
            <a:solidFill>
              <a:srgbClr val="00B4D8"/>
            </a:solidFill>
            <a:prstDash val="solid"/>
          </a:ln>
        </p:spPr>
      </p:sp>
      <p:sp>
        <p:nvSpPr>
          <p:cNvPr id="308676346" name="Shape 32"/>
          <p:cNvSpPr/>
          <p:nvPr/>
        </p:nvSpPr>
        <p:spPr bwMode="auto">
          <a:xfrm>
            <a:off x="2286000" y="3813048"/>
            <a:ext cx="4114800" cy="438912"/>
          </a:xfrm>
          <a:prstGeom prst="rect">
            <a:avLst/>
          </a:prstGeom>
          <a:solidFill>
            <a:srgbClr val="112240"/>
          </a:solidFill>
          <a:ln w="19050">
            <a:solidFill>
              <a:srgbClr val="EF476F"/>
            </a:solidFill>
            <a:prstDash val="solid"/>
          </a:ln>
        </p:spPr>
      </p:sp>
      <p:sp>
        <p:nvSpPr>
          <p:cNvPr id="523682349" name="Shape 33"/>
          <p:cNvSpPr/>
          <p:nvPr/>
        </p:nvSpPr>
        <p:spPr bwMode="auto">
          <a:xfrm>
            <a:off x="2286000" y="3813048"/>
            <a:ext cx="91440" cy="438912"/>
          </a:xfrm>
          <a:prstGeom prst="rect">
            <a:avLst/>
          </a:prstGeom>
          <a:solidFill>
            <a:srgbClr val="EF476F"/>
          </a:solidFill>
          <a:ln w="12700">
            <a:solidFill>
              <a:srgbClr val="EF476F"/>
            </a:solidFill>
            <a:prstDash val="solid"/>
          </a:ln>
        </p:spPr>
      </p:sp>
      <p:sp>
        <p:nvSpPr>
          <p:cNvPr id="1678221357" name="Text 34"/>
          <p:cNvSpPr/>
          <p:nvPr/>
        </p:nvSpPr>
        <p:spPr bwMode="auto">
          <a:xfrm>
            <a:off x="2468880" y="3849624"/>
            <a:ext cx="2560320" cy="201168"/>
          </a:xfrm>
          <a:prstGeom prst="rect">
            <a:avLst/>
          </a:prstGeom>
          <a:noFill/>
          <a:ln/>
        </p:spPr>
        <p:txBody>
          <a:bodyPr wrap="square" lIns="0" tIns="0" rIns="0" bIns="0" rtlCol="0" anchor="ctr"/>
          <a:lstStyle/>
          <a:p>
            <a:pPr marL="0" indent="0">
              <a:buNone/>
              <a:defRPr/>
            </a:pPr>
            <a:r>
              <a:rPr lang="en-US" sz="1100" b="1">
                <a:solidFill>
                  <a:srgbClr val="EF476F"/>
                </a:solidFill>
              </a:rPr>
              <a:t>ArduPilot SITL / Pixhawk</a:t>
            </a:r>
            <a:endParaRPr lang="en-US" sz="1100"/>
          </a:p>
        </p:txBody>
      </p:sp>
      <p:sp>
        <p:nvSpPr>
          <p:cNvPr id="468021239" name="Text 35"/>
          <p:cNvSpPr/>
          <p:nvPr/>
        </p:nvSpPr>
        <p:spPr bwMode="auto">
          <a:xfrm>
            <a:off x="2468880" y="4050792"/>
            <a:ext cx="2560320" cy="164592"/>
          </a:xfrm>
          <a:prstGeom prst="rect">
            <a:avLst/>
          </a:prstGeom>
          <a:noFill/>
          <a:ln/>
        </p:spPr>
        <p:txBody>
          <a:bodyPr wrap="square" lIns="0" tIns="0" rIns="0" bIns="0" rtlCol="0" anchor="ctr"/>
          <a:lstStyle/>
          <a:p>
            <a:pPr marL="0" indent="0">
              <a:buNone/>
              <a:defRPr/>
            </a:pPr>
            <a:r>
              <a:rPr lang="en-US" sz="900">
                <a:solidFill>
                  <a:srgbClr val="B8C8DC"/>
                </a:solidFill>
              </a:rPr>
              <a:t>Flight Controller</a:t>
            </a:r>
            <a:endParaRPr lang="en-US" sz="900"/>
          </a:p>
        </p:txBody>
      </p:sp>
      <p:sp>
        <p:nvSpPr>
          <p:cNvPr id="1838077450" name="Shape 36"/>
          <p:cNvSpPr/>
          <p:nvPr/>
        </p:nvSpPr>
        <p:spPr bwMode="auto">
          <a:xfrm>
            <a:off x="2286000" y="4334256"/>
            <a:ext cx="4114800" cy="438912"/>
          </a:xfrm>
          <a:prstGeom prst="rect">
            <a:avLst/>
          </a:prstGeom>
          <a:solidFill>
            <a:srgbClr val="112240"/>
          </a:solidFill>
          <a:ln w="19050">
            <a:solidFill>
              <a:srgbClr val="FFB703"/>
            </a:solidFill>
            <a:prstDash val="solid"/>
          </a:ln>
        </p:spPr>
      </p:sp>
      <p:sp>
        <p:nvSpPr>
          <p:cNvPr id="528088477" name="Shape 37"/>
          <p:cNvSpPr/>
          <p:nvPr/>
        </p:nvSpPr>
        <p:spPr bwMode="auto">
          <a:xfrm>
            <a:off x="2286000" y="4334256"/>
            <a:ext cx="91440" cy="438912"/>
          </a:xfrm>
          <a:prstGeom prst="rect">
            <a:avLst/>
          </a:prstGeom>
          <a:solidFill>
            <a:srgbClr val="FFB703"/>
          </a:solidFill>
          <a:ln w="12700">
            <a:solidFill>
              <a:srgbClr val="FFB703"/>
            </a:solidFill>
            <a:prstDash val="solid"/>
          </a:ln>
        </p:spPr>
      </p:sp>
      <p:sp>
        <p:nvSpPr>
          <p:cNvPr id="947785569" name="Text 38"/>
          <p:cNvSpPr/>
          <p:nvPr/>
        </p:nvSpPr>
        <p:spPr bwMode="auto">
          <a:xfrm>
            <a:off x="2468880" y="4370832"/>
            <a:ext cx="2743200" cy="201168"/>
          </a:xfrm>
          <a:prstGeom prst="rect">
            <a:avLst/>
          </a:prstGeom>
          <a:noFill/>
          <a:ln/>
        </p:spPr>
        <p:txBody>
          <a:bodyPr wrap="square" lIns="0" tIns="0" rIns="0" bIns="0" rtlCol="0" anchor="ctr"/>
          <a:lstStyle/>
          <a:p>
            <a:pPr marL="0" indent="0">
              <a:buNone/>
              <a:defRPr/>
            </a:pPr>
            <a:r>
              <a:rPr lang="en-US" sz="1100" b="1">
                <a:solidFill>
                  <a:srgbClr val="FFB703"/>
                </a:solidFill>
              </a:rPr>
              <a:t>QGroundControl</a:t>
            </a:r>
            <a:endParaRPr lang="en-US" sz="1100"/>
          </a:p>
        </p:txBody>
      </p:sp>
      <p:sp>
        <p:nvSpPr>
          <p:cNvPr id="564461236" name="Text 39"/>
          <p:cNvSpPr/>
          <p:nvPr/>
        </p:nvSpPr>
        <p:spPr bwMode="auto">
          <a:xfrm>
            <a:off x="2468880" y="4572000"/>
            <a:ext cx="3200400" cy="164592"/>
          </a:xfrm>
          <a:prstGeom prst="rect">
            <a:avLst/>
          </a:prstGeom>
          <a:noFill/>
          <a:ln/>
        </p:spPr>
        <p:txBody>
          <a:bodyPr wrap="square" lIns="0" tIns="0" rIns="0" bIns="0" rtlCol="0" anchor="ctr"/>
          <a:lstStyle/>
          <a:p>
            <a:pPr marL="0" indent="0">
              <a:buNone/>
              <a:defRPr/>
            </a:pPr>
            <a:r>
              <a:rPr lang="en-US" sz="900">
                <a:solidFill>
                  <a:srgbClr val="B8C8DC"/>
                </a:solidFill>
              </a:rPr>
              <a:t>Mission Visualization &amp; Monitoring</a:t>
            </a:r>
            <a:endParaRPr lang="en-US" sz="900"/>
          </a:p>
        </p:txBody>
      </p:sp>
      <p:sp>
        <p:nvSpPr>
          <p:cNvPr id="1646579400" name="Shape 40"/>
          <p:cNvSpPr/>
          <p:nvPr/>
        </p:nvSpPr>
        <p:spPr bwMode="auto">
          <a:xfrm>
            <a:off x="3401568" y="4251960"/>
            <a:ext cx="0" cy="82296"/>
          </a:xfrm>
          <a:prstGeom prst="line">
            <a:avLst/>
          </a:prstGeom>
          <a:noFill/>
          <a:ln w="19050">
            <a:solidFill>
              <a:srgbClr val="FFB703"/>
            </a:solidFill>
            <a:prstDash val="solid"/>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0A1628"/>
        </a:solidFill>
      </p:bgPr>
    </p:bg>
    <p:spTree>
      <p:nvGrpSpPr>
        <p:cNvPr id="1" name=""/>
        <p:cNvGrpSpPr/>
        <p:nvPr/>
      </p:nvGrpSpPr>
      <p:grpSpPr bwMode="auto">
        <a:xfrm>
          <a:off x="0" y="0"/>
          <a:ext cx="0" cy="0"/>
          <a:chOff x="0" y="0"/>
          <a:chExt cx="0" cy="0"/>
        </a:xfrm>
      </p:grpSpPr>
      <p:sp>
        <p:nvSpPr>
          <p:cNvPr id="464998511" name="Shape 0"/>
          <p:cNvSpPr/>
          <p:nvPr/>
        </p:nvSpPr>
        <p:spPr bwMode="auto">
          <a:xfrm>
            <a:off x="0" y="0"/>
            <a:ext cx="9144000" cy="73152"/>
          </a:xfrm>
          <a:prstGeom prst="rect">
            <a:avLst/>
          </a:prstGeom>
          <a:solidFill>
            <a:srgbClr val="00B4D8"/>
          </a:solidFill>
          <a:ln w="12700">
            <a:solidFill>
              <a:srgbClr val="00B4D8"/>
            </a:solidFill>
            <a:prstDash val="solid"/>
          </a:ln>
        </p:spPr>
      </p:sp>
      <p:sp>
        <p:nvSpPr>
          <p:cNvPr id="443024903" name="Text 1"/>
          <p:cNvSpPr/>
          <p:nvPr/>
        </p:nvSpPr>
        <p:spPr bwMode="auto">
          <a:xfrm>
            <a:off x="365760" y="137160"/>
            <a:ext cx="8229600" cy="411480"/>
          </a:xfrm>
          <a:prstGeom prst="rect">
            <a:avLst/>
          </a:prstGeom>
          <a:noFill/>
          <a:ln/>
        </p:spPr>
        <p:txBody>
          <a:bodyPr wrap="square" lIns="0" tIns="0" rIns="0" bIns="0" rtlCol="0" anchor="ctr"/>
          <a:lstStyle/>
          <a:p>
            <a:pPr marL="0" indent="0">
              <a:buNone/>
              <a:defRPr/>
            </a:pPr>
            <a:r>
              <a:rPr lang="en-US" sz="2400" b="1">
                <a:solidFill>
                  <a:srgbClr val="FFFFFF"/>
                </a:solidFill>
              </a:rPr>
              <a:t>Mission Schema Design</a:t>
            </a:r>
            <a:endParaRPr lang="en-US" sz="2400"/>
          </a:p>
        </p:txBody>
      </p:sp>
      <p:sp>
        <p:nvSpPr>
          <p:cNvPr id="552960117" name="Shape 2"/>
          <p:cNvSpPr/>
          <p:nvPr/>
        </p:nvSpPr>
        <p:spPr bwMode="auto">
          <a:xfrm>
            <a:off x="274320" y="685800"/>
            <a:ext cx="1993392" cy="1417320"/>
          </a:xfrm>
          <a:prstGeom prst="rect">
            <a:avLst/>
          </a:prstGeom>
          <a:solidFill>
            <a:srgbClr val="112240"/>
          </a:solidFill>
          <a:ln w="19050">
            <a:solidFill>
              <a:srgbClr val="06D6A0"/>
            </a:solidFill>
            <a:prstDash val="solid"/>
          </a:ln>
        </p:spPr>
      </p:sp>
      <p:sp>
        <p:nvSpPr>
          <p:cNvPr id="377060383" name="Shape 3"/>
          <p:cNvSpPr/>
          <p:nvPr/>
        </p:nvSpPr>
        <p:spPr bwMode="auto">
          <a:xfrm>
            <a:off x="274320" y="685800"/>
            <a:ext cx="1993392" cy="347472"/>
          </a:xfrm>
          <a:prstGeom prst="rect">
            <a:avLst/>
          </a:prstGeom>
          <a:solidFill>
            <a:srgbClr val="06D6A0">
              <a:alpha val="80000"/>
            </a:srgbClr>
          </a:solidFill>
          <a:ln w="12700">
            <a:solidFill>
              <a:srgbClr val="06D6A0"/>
            </a:solidFill>
            <a:prstDash val="solid"/>
          </a:ln>
        </p:spPr>
      </p:sp>
      <p:sp>
        <p:nvSpPr>
          <p:cNvPr id="311432092" name="Text 4"/>
          <p:cNvSpPr/>
          <p:nvPr/>
        </p:nvSpPr>
        <p:spPr bwMode="auto">
          <a:xfrm>
            <a:off x="347472" y="713232"/>
            <a:ext cx="1828800" cy="274320"/>
          </a:xfrm>
          <a:prstGeom prst="rect">
            <a:avLst/>
          </a:prstGeom>
          <a:noFill/>
          <a:ln/>
        </p:spPr>
        <p:txBody>
          <a:bodyPr wrap="square" lIns="0" tIns="0" rIns="0" bIns="0" rtlCol="0" anchor="ctr"/>
          <a:lstStyle/>
          <a:p>
            <a:pPr marL="0" indent="0" algn="ctr">
              <a:buNone/>
              <a:defRPr/>
            </a:pPr>
            <a:r>
              <a:rPr lang="en-US" sz="1200" b="1">
                <a:solidFill>
                  <a:srgbClr val="FFFFFF"/>
                </a:solidFill>
              </a:rPr>
              <a:t>grid</a:t>
            </a:r>
            <a:endParaRPr lang="en-US" sz="1200"/>
          </a:p>
        </p:txBody>
      </p:sp>
      <p:sp>
        <p:nvSpPr>
          <p:cNvPr id="1355698969" name="Text 5"/>
          <p:cNvSpPr/>
          <p:nvPr/>
        </p:nvSpPr>
        <p:spPr bwMode="auto">
          <a:xfrm>
            <a:off x="347472" y="1078992"/>
            <a:ext cx="1828800" cy="914400"/>
          </a:xfrm>
          <a:prstGeom prst="rect">
            <a:avLst/>
          </a:prstGeom>
          <a:noFill/>
          <a:ln/>
        </p:spPr>
        <p:txBody>
          <a:bodyPr wrap="square" lIns="0" tIns="0" rIns="0" bIns="0" rtlCol="0" anchor="ctr"/>
          <a:lstStyle/>
          <a:p>
            <a:pPr marL="0" indent="0" algn="l">
              <a:buNone/>
              <a:defRPr/>
            </a:pPr>
            <a:r>
              <a:rPr lang="en-US" sz="1000">
                <a:solidFill>
                  <a:srgbClr val="B8C8DC"/>
                </a:solidFill>
              </a:rPr>
              <a:t>Systematic lawnmower survey covering rectangular bounding box with configurable row spacing</a:t>
            </a:r>
            <a:endParaRPr lang="en-US" sz="1000"/>
          </a:p>
        </p:txBody>
      </p:sp>
      <p:sp>
        <p:nvSpPr>
          <p:cNvPr id="1028116670" name="Shape 6"/>
          <p:cNvSpPr/>
          <p:nvPr/>
        </p:nvSpPr>
        <p:spPr bwMode="auto">
          <a:xfrm>
            <a:off x="2450592" y="685800"/>
            <a:ext cx="1993392" cy="1417320"/>
          </a:xfrm>
          <a:prstGeom prst="rect">
            <a:avLst/>
          </a:prstGeom>
          <a:solidFill>
            <a:srgbClr val="112240"/>
          </a:solidFill>
          <a:ln w="19050">
            <a:solidFill>
              <a:srgbClr val="00B4D8"/>
            </a:solidFill>
            <a:prstDash val="solid"/>
          </a:ln>
        </p:spPr>
      </p:sp>
      <p:sp>
        <p:nvSpPr>
          <p:cNvPr id="1005927067" name="Shape 7"/>
          <p:cNvSpPr/>
          <p:nvPr/>
        </p:nvSpPr>
        <p:spPr bwMode="auto">
          <a:xfrm>
            <a:off x="2450592" y="685800"/>
            <a:ext cx="1993392" cy="347472"/>
          </a:xfrm>
          <a:prstGeom prst="rect">
            <a:avLst/>
          </a:prstGeom>
          <a:solidFill>
            <a:srgbClr val="00B4D8">
              <a:alpha val="80000"/>
            </a:srgbClr>
          </a:solidFill>
          <a:ln w="12700">
            <a:solidFill>
              <a:srgbClr val="00B4D8"/>
            </a:solidFill>
            <a:prstDash val="solid"/>
          </a:ln>
        </p:spPr>
      </p:sp>
      <p:sp>
        <p:nvSpPr>
          <p:cNvPr id="395325452" name="Text 8"/>
          <p:cNvSpPr/>
          <p:nvPr/>
        </p:nvSpPr>
        <p:spPr bwMode="auto">
          <a:xfrm>
            <a:off x="2523744" y="713232"/>
            <a:ext cx="1828800" cy="274320"/>
          </a:xfrm>
          <a:prstGeom prst="rect">
            <a:avLst/>
          </a:prstGeom>
          <a:noFill/>
          <a:ln/>
        </p:spPr>
        <p:txBody>
          <a:bodyPr wrap="square" lIns="0" tIns="0" rIns="0" bIns="0" rtlCol="0" anchor="ctr"/>
          <a:lstStyle/>
          <a:p>
            <a:pPr marL="0" indent="0" algn="ctr">
              <a:buNone/>
              <a:defRPr/>
            </a:pPr>
            <a:r>
              <a:rPr lang="en-US" sz="1200" b="1">
                <a:solidFill>
                  <a:srgbClr val="FFFFFF"/>
                </a:solidFill>
              </a:rPr>
              <a:t>spiral_in</a:t>
            </a:r>
            <a:endParaRPr lang="en-US" sz="1200"/>
          </a:p>
        </p:txBody>
      </p:sp>
      <p:sp>
        <p:nvSpPr>
          <p:cNvPr id="271519955" name="Text 9"/>
          <p:cNvSpPr/>
          <p:nvPr/>
        </p:nvSpPr>
        <p:spPr bwMode="auto">
          <a:xfrm>
            <a:off x="2523744" y="1078992"/>
            <a:ext cx="1828800" cy="914400"/>
          </a:xfrm>
          <a:prstGeom prst="rect">
            <a:avLst/>
          </a:prstGeom>
          <a:noFill/>
          <a:ln/>
        </p:spPr>
        <p:txBody>
          <a:bodyPr wrap="square" lIns="0" tIns="0" rIns="0" bIns="0" rtlCol="0" anchor="ctr"/>
          <a:lstStyle/>
          <a:p>
            <a:pPr marL="0" indent="0" algn="l">
              <a:buNone/>
              <a:defRPr/>
            </a:pPr>
            <a:r>
              <a:rPr lang="en-US" sz="1000">
                <a:solidFill>
                  <a:srgbClr val="B8C8DC"/>
                </a:solidFill>
              </a:rPr>
              <a:t>Outward-to-inward elliptical spiral from perimeter toward centroid</a:t>
            </a:r>
            <a:endParaRPr lang="en-US" sz="1000"/>
          </a:p>
        </p:txBody>
      </p:sp>
      <p:sp>
        <p:nvSpPr>
          <p:cNvPr id="705789406" name="Shape 10"/>
          <p:cNvSpPr/>
          <p:nvPr/>
        </p:nvSpPr>
        <p:spPr bwMode="auto">
          <a:xfrm>
            <a:off x="4626864" y="685800"/>
            <a:ext cx="1993392" cy="1417320"/>
          </a:xfrm>
          <a:prstGeom prst="rect">
            <a:avLst/>
          </a:prstGeom>
          <a:solidFill>
            <a:srgbClr val="112240"/>
          </a:solidFill>
          <a:ln w="19050">
            <a:solidFill>
              <a:srgbClr val="FFB703"/>
            </a:solidFill>
            <a:prstDash val="solid"/>
          </a:ln>
        </p:spPr>
      </p:sp>
      <p:sp>
        <p:nvSpPr>
          <p:cNvPr id="1984365711" name="Shape 11"/>
          <p:cNvSpPr/>
          <p:nvPr/>
        </p:nvSpPr>
        <p:spPr bwMode="auto">
          <a:xfrm>
            <a:off x="4626864" y="685800"/>
            <a:ext cx="1993392" cy="347472"/>
          </a:xfrm>
          <a:prstGeom prst="rect">
            <a:avLst/>
          </a:prstGeom>
          <a:solidFill>
            <a:srgbClr val="FFB703">
              <a:alpha val="80000"/>
            </a:srgbClr>
          </a:solidFill>
          <a:ln w="12700">
            <a:solidFill>
              <a:srgbClr val="FFB703"/>
            </a:solidFill>
            <a:prstDash val="solid"/>
          </a:ln>
        </p:spPr>
      </p:sp>
      <p:sp>
        <p:nvSpPr>
          <p:cNvPr id="1918464924" name="Text 12"/>
          <p:cNvSpPr/>
          <p:nvPr/>
        </p:nvSpPr>
        <p:spPr bwMode="auto">
          <a:xfrm>
            <a:off x="4700016" y="713232"/>
            <a:ext cx="1828800" cy="274320"/>
          </a:xfrm>
          <a:prstGeom prst="rect">
            <a:avLst/>
          </a:prstGeom>
          <a:noFill/>
          <a:ln/>
        </p:spPr>
        <p:txBody>
          <a:bodyPr wrap="square" lIns="0" tIns="0" rIns="0" bIns="0" rtlCol="0" anchor="ctr"/>
          <a:lstStyle/>
          <a:p>
            <a:pPr marL="0" indent="0" algn="ctr">
              <a:buNone/>
              <a:defRPr/>
            </a:pPr>
            <a:r>
              <a:rPr lang="en-US" sz="1200" b="1">
                <a:solidFill>
                  <a:srgbClr val="FFFFFF"/>
                </a:solidFill>
              </a:rPr>
              <a:t>spiral_out</a:t>
            </a:r>
            <a:endParaRPr lang="en-US" sz="1200"/>
          </a:p>
        </p:txBody>
      </p:sp>
      <p:sp>
        <p:nvSpPr>
          <p:cNvPr id="1908571312" name="Text 13"/>
          <p:cNvSpPr/>
          <p:nvPr/>
        </p:nvSpPr>
        <p:spPr bwMode="auto">
          <a:xfrm>
            <a:off x="4700016" y="1078992"/>
            <a:ext cx="1828800" cy="914400"/>
          </a:xfrm>
          <a:prstGeom prst="rect">
            <a:avLst/>
          </a:prstGeom>
          <a:noFill/>
          <a:ln/>
        </p:spPr>
        <p:txBody>
          <a:bodyPr wrap="square" lIns="0" tIns="0" rIns="0" bIns="0" rtlCol="0" anchor="ctr"/>
          <a:lstStyle/>
          <a:p>
            <a:pPr marL="0" indent="0" algn="l">
              <a:buNone/>
              <a:defRPr/>
            </a:pPr>
            <a:r>
              <a:rPr lang="en-US" sz="1000">
                <a:solidFill>
                  <a:srgbClr val="B8C8DC"/>
                </a:solidFill>
              </a:rPr>
              <a:t>Inward-to-outward elliptical spiral from centroid expanding to boundary</a:t>
            </a:r>
            <a:endParaRPr lang="en-US" sz="1000"/>
          </a:p>
        </p:txBody>
      </p:sp>
      <p:sp>
        <p:nvSpPr>
          <p:cNvPr id="1428914866" name="Shape 14"/>
          <p:cNvSpPr/>
          <p:nvPr/>
        </p:nvSpPr>
        <p:spPr bwMode="auto">
          <a:xfrm>
            <a:off x="6803136" y="685800"/>
            <a:ext cx="1993392" cy="1417320"/>
          </a:xfrm>
          <a:prstGeom prst="rect">
            <a:avLst/>
          </a:prstGeom>
          <a:solidFill>
            <a:srgbClr val="112240"/>
          </a:solidFill>
          <a:ln w="19050">
            <a:solidFill>
              <a:srgbClr val="EF476F"/>
            </a:solidFill>
            <a:prstDash val="solid"/>
          </a:ln>
        </p:spPr>
      </p:sp>
      <p:sp>
        <p:nvSpPr>
          <p:cNvPr id="1294258286" name="Shape 15"/>
          <p:cNvSpPr/>
          <p:nvPr/>
        </p:nvSpPr>
        <p:spPr bwMode="auto">
          <a:xfrm>
            <a:off x="6803136" y="685800"/>
            <a:ext cx="1993392" cy="347472"/>
          </a:xfrm>
          <a:prstGeom prst="rect">
            <a:avLst/>
          </a:prstGeom>
          <a:solidFill>
            <a:srgbClr val="EF476F">
              <a:alpha val="80000"/>
            </a:srgbClr>
          </a:solidFill>
          <a:ln w="12700">
            <a:solidFill>
              <a:srgbClr val="EF476F"/>
            </a:solidFill>
            <a:prstDash val="solid"/>
          </a:ln>
        </p:spPr>
      </p:sp>
      <p:sp>
        <p:nvSpPr>
          <p:cNvPr id="65889042" name="Text 16"/>
          <p:cNvSpPr/>
          <p:nvPr/>
        </p:nvSpPr>
        <p:spPr bwMode="auto">
          <a:xfrm>
            <a:off x="6876288" y="713232"/>
            <a:ext cx="1828800" cy="274320"/>
          </a:xfrm>
          <a:prstGeom prst="rect">
            <a:avLst/>
          </a:prstGeom>
          <a:noFill/>
          <a:ln/>
        </p:spPr>
        <p:txBody>
          <a:bodyPr wrap="square" lIns="0" tIns="0" rIns="0" bIns="0" rtlCol="0" anchor="ctr"/>
          <a:lstStyle/>
          <a:p>
            <a:pPr marL="0" indent="0" algn="ctr">
              <a:buNone/>
              <a:defRPr/>
            </a:pPr>
            <a:r>
              <a:rPr lang="en-US" sz="1200" b="1">
                <a:solidFill>
                  <a:srgbClr val="FFFFFF"/>
                </a:solidFill>
              </a:rPr>
              <a:t>waypoint</a:t>
            </a:r>
            <a:endParaRPr lang="en-US" sz="1200"/>
          </a:p>
        </p:txBody>
      </p:sp>
      <p:sp>
        <p:nvSpPr>
          <p:cNvPr id="1230507559" name="Text 17"/>
          <p:cNvSpPr/>
          <p:nvPr/>
        </p:nvSpPr>
        <p:spPr bwMode="auto">
          <a:xfrm>
            <a:off x="6876288" y="1078992"/>
            <a:ext cx="1828800" cy="914400"/>
          </a:xfrm>
          <a:prstGeom prst="rect">
            <a:avLst/>
          </a:prstGeom>
          <a:noFill/>
          <a:ln/>
        </p:spPr>
        <p:txBody>
          <a:bodyPr wrap="square" lIns="0" tIns="0" rIns="0" bIns="0" rtlCol="0" anchor="ctr"/>
          <a:lstStyle/>
          <a:p>
            <a:pPr marL="0" indent="0" algn="l">
              <a:buNone/>
              <a:defRPr/>
            </a:pPr>
            <a:r>
              <a:rPr lang="en-US" sz="1000">
                <a:solidFill>
                  <a:srgbClr val="B8C8DC"/>
                </a:solidFill>
              </a:rPr>
              <a:t>User-defined sequential GPS coordinate list with per-waypoint altitude and speed control</a:t>
            </a:r>
            <a:endParaRPr lang="en-US" sz="1000"/>
          </a:p>
        </p:txBody>
      </p:sp>
      <p:sp>
        <p:nvSpPr>
          <p:cNvPr id="1283260078" name="Shape 18"/>
          <p:cNvSpPr/>
          <p:nvPr/>
        </p:nvSpPr>
        <p:spPr bwMode="auto">
          <a:xfrm>
            <a:off x="2761488" y="2269998"/>
            <a:ext cx="4114800" cy="2651760"/>
          </a:xfrm>
          <a:prstGeom prst="rect">
            <a:avLst/>
          </a:prstGeom>
          <a:solidFill>
            <a:srgbClr val="0D1117"/>
          </a:solidFill>
          <a:ln w="12700">
            <a:solidFill>
              <a:srgbClr val="0077B6"/>
            </a:solidFill>
            <a:prstDash val="solid"/>
          </a:ln>
        </p:spPr>
      </p:sp>
      <p:sp>
        <p:nvSpPr>
          <p:cNvPr id="916089514" name="Text 19"/>
          <p:cNvSpPr/>
          <p:nvPr/>
        </p:nvSpPr>
        <p:spPr bwMode="auto">
          <a:xfrm>
            <a:off x="2852928" y="2315718"/>
            <a:ext cx="3840480" cy="256032"/>
          </a:xfrm>
          <a:prstGeom prst="rect">
            <a:avLst/>
          </a:prstGeom>
          <a:noFill/>
          <a:ln/>
        </p:spPr>
        <p:txBody>
          <a:bodyPr wrap="square" lIns="0" tIns="0" rIns="0" bIns="0" rtlCol="0" anchor="ctr"/>
          <a:lstStyle/>
          <a:p>
            <a:pPr marL="0" indent="0">
              <a:buNone/>
              <a:defRPr/>
            </a:pPr>
            <a:r>
              <a:rPr lang="en-US" sz="1000" b="1">
                <a:solidFill>
                  <a:srgbClr val="00B4D8"/>
                </a:solidFill>
              </a:rPr>
              <a:t>Example JSON Schema</a:t>
            </a:r>
            <a:endParaRPr lang="en-US" sz="1000"/>
          </a:p>
        </p:txBody>
      </p:sp>
      <p:sp>
        <p:nvSpPr>
          <p:cNvPr id="1980119167" name="Text 20"/>
          <p:cNvSpPr/>
          <p:nvPr/>
        </p:nvSpPr>
        <p:spPr bwMode="auto">
          <a:xfrm>
            <a:off x="2898648" y="2617470"/>
            <a:ext cx="3840480" cy="182880"/>
          </a:xfrm>
          <a:prstGeom prst="rect">
            <a:avLst/>
          </a:prstGeom>
          <a:noFill/>
          <a:ln/>
        </p:spPr>
        <p:txBody>
          <a:bodyPr wrap="square" lIns="0" tIns="0" rIns="0" bIns="0" rtlCol="0" anchor="ctr"/>
          <a:lstStyle/>
          <a:p>
            <a:pPr marL="0" indent="0">
              <a:buNone/>
              <a:defRPr/>
            </a:pPr>
            <a:r>
              <a:rPr lang="en-US" sz="900">
                <a:solidFill>
                  <a:srgbClr val="FFFFFF"/>
                </a:solidFill>
                <a:latin typeface="Consolas"/>
                <a:ea typeface="Consolas"/>
                <a:cs typeface="Consolas"/>
              </a:rPr>
              <a:t>{</a:t>
            </a:r>
            <a:endParaRPr lang="en-US" sz="900"/>
          </a:p>
        </p:txBody>
      </p:sp>
      <p:sp>
        <p:nvSpPr>
          <p:cNvPr id="1662693768" name="Text 21"/>
          <p:cNvSpPr/>
          <p:nvPr/>
        </p:nvSpPr>
        <p:spPr bwMode="auto">
          <a:xfrm>
            <a:off x="2898648" y="2795778"/>
            <a:ext cx="3840480" cy="182880"/>
          </a:xfrm>
          <a:prstGeom prst="rect">
            <a:avLst/>
          </a:prstGeom>
          <a:noFill/>
          <a:ln/>
        </p:spPr>
        <p:txBody>
          <a:bodyPr wrap="square" lIns="0" tIns="0" rIns="0" bIns="0" rtlCol="0" anchor="ctr"/>
          <a:lstStyle/>
          <a:p>
            <a:pPr marL="0" indent="0">
              <a:buNone/>
              <a:defRPr/>
            </a:pPr>
            <a:r>
              <a:rPr lang="en-US" sz="900">
                <a:solidFill>
                  <a:srgbClr val="B8C8DC"/>
                </a:solidFill>
                <a:latin typeface="Consolas"/>
                <a:ea typeface="Consolas"/>
                <a:cs typeface="Consolas"/>
              </a:rPr>
              <a:t>  "mission_type": "grid",</a:t>
            </a:r>
            <a:endParaRPr lang="en-US" sz="900"/>
          </a:p>
        </p:txBody>
      </p:sp>
      <p:sp>
        <p:nvSpPr>
          <p:cNvPr id="1972696896" name="Text 22"/>
          <p:cNvSpPr/>
          <p:nvPr/>
        </p:nvSpPr>
        <p:spPr bwMode="auto">
          <a:xfrm>
            <a:off x="2898648" y="2974086"/>
            <a:ext cx="3840480" cy="182880"/>
          </a:xfrm>
          <a:prstGeom prst="rect">
            <a:avLst/>
          </a:prstGeom>
          <a:noFill/>
          <a:ln/>
        </p:spPr>
        <p:txBody>
          <a:bodyPr wrap="square" lIns="0" tIns="0" rIns="0" bIns="0" rtlCol="0" anchor="ctr"/>
          <a:lstStyle/>
          <a:p>
            <a:pPr marL="0" indent="0">
              <a:buNone/>
              <a:defRPr/>
            </a:pPr>
            <a:r>
              <a:rPr lang="en-US" sz="900">
                <a:solidFill>
                  <a:srgbClr val="B8C8DC"/>
                </a:solidFill>
                <a:latin typeface="Consolas"/>
                <a:ea typeface="Consolas"/>
                <a:cs typeface="Consolas"/>
              </a:rPr>
              <a:t>  "location": {</a:t>
            </a:r>
            <a:endParaRPr lang="en-US" sz="900"/>
          </a:p>
        </p:txBody>
      </p:sp>
      <p:sp>
        <p:nvSpPr>
          <p:cNvPr id="872173106" name="Text 23"/>
          <p:cNvSpPr/>
          <p:nvPr/>
        </p:nvSpPr>
        <p:spPr bwMode="auto">
          <a:xfrm>
            <a:off x="2898648" y="3152394"/>
            <a:ext cx="3840480" cy="182880"/>
          </a:xfrm>
          <a:prstGeom prst="rect">
            <a:avLst/>
          </a:prstGeom>
          <a:noFill/>
          <a:ln/>
        </p:spPr>
        <p:txBody>
          <a:bodyPr wrap="square" lIns="0" tIns="0" rIns="0" bIns="0" rtlCol="0" anchor="ctr"/>
          <a:lstStyle/>
          <a:p>
            <a:pPr marL="0" indent="0">
              <a:buNone/>
              <a:defRPr/>
            </a:pPr>
            <a:r>
              <a:rPr lang="en-US" sz="900">
                <a:solidFill>
                  <a:srgbClr val="06D6A0"/>
                </a:solidFill>
                <a:latin typeface="Consolas"/>
                <a:ea typeface="Consolas"/>
                <a:cs typeface="Consolas"/>
              </a:rPr>
              <a:t>    "center_lat": 15.4589,</a:t>
            </a:r>
            <a:endParaRPr lang="en-US" sz="900"/>
          </a:p>
        </p:txBody>
      </p:sp>
      <p:sp>
        <p:nvSpPr>
          <p:cNvPr id="1362567308" name="Text 24"/>
          <p:cNvSpPr/>
          <p:nvPr/>
        </p:nvSpPr>
        <p:spPr bwMode="auto">
          <a:xfrm>
            <a:off x="2898648" y="3330702"/>
            <a:ext cx="3840480" cy="182880"/>
          </a:xfrm>
          <a:prstGeom prst="rect">
            <a:avLst/>
          </a:prstGeom>
          <a:noFill/>
          <a:ln/>
        </p:spPr>
        <p:txBody>
          <a:bodyPr wrap="square" lIns="0" tIns="0" rIns="0" bIns="0" rtlCol="0" anchor="ctr"/>
          <a:lstStyle/>
          <a:p>
            <a:pPr marL="0" indent="0">
              <a:buNone/>
              <a:defRPr/>
            </a:pPr>
            <a:r>
              <a:rPr lang="en-US" sz="900">
                <a:solidFill>
                  <a:srgbClr val="06D6A0"/>
                </a:solidFill>
                <a:latin typeface="Consolas"/>
                <a:ea typeface="Consolas"/>
                <a:cs typeface="Consolas"/>
              </a:rPr>
              <a:t>    "center_lon": 78.4677,</a:t>
            </a:r>
            <a:endParaRPr lang="en-US" sz="900"/>
          </a:p>
        </p:txBody>
      </p:sp>
      <p:sp>
        <p:nvSpPr>
          <p:cNvPr id="823833163" name="Text 25"/>
          <p:cNvSpPr/>
          <p:nvPr/>
        </p:nvSpPr>
        <p:spPr bwMode="auto">
          <a:xfrm>
            <a:off x="2898648" y="3509010"/>
            <a:ext cx="3840480" cy="182880"/>
          </a:xfrm>
          <a:prstGeom prst="rect">
            <a:avLst/>
          </a:prstGeom>
          <a:noFill/>
          <a:ln/>
        </p:spPr>
        <p:txBody>
          <a:bodyPr wrap="square" lIns="0" tIns="0" rIns="0" bIns="0" rtlCol="0" anchor="ctr"/>
          <a:lstStyle/>
          <a:p>
            <a:pPr marL="0" indent="0">
              <a:buNone/>
              <a:defRPr/>
            </a:pPr>
            <a:r>
              <a:rPr lang="en-US" sz="900">
                <a:solidFill>
                  <a:srgbClr val="06D6A0"/>
                </a:solidFill>
                <a:latin typeface="Consolas"/>
                <a:ea typeface="Consolas"/>
                <a:cs typeface="Consolas"/>
              </a:rPr>
              <a:t>    "width_m": 200,</a:t>
            </a:r>
            <a:endParaRPr lang="en-US" sz="900"/>
          </a:p>
        </p:txBody>
      </p:sp>
      <p:sp>
        <p:nvSpPr>
          <p:cNvPr id="107085109" name="Text 26"/>
          <p:cNvSpPr/>
          <p:nvPr/>
        </p:nvSpPr>
        <p:spPr bwMode="auto">
          <a:xfrm>
            <a:off x="2898648" y="3687318"/>
            <a:ext cx="3840480" cy="182880"/>
          </a:xfrm>
          <a:prstGeom prst="rect">
            <a:avLst/>
          </a:prstGeom>
          <a:noFill/>
          <a:ln/>
        </p:spPr>
        <p:txBody>
          <a:bodyPr wrap="square" lIns="0" tIns="0" rIns="0" bIns="0" rtlCol="0" anchor="ctr"/>
          <a:lstStyle/>
          <a:p>
            <a:pPr marL="0" indent="0">
              <a:buNone/>
              <a:defRPr/>
            </a:pPr>
            <a:r>
              <a:rPr lang="en-US" sz="900">
                <a:solidFill>
                  <a:srgbClr val="06D6A0"/>
                </a:solidFill>
                <a:latin typeface="Consolas"/>
                <a:ea typeface="Consolas"/>
                <a:cs typeface="Consolas"/>
              </a:rPr>
              <a:t>    "height_m": 200</a:t>
            </a:r>
            <a:endParaRPr lang="en-US" sz="900"/>
          </a:p>
        </p:txBody>
      </p:sp>
      <p:sp>
        <p:nvSpPr>
          <p:cNvPr id="1438921666" name="Text 27"/>
          <p:cNvSpPr/>
          <p:nvPr/>
        </p:nvSpPr>
        <p:spPr bwMode="auto">
          <a:xfrm>
            <a:off x="2898648" y="3865626"/>
            <a:ext cx="3840480" cy="182880"/>
          </a:xfrm>
          <a:prstGeom prst="rect">
            <a:avLst/>
          </a:prstGeom>
          <a:noFill/>
          <a:ln/>
        </p:spPr>
        <p:txBody>
          <a:bodyPr wrap="square" lIns="0" tIns="0" rIns="0" bIns="0" rtlCol="0" anchor="ctr"/>
          <a:lstStyle/>
          <a:p>
            <a:pPr marL="0" indent="0">
              <a:buNone/>
              <a:defRPr/>
            </a:pPr>
            <a:r>
              <a:rPr lang="en-US" sz="900">
                <a:solidFill>
                  <a:srgbClr val="B8C8DC"/>
                </a:solidFill>
                <a:latin typeface="Consolas"/>
                <a:ea typeface="Consolas"/>
                <a:cs typeface="Consolas"/>
              </a:rPr>
              <a:t>  },</a:t>
            </a:r>
            <a:endParaRPr lang="en-US" sz="900"/>
          </a:p>
        </p:txBody>
      </p:sp>
      <p:sp>
        <p:nvSpPr>
          <p:cNvPr id="1972048051" name="Text 28"/>
          <p:cNvSpPr/>
          <p:nvPr/>
        </p:nvSpPr>
        <p:spPr bwMode="auto">
          <a:xfrm>
            <a:off x="2898648" y="4043934"/>
            <a:ext cx="3840480" cy="182880"/>
          </a:xfrm>
          <a:prstGeom prst="rect">
            <a:avLst/>
          </a:prstGeom>
          <a:noFill/>
          <a:ln/>
        </p:spPr>
        <p:txBody>
          <a:bodyPr wrap="square" lIns="0" tIns="0" rIns="0" bIns="0" rtlCol="0" anchor="ctr"/>
          <a:lstStyle/>
          <a:p>
            <a:pPr marL="0" indent="0">
              <a:buNone/>
              <a:defRPr/>
            </a:pPr>
            <a:r>
              <a:rPr lang="en-US" sz="900">
                <a:solidFill>
                  <a:srgbClr val="FFB703"/>
                </a:solidFill>
                <a:latin typeface="Consolas"/>
                <a:ea typeface="Consolas"/>
                <a:cs typeface="Consolas"/>
              </a:rPr>
              <a:t>  "altitude": 50,</a:t>
            </a:r>
            <a:endParaRPr lang="en-US" sz="900"/>
          </a:p>
        </p:txBody>
      </p:sp>
      <p:sp>
        <p:nvSpPr>
          <p:cNvPr id="559410715" name="Text 29"/>
          <p:cNvSpPr/>
          <p:nvPr/>
        </p:nvSpPr>
        <p:spPr bwMode="auto">
          <a:xfrm>
            <a:off x="2898648" y="4222242"/>
            <a:ext cx="3840480" cy="182880"/>
          </a:xfrm>
          <a:prstGeom prst="rect">
            <a:avLst/>
          </a:prstGeom>
          <a:noFill/>
          <a:ln/>
        </p:spPr>
        <p:txBody>
          <a:bodyPr wrap="square" lIns="0" tIns="0" rIns="0" bIns="0" rtlCol="0" anchor="ctr"/>
          <a:lstStyle/>
          <a:p>
            <a:pPr marL="0" indent="0">
              <a:buNone/>
              <a:defRPr/>
            </a:pPr>
            <a:r>
              <a:rPr lang="en-US" sz="900">
                <a:solidFill>
                  <a:srgbClr val="FFB703"/>
                </a:solidFill>
                <a:latin typeface="Consolas"/>
                <a:ea typeface="Consolas"/>
                <a:cs typeface="Consolas"/>
              </a:rPr>
              <a:t>  "speed": 8.0,</a:t>
            </a:r>
            <a:endParaRPr lang="en-US" sz="900"/>
          </a:p>
        </p:txBody>
      </p:sp>
      <p:sp>
        <p:nvSpPr>
          <p:cNvPr id="698084034" name="Text 30"/>
          <p:cNvSpPr/>
          <p:nvPr/>
        </p:nvSpPr>
        <p:spPr bwMode="auto">
          <a:xfrm>
            <a:off x="2898648" y="4400550"/>
            <a:ext cx="3840480" cy="182880"/>
          </a:xfrm>
          <a:prstGeom prst="rect">
            <a:avLst/>
          </a:prstGeom>
          <a:noFill/>
          <a:ln/>
        </p:spPr>
        <p:txBody>
          <a:bodyPr wrap="square" lIns="0" tIns="0" rIns="0" bIns="0" rtlCol="0" anchor="ctr"/>
          <a:lstStyle/>
          <a:p>
            <a:pPr marL="0" indent="0">
              <a:buNone/>
              <a:defRPr/>
            </a:pPr>
            <a:r>
              <a:rPr lang="en-US" sz="900">
                <a:solidFill>
                  <a:srgbClr val="FFB703"/>
                </a:solidFill>
                <a:latin typeface="Consolas"/>
                <a:ea typeface="Consolas"/>
                <a:cs typeface="Consolas"/>
              </a:rPr>
              <a:t>  "row_spacing": 20</a:t>
            </a:r>
            <a:endParaRPr lang="en-US" sz="900"/>
          </a:p>
        </p:txBody>
      </p:sp>
      <p:sp>
        <p:nvSpPr>
          <p:cNvPr id="1688489521" name="Text 31"/>
          <p:cNvSpPr/>
          <p:nvPr/>
        </p:nvSpPr>
        <p:spPr bwMode="auto">
          <a:xfrm>
            <a:off x="2898648" y="4578858"/>
            <a:ext cx="3840480" cy="182880"/>
          </a:xfrm>
          <a:prstGeom prst="rect">
            <a:avLst/>
          </a:prstGeom>
          <a:noFill/>
          <a:ln/>
        </p:spPr>
        <p:txBody>
          <a:bodyPr wrap="square" lIns="0" tIns="0" rIns="0" bIns="0" rtlCol="0" anchor="ctr"/>
          <a:lstStyle/>
          <a:p>
            <a:pPr marL="0" indent="0">
              <a:buNone/>
              <a:defRPr/>
            </a:pPr>
            <a:r>
              <a:rPr lang="en-US" sz="900">
                <a:solidFill>
                  <a:srgbClr val="FFFFFF"/>
                </a:solidFill>
                <a:latin typeface="Consolas"/>
                <a:ea typeface="Consolas"/>
                <a:cs typeface="Consolas"/>
              </a:rPr>
              <a:t>}</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Slide 7">
    <p:bg>
      <p:bgPr shadeToTitle="0">
        <a:solidFill>
          <a:srgbClr val="0A1628"/>
        </a:solidFill>
      </p:bgPr>
    </p:bg>
    <p:spTree>
      <p:nvGrpSpPr>
        <p:cNvPr id="1" name=""/>
        <p:cNvGrpSpPr/>
        <p:nvPr/>
      </p:nvGrpSpPr>
      <p:grpSpPr bwMode="auto">
        <a:xfrm>
          <a:off x="0" y="0"/>
          <a:ext cx="0" cy="0"/>
          <a:chOff x="0" y="0"/>
          <a:chExt cx="0" cy="0"/>
        </a:xfrm>
      </p:grpSpPr>
      <p:sp>
        <p:nvSpPr>
          <p:cNvPr id="199116979" name="Shape 0"/>
          <p:cNvSpPr/>
          <p:nvPr/>
        </p:nvSpPr>
        <p:spPr bwMode="auto">
          <a:xfrm>
            <a:off x="0" y="0"/>
            <a:ext cx="9144000" cy="73152"/>
          </a:xfrm>
          <a:prstGeom prst="rect">
            <a:avLst/>
          </a:prstGeom>
          <a:solidFill>
            <a:srgbClr val="00B4D8"/>
          </a:solidFill>
          <a:ln w="12700">
            <a:solidFill>
              <a:srgbClr val="00B4D8"/>
            </a:solidFill>
            <a:prstDash val="solid"/>
          </a:ln>
        </p:spPr>
      </p:sp>
      <p:sp>
        <p:nvSpPr>
          <p:cNvPr id="1383747059" name="Text 1"/>
          <p:cNvSpPr/>
          <p:nvPr/>
        </p:nvSpPr>
        <p:spPr bwMode="auto">
          <a:xfrm>
            <a:off x="365760" y="137160"/>
            <a:ext cx="8229600" cy="411480"/>
          </a:xfrm>
          <a:prstGeom prst="rect">
            <a:avLst/>
          </a:prstGeom>
          <a:noFill/>
          <a:ln/>
        </p:spPr>
        <p:txBody>
          <a:bodyPr wrap="square" lIns="0" tIns="0" rIns="0" bIns="0" rtlCol="0" anchor="ctr"/>
          <a:lstStyle/>
          <a:p>
            <a:pPr marL="0" indent="0">
              <a:buNone/>
              <a:defRPr/>
            </a:pPr>
            <a:r>
              <a:rPr lang="en-US" sz="2400" b="1">
                <a:solidFill>
                  <a:srgbClr val="FFFFFF"/>
                </a:solidFill>
              </a:rPr>
              <a:t>Grid Survey Planner</a:t>
            </a:r>
            <a:endParaRPr lang="en-US" sz="2400"/>
          </a:p>
        </p:txBody>
      </p:sp>
      <p:sp>
        <p:nvSpPr>
          <p:cNvPr id="1559965599" name="Shape 2"/>
          <p:cNvSpPr/>
          <p:nvPr/>
        </p:nvSpPr>
        <p:spPr bwMode="auto">
          <a:xfrm>
            <a:off x="274320" y="777240"/>
            <a:ext cx="411480" cy="411480"/>
          </a:xfrm>
          <a:prstGeom prst="ellipse">
            <a:avLst/>
          </a:prstGeom>
          <a:solidFill>
            <a:srgbClr val="06D6A0"/>
          </a:solidFill>
          <a:ln w="12700">
            <a:solidFill>
              <a:srgbClr val="06D6A0"/>
            </a:solidFill>
            <a:prstDash val="solid"/>
          </a:ln>
        </p:spPr>
      </p:sp>
      <p:sp>
        <p:nvSpPr>
          <p:cNvPr id="278937502" name="Text 3"/>
          <p:cNvSpPr/>
          <p:nvPr/>
        </p:nvSpPr>
        <p:spPr bwMode="auto">
          <a:xfrm>
            <a:off x="274320" y="777240"/>
            <a:ext cx="411480" cy="411480"/>
          </a:xfrm>
          <a:prstGeom prst="rect">
            <a:avLst/>
          </a:prstGeom>
          <a:noFill/>
          <a:ln/>
        </p:spPr>
        <p:txBody>
          <a:bodyPr wrap="square" lIns="0" tIns="0" rIns="0" bIns="0" rtlCol="0" anchor="ctr"/>
          <a:lstStyle/>
          <a:p>
            <a:pPr marL="0" indent="0" algn="ctr">
              <a:buNone/>
              <a:defRPr/>
            </a:pPr>
            <a:r>
              <a:rPr lang="en-US" sz="1400" b="1">
                <a:solidFill>
                  <a:srgbClr val="0A1628"/>
                </a:solidFill>
              </a:rPr>
              <a:t>1</a:t>
            </a:r>
            <a:endParaRPr lang="en-US" sz="1400"/>
          </a:p>
        </p:txBody>
      </p:sp>
      <p:sp>
        <p:nvSpPr>
          <p:cNvPr id="857762389" name="Text 4"/>
          <p:cNvSpPr/>
          <p:nvPr/>
        </p:nvSpPr>
        <p:spPr bwMode="auto">
          <a:xfrm>
            <a:off x="777240" y="777240"/>
            <a:ext cx="3474720" cy="228600"/>
          </a:xfrm>
          <a:prstGeom prst="rect">
            <a:avLst/>
          </a:prstGeom>
          <a:noFill/>
          <a:ln/>
        </p:spPr>
        <p:txBody>
          <a:bodyPr wrap="square" lIns="0" tIns="0" rIns="0" bIns="0" rtlCol="0" anchor="ctr"/>
          <a:lstStyle/>
          <a:p>
            <a:pPr marL="0" indent="0">
              <a:buNone/>
              <a:defRPr/>
            </a:pPr>
            <a:r>
              <a:rPr lang="en-US" sz="1200" b="1">
                <a:solidFill>
                  <a:srgbClr val="06D6A0"/>
                </a:solidFill>
              </a:rPr>
              <a:t>Bounding Box Generation</a:t>
            </a:r>
            <a:endParaRPr lang="en-US" sz="1200"/>
          </a:p>
        </p:txBody>
      </p:sp>
      <p:sp>
        <p:nvSpPr>
          <p:cNvPr id="569229603" name="Text 5"/>
          <p:cNvSpPr/>
          <p:nvPr/>
        </p:nvSpPr>
        <p:spPr bwMode="auto">
          <a:xfrm>
            <a:off x="777240" y="1005840"/>
            <a:ext cx="3520440" cy="548640"/>
          </a:xfrm>
          <a:prstGeom prst="rect">
            <a:avLst/>
          </a:prstGeom>
          <a:noFill/>
          <a:ln/>
        </p:spPr>
        <p:txBody>
          <a:bodyPr wrap="square" lIns="0" tIns="0" rIns="0" bIns="0" rtlCol="0" anchor="ctr"/>
          <a:lstStyle/>
          <a:p>
            <a:pPr marL="0" indent="0">
              <a:buNone/>
              <a:defRPr/>
            </a:pPr>
            <a:r>
              <a:rPr lang="en-US" sz="1000">
                <a:solidFill>
                  <a:srgbClr val="B8C8DC"/>
                </a:solidFill>
              </a:rPr>
              <a:t>Center GPS coordinates + width/height (meters) are converted to NW, NE, SW, SE corner waypoints using Haversine formula</a:t>
            </a:r>
            <a:endParaRPr lang="en-US" sz="1000"/>
          </a:p>
        </p:txBody>
      </p:sp>
      <p:sp>
        <p:nvSpPr>
          <p:cNvPr id="1686002801" name="Shape 6"/>
          <p:cNvSpPr/>
          <p:nvPr/>
        </p:nvSpPr>
        <p:spPr bwMode="auto">
          <a:xfrm flipH="0" flipV="0">
            <a:off x="480060" y="1188720"/>
            <a:ext cx="0" cy="594359"/>
          </a:xfrm>
          <a:prstGeom prst="line">
            <a:avLst/>
          </a:prstGeom>
          <a:noFill/>
          <a:ln w="19050">
            <a:solidFill>
              <a:srgbClr val="06D6A0"/>
            </a:solidFill>
            <a:prstDash val="solid"/>
          </a:ln>
        </p:spPr>
      </p:sp>
      <p:sp>
        <p:nvSpPr>
          <p:cNvPr id="278563452" name="Shape 7"/>
          <p:cNvSpPr/>
          <p:nvPr/>
        </p:nvSpPr>
        <p:spPr bwMode="auto">
          <a:xfrm>
            <a:off x="274320" y="1783080"/>
            <a:ext cx="411480" cy="411480"/>
          </a:xfrm>
          <a:prstGeom prst="ellipse">
            <a:avLst/>
          </a:prstGeom>
          <a:solidFill>
            <a:srgbClr val="06D6A0"/>
          </a:solidFill>
          <a:ln w="12700">
            <a:solidFill>
              <a:srgbClr val="06D6A0"/>
            </a:solidFill>
            <a:prstDash val="solid"/>
          </a:ln>
        </p:spPr>
      </p:sp>
      <p:sp>
        <p:nvSpPr>
          <p:cNvPr id="723358976" name="Text 8"/>
          <p:cNvSpPr/>
          <p:nvPr/>
        </p:nvSpPr>
        <p:spPr bwMode="auto">
          <a:xfrm>
            <a:off x="274320" y="1783080"/>
            <a:ext cx="411480" cy="411480"/>
          </a:xfrm>
          <a:prstGeom prst="rect">
            <a:avLst/>
          </a:prstGeom>
          <a:noFill/>
          <a:ln/>
        </p:spPr>
        <p:txBody>
          <a:bodyPr wrap="square" lIns="0" tIns="0" rIns="0" bIns="0" rtlCol="0" anchor="ctr"/>
          <a:lstStyle/>
          <a:p>
            <a:pPr marL="0" indent="0" algn="ctr">
              <a:buNone/>
              <a:defRPr/>
            </a:pPr>
            <a:r>
              <a:rPr lang="en-US" sz="1400" b="1">
                <a:solidFill>
                  <a:srgbClr val="0A1628"/>
                </a:solidFill>
              </a:rPr>
              <a:t>2</a:t>
            </a:r>
            <a:endParaRPr lang="en-US" sz="1400"/>
          </a:p>
        </p:txBody>
      </p:sp>
      <p:sp>
        <p:nvSpPr>
          <p:cNvPr id="1730375741" name="Text 9"/>
          <p:cNvSpPr/>
          <p:nvPr/>
        </p:nvSpPr>
        <p:spPr bwMode="auto">
          <a:xfrm>
            <a:off x="777240" y="1783080"/>
            <a:ext cx="3474720" cy="228600"/>
          </a:xfrm>
          <a:prstGeom prst="rect">
            <a:avLst/>
          </a:prstGeom>
          <a:noFill/>
          <a:ln/>
        </p:spPr>
        <p:txBody>
          <a:bodyPr wrap="square" lIns="0" tIns="0" rIns="0" bIns="0" rtlCol="0" anchor="ctr"/>
          <a:lstStyle/>
          <a:p>
            <a:pPr marL="0" indent="0">
              <a:buNone/>
              <a:defRPr/>
            </a:pPr>
            <a:r>
              <a:rPr lang="en-US" sz="1200" b="1">
                <a:solidFill>
                  <a:srgbClr val="06D6A0"/>
                </a:solidFill>
              </a:rPr>
              <a:t>Row Spacing Calculation</a:t>
            </a:r>
            <a:endParaRPr lang="en-US" sz="1200"/>
          </a:p>
        </p:txBody>
      </p:sp>
      <p:sp>
        <p:nvSpPr>
          <p:cNvPr id="401193282" name="Text 10"/>
          <p:cNvSpPr/>
          <p:nvPr/>
        </p:nvSpPr>
        <p:spPr bwMode="auto">
          <a:xfrm>
            <a:off x="777240" y="2011680"/>
            <a:ext cx="3520440" cy="548640"/>
          </a:xfrm>
          <a:prstGeom prst="rect">
            <a:avLst/>
          </a:prstGeom>
          <a:noFill/>
          <a:ln/>
        </p:spPr>
        <p:txBody>
          <a:bodyPr wrap="square" lIns="0" tIns="0" rIns="0" bIns="0" rtlCol="0" anchor="ctr"/>
          <a:lstStyle/>
          <a:p>
            <a:pPr marL="0" indent="0">
              <a:buNone/>
              <a:defRPr/>
            </a:pPr>
            <a:r>
              <a:rPr lang="en-US" sz="1000">
                <a:solidFill>
                  <a:srgbClr val="B8C8DC"/>
                </a:solidFill>
              </a:rPr>
              <a:t>Survey area divided into parallel passes separated by configurable row_spacing. Direction toggles E-W or N-S based on aspect ratio</a:t>
            </a:r>
            <a:endParaRPr lang="en-US" sz="1000"/>
          </a:p>
        </p:txBody>
      </p:sp>
      <p:sp>
        <p:nvSpPr>
          <p:cNvPr id="458446548" name="Shape 11"/>
          <p:cNvSpPr/>
          <p:nvPr/>
        </p:nvSpPr>
        <p:spPr bwMode="auto">
          <a:xfrm flipH="0" flipV="0">
            <a:off x="480060" y="2194560"/>
            <a:ext cx="0" cy="612647"/>
          </a:xfrm>
          <a:prstGeom prst="line">
            <a:avLst/>
          </a:prstGeom>
          <a:noFill/>
          <a:ln w="19050">
            <a:solidFill>
              <a:srgbClr val="06D6A0"/>
            </a:solidFill>
            <a:prstDash val="solid"/>
          </a:ln>
        </p:spPr>
      </p:sp>
      <p:sp>
        <p:nvSpPr>
          <p:cNvPr id="702327857" name="Shape 12"/>
          <p:cNvSpPr/>
          <p:nvPr/>
        </p:nvSpPr>
        <p:spPr bwMode="auto">
          <a:xfrm>
            <a:off x="274320" y="2788920"/>
            <a:ext cx="411480" cy="411480"/>
          </a:xfrm>
          <a:prstGeom prst="ellipse">
            <a:avLst/>
          </a:prstGeom>
          <a:solidFill>
            <a:srgbClr val="06D6A0"/>
          </a:solidFill>
          <a:ln w="12700">
            <a:solidFill>
              <a:srgbClr val="06D6A0"/>
            </a:solidFill>
            <a:prstDash val="solid"/>
          </a:ln>
        </p:spPr>
      </p:sp>
      <p:sp>
        <p:nvSpPr>
          <p:cNvPr id="382739386" name="Text 13"/>
          <p:cNvSpPr/>
          <p:nvPr/>
        </p:nvSpPr>
        <p:spPr bwMode="auto">
          <a:xfrm>
            <a:off x="274320" y="2788920"/>
            <a:ext cx="411480" cy="411480"/>
          </a:xfrm>
          <a:prstGeom prst="rect">
            <a:avLst/>
          </a:prstGeom>
          <a:noFill/>
          <a:ln/>
        </p:spPr>
        <p:txBody>
          <a:bodyPr wrap="square" lIns="0" tIns="0" rIns="0" bIns="0" rtlCol="0" anchor="ctr"/>
          <a:lstStyle/>
          <a:p>
            <a:pPr marL="0" indent="0" algn="ctr">
              <a:buNone/>
              <a:defRPr/>
            </a:pPr>
            <a:r>
              <a:rPr lang="en-US" sz="1400" b="1">
                <a:solidFill>
                  <a:srgbClr val="0A1628"/>
                </a:solidFill>
              </a:rPr>
              <a:t>3</a:t>
            </a:r>
            <a:endParaRPr lang="en-US" sz="1400"/>
          </a:p>
        </p:txBody>
      </p:sp>
      <p:sp>
        <p:nvSpPr>
          <p:cNvPr id="1727779564" name="Text 14"/>
          <p:cNvSpPr/>
          <p:nvPr/>
        </p:nvSpPr>
        <p:spPr bwMode="auto">
          <a:xfrm>
            <a:off x="777240" y="2788920"/>
            <a:ext cx="3474720" cy="228600"/>
          </a:xfrm>
          <a:prstGeom prst="rect">
            <a:avLst/>
          </a:prstGeom>
          <a:noFill/>
          <a:ln/>
        </p:spPr>
        <p:txBody>
          <a:bodyPr wrap="square" lIns="0" tIns="0" rIns="0" bIns="0" rtlCol="0" anchor="ctr"/>
          <a:lstStyle/>
          <a:p>
            <a:pPr marL="0" indent="0">
              <a:buNone/>
              <a:defRPr/>
            </a:pPr>
            <a:r>
              <a:rPr lang="en-US" sz="1200" b="1">
                <a:solidFill>
                  <a:srgbClr val="06D6A0"/>
                </a:solidFill>
              </a:rPr>
              <a:t>Lawnmower Pattern</a:t>
            </a:r>
            <a:endParaRPr lang="en-US" sz="1200"/>
          </a:p>
        </p:txBody>
      </p:sp>
      <p:sp>
        <p:nvSpPr>
          <p:cNvPr id="1666549694" name="Text 15"/>
          <p:cNvSpPr/>
          <p:nvPr/>
        </p:nvSpPr>
        <p:spPr bwMode="auto">
          <a:xfrm>
            <a:off x="777240" y="3017519"/>
            <a:ext cx="3520440" cy="548640"/>
          </a:xfrm>
          <a:prstGeom prst="rect">
            <a:avLst/>
          </a:prstGeom>
          <a:noFill/>
          <a:ln/>
        </p:spPr>
        <p:txBody>
          <a:bodyPr wrap="square" lIns="0" tIns="0" rIns="0" bIns="0" rtlCol="0" anchor="ctr"/>
          <a:lstStyle/>
          <a:p>
            <a:pPr marL="0" indent="0">
              <a:buNone/>
              <a:defRPr/>
            </a:pPr>
            <a:r>
              <a:rPr lang="en-US" sz="1000">
                <a:solidFill>
                  <a:srgbClr val="B8C8DC"/>
                </a:solidFill>
              </a:rPr>
              <a:t>Alternating-direction passes (left→right, right→left) ensure 100% area coverage with minimal UAV turning</a:t>
            </a:r>
            <a:endParaRPr lang="en-US" sz="1000"/>
          </a:p>
        </p:txBody>
      </p:sp>
      <p:sp>
        <p:nvSpPr>
          <p:cNvPr id="652156117" name="Shape 16"/>
          <p:cNvSpPr/>
          <p:nvPr/>
        </p:nvSpPr>
        <p:spPr bwMode="auto">
          <a:xfrm flipH="0" flipV="0">
            <a:off x="480060" y="3200400"/>
            <a:ext cx="0" cy="594359"/>
          </a:xfrm>
          <a:prstGeom prst="line">
            <a:avLst/>
          </a:prstGeom>
          <a:noFill/>
          <a:ln w="19050">
            <a:solidFill>
              <a:srgbClr val="06D6A0"/>
            </a:solidFill>
            <a:prstDash val="solid"/>
          </a:ln>
        </p:spPr>
      </p:sp>
      <p:sp>
        <p:nvSpPr>
          <p:cNvPr id="1110859471" name="Shape 17"/>
          <p:cNvSpPr/>
          <p:nvPr/>
        </p:nvSpPr>
        <p:spPr bwMode="auto">
          <a:xfrm>
            <a:off x="274320" y="3794760"/>
            <a:ext cx="411480" cy="411480"/>
          </a:xfrm>
          <a:prstGeom prst="ellipse">
            <a:avLst/>
          </a:prstGeom>
          <a:solidFill>
            <a:srgbClr val="06D6A0"/>
          </a:solidFill>
          <a:ln w="12700">
            <a:solidFill>
              <a:srgbClr val="06D6A0"/>
            </a:solidFill>
            <a:prstDash val="solid"/>
          </a:ln>
        </p:spPr>
      </p:sp>
      <p:sp>
        <p:nvSpPr>
          <p:cNvPr id="899000642" name="Text 18"/>
          <p:cNvSpPr/>
          <p:nvPr/>
        </p:nvSpPr>
        <p:spPr bwMode="auto">
          <a:xfrm>
            <a:off x="274320" y="3794760"/>
            <a:ext cx="411480" cy="411480"/>
          </a:xfrm>
          <a:prstGeom prst="rect">
            <a:avLst/>
          </a:prstGeom>
          <a:noFill/>
          <a:ln/>
        </p:spPr>
        <p:txBody>
          <a:bodyPr wrap="square" lIns="0" tIns="0" rIns="0" bIns="0" rtlCol="0" anchor="ctr"/>
          <a:lstStyle/>
          <a:p>
            <a:pPr marL="0" indent="0" algn="ctr">
              <a:buNone/>
              <a:defRPr/>
            </a:pPr>
            <a:r>
              <a:rPr lang="en-US" sz="1400" b="1">
                <a:solidFill>
                  <a:srgbClr val="0A1628"/>
                </a:solidFill>
              </a:rPr>
              <a:t>4</a:t>
            </a:r>
            <a:endParaRPr lang="en-US" sz="1400"/>
          </a:p>
        </p:txBody>
      </p:sp>
      <p:sp>
        <p:nvSpPr>
          <p:cNvPr id="1942568204" name="Text 19"/>
          <p:cNvSpPr/>
          <p:nvPr/>
        </p:nvSpPr>
        <p:spPr bwMode="auto">
          <a:xfrm>
            <a:off x="777240" y="3794760"/>
            <a:ext cx="3474720" cy="228600"/>
          </a:xfrm>
          <a:prstGeom prst="rect">
            <a:avLst/>
          </a:prstGeom>
          <a:noFill/>
          <a:ln/>
        </p:spPr>
        <p:txBody>
          <a:bodyPr wrap="square" lIns="0" tIns="0" rIns="0" bIns="0" rtlCol="0" anchor="ctr"/>
          <a:lstStyle/>
          <a:p>
            <a:pPr marL="0" indent="0">
              <a:buNone/>
              <a:defRPr/>
            </a:pPr>
            <a:r>
              <a:rPr lang="en-US" sz="1200" b="1">
                <a:solidFill>
                  <a:srgbClr val="06D6A0"/>
                </a:solidFill>
              </a:rPr>
              <a:t>MAVLink Waypoint List</a:t>
            </a:r>
            <a:endParaRPr lang="en-US" sz="1200"/>
          </a:p>
        </p:txBody>
      </p:sp>
      <p:sp>
        <p:nvSpPr>
          <p:cNvPr id="1672745532" name="Text 20"/>
          <p:cNvSpPr/>
          <p:nvPr/>
        </p:nvSpPr>
        <p:spPr bwMode="auto">
          <a:xfrm>
            <a:off x="777240" y="4023360"/>
            <a:ext cx="3520440" cy="548640"/>
          </a:xfrm>
          <a:prstGeom prst="rect">
            <a:avLst/>
          </a:prstGeom>
          <a:noFill/>
          <a:ln/>
        </p:spPr>
        <p:txBody>
          <a:bodyPr wrap="square" lIns="0" tIns="0" rIns="0" bIns="0" rtlCol="0" anchor="ctr"/>
          <a:lstStyle/>
          <a:p>
            <a:pPr marL="0" indent="0">
              <a:buNone/>
              <a:defRPr/>
            </a:pPr>
            <a:r>
              <a:rPr lang="en-US" sz="1000">
                <a:solidFill>
                  <a:srgbClr val="B8C8DC"/>
                </a:solidFill>
              </a:rPr>
              <a:t>Each pass endpoint becomes a MAVLink MISSION_ITEM_INT with NAV_WAYPOINT command, altitude, and speed</a:t>
            </a:r>
            <a:endParaRPr lang="en-US" sz="1000"/>
          </a:p>
        </p:txBody>
      </p:sp>
      <p:sp>
        <p:nvSpPr>
          <p:cNvPr id="1575227052" name="Shape 21"/>
          <p:cNvSpPr/>
          <p:nvPr/>
        </p:nvSpPr>
        <p:spPr bwMode="auto">
          <a:xfrm>
            <a:off x="4709160" y="658368"/>
            <a:ext cx="4160519" cy="4297680"/>
          </a:xfrm>
          <a:prstGeom prst="rect">
            <a:avLst/>
          </a:prstGeom>
          <a:solidFill>
            <a:srgbClr val="0D1B35"/>
          </a:solidFill>
          <a:ln w="19050">
            <a:solidFill>
              <a:srgbClr val="06D6A0"/>
            </a:solidFill>
            <a:prstDash val="solid"/>
          </a:ln>
        </p:spPr>
      </p:sp>
      <p:sp>
        <p:nvSpPr>
          <p:cNvPr id="2141038455" name="Shape 23"/>
          <p:cNvSpPr/>
          <p:nvPr/>
        </p:nvSpPr>
        <p:spPr bwMode="auto">
          <a:xfrm flipH="0" flipV="0">
            <a:off x="4846320" y="1143000"/>
            <a:ext cx="3977640" cy="3017518"/>
          </a:xfrm>
          <a:prstGeom prst="rect">
            <a:avLst/>
          </a:prstGeom>
          <a:solidFill>
            <a:srgbClr val="0077B6">
              <a:alpha val="15000"/>
            </a:srgbClr>
          </a:solidFill>
          <a:ln w="19050">
            <a:solidFill>
              <a:srgbClr val="06D6A0"/>
            </a:solidFill>
            <a:prstDash val="solid"/>
          </a:ln>
        </p:spPr>
        <p:txBody>
          <a:bodyPr anchor="ctr"/>
          <a:p>
            <a:pPr algn="ctr">
              <a:defRPr/>
            </a:pPr>
            <a:endParaRPr/>
          </a:p>
        </p:txBody>
      </p:sp>
      <p:sp>
        <p:nvSpPr>
          <p:cNvPr id="184143271" name="Text 22"/>
          <p:cNvSpPr/>
          <p:nvPr/>
        </p:nvSpPr>
        <p:spPr bwMode="auto">
          <a:xfrm>
            <a:off x="4846320" y="749808"/>
            <a:ext cx="3840480" cy="274320"/>
          </a:xfrm>
          <a:prstGeom prst="rect">
            <a:avLst/>
          </a:prstGeom>
          <a:noFill/>
          <a:ln/>
        </p:spPr>
        <p:txBody>
          <a:bodyPr wrap="square" lIns="0" tIns="0" rIns="0" bIns="0" rtlCol="0" anchor="ctr"/>
          <a:lstStyle/>
          <a:p>
            <a:pPr marL="0" indent="0" algn="ctr">
              <a:buNone/>
              <a:defRPr/>
            </a:pPr>
            <a:r>
              <a:rPr lang="en-US" sz="1200" b="1">
                <a:solidFill>
                  <a:srgbClr val="06D6A0"/>
                </a:solidFill>
              </a:rPr>
              <a:t>Grid Survey Pattern</a:t>
            </a:r>
            <a:endParaRPr lang="en-US" sz="1200"/>
          </a:p>
        </p:txBody>
      </p:sp>
      <p:sp>
        <p:nvSpPr>
          <p:cNvPr id="1683343508" name="Shape 24"/>
          <p:cNvSpPr/>
          <p:nvPr/>
        </p:nvSpPr>
        <p:spPr bwMode="auto">
          <a:xfrm>
            <a:off x="5120640" y="1547622"/>
            <a:ext cx="3474720" cy="0"/>
          </a:xfrm>
          <a:prstGeom prst="line">
            <a:avLst/>
          </a:prstGeom>
          <a:noFill/>
          <a:ln w="19050">
            <a:solidFill>
              <a:srgbClr val="00B4D8"/>
            </a:solidFill>
            <a:prstDash val="solid"/>
          </a:ln>
        </p:spPr>
      </p:sp>
      <p:sp>
        <p:nvSpPr>
          <p:cNvPr id="1862506762" name="Shape 27"/>
          <p:cNvSpPr/>
          <p:nvPr/>
        </p:nvSpPr>
        <p:spPr bwMode="auto">
          <a:xfrm>
            <a:off x="8595360" y="1924812"/>
            <a:ext cx="0" cy="0"/>
          </a:xfrm>
          <a:prstGeom prst="line">
            <a:avLst/>
          </a:prstGeom>
          <a:noFill/>
          <a:ln w="19050">
            <a:solidFill>
              <a:srgbClr val="00B4D8"/>
            </a:solidFill>
            <a:prstDash val="solid"/>
          </a:ln>
        </p:spPr>
      </p:sp>
      <p:sp>
        <p:nvSpPr>
          <p:cNvPr id="2065645883" name="Shape 28"/>
          <p:cNvSpPr/>
          <p:nvPr/>
        </p:nvSpPr>
        <p:spPr bwMode="auto">
          <a:xfrm>
            <a:off x="8540496" y="1508239"/>
            <a:ext cx="109728" cy="109728"/>
          </a:xfrm>
          <a:prstGeom prst="ellipse">
            <a:avLst/>
          </a:prstGeom>
          <a:solidFill>
            <a:srgbClr val="FFB703"/>
          </a:solidFill>
          <a:ln w="12700">
            <a:solidFill>
              <a:srgbClr val="FFB703"/>
            </a:solidFill>
            <a:prstDash val="solid"/>
          </a:ln>
        </p:spPr>
      </p:sp>
      <p:sp>
        <p:nvSpPr>
          <p:cNvPr id="686881784" name="Shape 30"/>
          <p:cNvSpPr/>
          <p:nvPr/>
        </p:nvSpPr>
        <p:spPr bwMode="auto">
          <a:xfrm>
            <a:off x="5120640" y="2302002"/>
            <a:ext cx="3474720" cy="0"/>
          </a:xfrm>
          <a:prstGeom prst="line">
            <a:avLst/>
          </a:prstGeom>
          <a:noFill/>
          <a:ln w="19050">
            <a:solidFill>
              <a:srgbClr val="00B4D8"/>
            </a:solidFill>
            <a:prstDash val="solid"/>
          </a:ln>
        </p:spPr>
      </p:sp>
      <p:sp>
        <p:nvSpPr>
          <p:cNvPr id="374999924" name="Shape 31"/>
          <p:cNvSpPr/>
          <p:nvPr/>
        </p:nvSpPr>
        <p:spPr bwMode="auto">
          <a:xfrm>
            <a:off x="5065776" y="2247138"/>
            <a:ext cx="109728" cy="109728"/>
          </a:xfrm>
          <a:prstGeom prst="ellipse">
            <a:avLst/>
          </a:prstGeom>
          <a:solidFill>
            <a:srgbClr val="FFB703"/>
          </a:solidFill>
          <a:ln w="12700">
            <a:solidFill>
              <a:srgbClr val="FFB703"/>
            </a:solidFill>
            <a:prstDash val="solid"/>
          </a:ln>
        </p:spPr>
      </p:sp>
      <p:sp>
        <p:nvSpPr>
          <p:cNvPr id="1095624322" name="Shape 33"/>
          <p:cNvSpPr/>
          <p:nvPr/>
        </p:nvSpPr>
        <p:spPr bwMode="auto">
          <a:xfrm>
            <a:off x="8595360" y="2679192"/>
            <a:ext cx="0" cy="0"/>
          </a:xfrm>
          <a:prstGeom prst="line">
            <a:avLst/>
          </a:prstGeom>
          <a:noFill/>
          <a:ln w="19050">
            <a:solidFill>
              <a:srgbClr val="00B4D8"/>
            </a:solidFill>
            <a:prstDash val="solid"/>
          </a:ln>
        </p:spPr>
      </p:sp>
      <p:sp>
        <p:nvSpPr>
          <p:cNvPr id="493621071" name="Shape 36"/>
          <p:cNvSpPr/>
          <p:nvPr/>
        </p:nvSpPr>
        <p:spPr bwMode="auto">
          <a:xfrm>
            <a:off x="5120640" y="3056382"/>
            <a:ext cx="3474720" cy="0"/>
          </a:xfrm>
          <a:prstGeom prst="line">
            <a:avLst/>
          </a:prstGeom>
          <a:noFill/>
          <a:ln w="19050">
            <a:solidFill>
              <a:srgbClr val="00B4D8"/>
            </a:solidFill>
            <a:prstDash val="solid"/>
          </a:ln>
        </p:spPr>
      </p:sp>
      <p:sp>
        <p:nvSpPr>
          <p:cNvPr id="182252316" name="Shape 39"/>
          <p:cNvSpPr/>
          <p:nvPr/>
        </p:nvSpPr>
        <p:spPr bwMode="auto">
          <a:xfrm>
            <a:off x="8595360" y="3433572"/>
            <a:ext cx="0" cy="0"/>
          </a:xfrm>
          <a:prstGeom prst="line">
            <a:avLst/>
          </a:prstGeom>
          <a:noFill/>
          <a:ln w="19050">
            <a:solidFill>
              <a:srgbClr val="00B4D8"/>
            </a:solidFill>
            <a:prstDash val="solid"/>
          </a:ln>
        </p:spPr>
      </p:sp>
      <p:sp>
        <p:nvSpPr>
          <p:cNvPr id="1575017457" name="Shape 42"/>
          <p:cNvSpPr/>
          <p:nvPr/>
        </p:nvSpPr>
        <p:spPr bwMode="auto">
          <a:xfrm>
            <a:off x="5120640" y="3810762"/>
            <a:ext cx="3474720" cy="0"/>
          </a:xfrm>
          <a:prstGeom prst="line">
            <a:avLst/>
          </a:prstGeom>
          <a:noFill/>
          <a:ln w="19050">
            <a:solidFill>
              <a:srgbClr val="00B4D8"/>
            </a:solidFill>
            <a:prstDash val="solid"/>
          </a:ln>
        </p:spPr>
      </p:sp>
      <p:sp>
        <p:nvSpPr>
          <p:cNvPr id="1119265589" name="Shape 44"/>
          <p:cNvSpPr/>
          <p:nvPr/>
        </p:nvSpPr>
        <p:spPr bwMode="auto">
          <a:xfrm>
            <a:off x="8467344" y="1417320"/>
            <a:ext cx="274320" cy="274320"/>
          </a:xfrm>
          <a:prstGeom prst="ellipse">
            <a:avLst/>
          </a:prstGeom>
          <a:solidFill>
            <a:srgbClr val="06D6A0"/>
          </a:solidFill>
          <a:ln w="12700">
            <a:solidFill>
              <a:srgbClr val="06D6A0"/>
            </a:solidFill>
            <a:prstDash val="solid"/>
          </a:ln>
        </p:spPr>
      </p:sp>
      <p:sp>
        <p:nvSpPr>
          <p:cNvPr id="386256248" name="Text 45"/>
          <p:cNvSpPr/>
          <p:nvPr/>
        </p:nvSpPr>
        <p:spPr bwMode="auto">
          <a:xfrm>
            <a:off x="8467344" y="1417320"/>
            <a:ext cx="274320" cy="274320"/>
          </a:xfrm>
          <a:prstGeom prst="rect">
            <a:avLst/>
          </a:prstGeom>
          <a:noFill/>
          <a:ln/>
        </p:spPr>
        <p:txBody>
          <a:bodyPr wrap="square" lIns="0" tIns="0" rIns="0" bIns="0" rtlCol="0" anchor="ctr"/>
          <a:lstStyle/>
          <a:p>
            <a:pPr marL="0" indent="0" algn="ctr">
              <a:buNone/>
              <a:defRPr/>
            </a:pPr>
            <a:r>
              <a:rPr lang="en-US" sz="900" b="1">
                <a:solidFill>
                  <a:srgbClr val="0A1628"/>
                </a:solidFill>
              </a:rPr>
              <a:t>H</a:t>
            </a:r>
            <a:endParaRPr lang="en-US" sz="900"/>
          </a:p>
        </p:txBody>
      </p:sp>
      <p:sp>
        <p:nvSpPr>
          <p:cNvPr id="440609803" name="Text 46"/>
          <p:cNvSpPr/>
          <p:nvPr/>
        </p:nvSpPr>
        <p:spPr bwMode="auto">
          <a:xfrm>
            <a:off x="4983480" y="941832"/>
            <a:ext cx="365760" cy="182880"/>
          </a:xfrm>
          <a:prstGeom prst="rect">
            <a:avLst/>
          </a:prstGeom>
          <a:noFill/>
          <a:ln/>
        </p:spPr>
        <p:txBody>
          <a:bodyPr wrap="square" lIns="0" tIns="0" rIns="0" bIns="0" rtlCol="0" anchor="ctr"/>
          <a:lstStyle/>
          <a:p>
            <a:pPr marL="0" indent="0">
              <a:buNone/>
              <a:defRPr/>
            </a:pPr>
            <a:r>
              <a:rPr lang="en-US" sz="800">
                <a:solidFill>
                  <a:srgbClr val="B8C8DC"/>
                </a:solidFill>
              </a:rPr>
              <a:t>NW</a:t>
            </a:r>
            <a:endParaRPr lang="en-US" sz="800"/>
          </a:p>
        </p:txBody>
      </p:sp>
      <p:sp>
        <p:nvSpPr>
          <p:cNvPr id="800460595" name="Text 47"/>
          <p:cNvSpPr/>
          <p:nvPr/>
        </p:nvSpPr>
        <p:spPr bwMode="auto">
          <a:xfrm>
            <a:off x="8366760" y="941832"/>
            <a:ext cx="365760" cy="182880"/>
          </a:xfrm>
          <a:prstGeom prst="rect">
            <a:avLst/>
          </a:prstGeom>
          <a:noFill/>
          <a:ln/>
        </p:spPr>
        <p:txBody>
          <a:bodyPr wrap="square" lIns="0" tIns="0" rIns="0" bIns="0" rtlCol="0" anchor="ctr"/>
          <a:lstStyle/>
          <a:p>
            <a:pPr marL="0" indent="0" algn="r">
              <a:buNone/>
              <a:defRPr/>
            </a:pPr>
            <a:r>
              <a:rPr lang="en-US" sz="800">
                <a:solidFill>
                  <a:srgbClr val="B8C8DC"/>
                </a:solidFill>
              </a:rPr>
              <a:t>NE</a:t>
            </a:r>
            <a:endParaRPr lang="en-US" sz="800"/>
          </a:p>
        </p:txBody>
      </p:sp>
      <p:sp>
        <p:nvSpPr>
          <p:cNvPr id="1693425053" name="Text 48"/>
          <p:cNvSpPr/>
          <p:nvPr/>
        </p:nvSpPr>
        <p:spPr bwMode="auto">
          <a:xfrm>
            <a:off x="4983480" y="4233672"/>
            <a:ext cx="365760" cy="182880"/>
          </a:xfrm>
          <a:prstGeom prst="rect">
            <a:avLst/>
          </a:prstGeom>
          <a:noFill/>
          <a:ln/>
        </p:spPr>
        <p:txBody>
          <a:bodyPr wrap="square" lIns="0" tIns="0" rIns="0" bIns="0" rtlCol="0" anchor="ctr"/>
          <a:lstStyle/>
          <a:p>
            <a:pPr marL="0" indent="0">
              <a:buNone/>
              <a:defRPr/>
            </a:pPr>
            <a:r>
              <a:rPr lang="en-US" sz="800">
                <a:solidFill>
                  <a:srgbClr val="B8C8DC"/>
                </a:solidFill>
              </a:rPr>
              <a:t>SW</a:t>
            </a:r>
            <a:endParaRPr lang="en-US" sz="800"/>
          </a:p>
        </p:txBody>
      </p:sp>
      <p:sp>
        <p:nvSpPr>
          <p:cNvPr id="895314399" name="Text 49"/>
          <p:cNvSpPr/>
          <p:nvPr/>
        </p:nvSpPr>
        <p:spPr bwMode="auto">
          <a:xfrm>
            <a:off x="8366760" y="4233672"/>
            <a:ext cx="365760" cy="182880"/>
          </a:xfrm>
          <a:prstGeom prst="rect">
            <a:avLst/>
          </a:prstGeom>
          <a:noFill/>
          <a:ln/>
        </p:spPr>
        <p:txBody>
          <a:bodyPr wrap="square" lIns="0" tIns="0" rIns="0" bIns="0" rtlCol="0" anchor="ctr"/>
          <a:lstStyle/>
          <a:p>
            <a:pPr marL="0" indent="0" algn="r">
              <a:buNone/>
              <a:defRPr/>
            </a:pPr>
            <a:r>
              <a:rPr lang="en-US" sz="800">
                <a:solidFill>
                  <a:srgbClr val="B8C8DC"/>
                </a:solidFill>
              </a:rPr>
              <a:t>SE</a:t>
            </a:r>
            <a:endParaRPr lang="en-US" sz="800"/>
          </a:p>
        </p:txBody>
      </p:sp>
      <p:sp>
        <p:nvSpPr>
          <p:cNvPr id="525213442" name="Shape 24"/>
          <p:cNvSpPr/>
          <p:nvPr/>
        </p:nvSpPr>
        <p:spPr bwMode="auto">
          <a:xfrm flipH="0" flipV="0">
            <a:off x="5120640" y="1492758"/>
            <a:ext cx="0" cy="809243"/>
          </a:xfrm>
          <a:prstGeom prst="line">
            <a:avLst/>
          </a:prstGeom>
          <a:noFill/>
          <a:ln w="19050">
            <a:solidFill>
              <a:srgbClr val="00B4D8"/>
            </a:solidFill>
            <a:prstDash val="solid"/>
          </a:ln>
        </p:spPr>
      </p:sp>
      <p:sp>
        <p:nvSpPr>
          <p:cNvPr id="1178506779" name="Text 50"/>
          <p:cNvSpPr/>
          <p:nvPr/>
        </p:nvSpPr>
        <p:spPr bwMode="auto">
          <a:xfrm>
            <a:off x="4846320" y="4315968"/>
            <a:ext cx="3840480" cy="228600"/>
          </a:xfrm>
          <a:prstGeom prst="rect">
            <a:avLst/>
          </a:prstGeom>
          <a:noFill/>
          <a:ln/>
        </p:spPr>
        <p:txBody>
          <a:bodyPr wrap="square" lIns="0" tIns="0" rIns="0" bIns="0" rtlCol="0" anchor="ctr"/>
          <a:lstStyle/>
          <a:p>
            <a:pPr marL="0" indent="0" algn="ctr">
              <a:buNone/>
              <a:defRPr/>
            </a:pPr>
            <a:r>
              <a:rPr lang="en-US" sz="1000">
                <a:solidFill>
                  <a:srgbClr val="B8C8DC"/>
                </a:solidFill>
              </a:rPr>
              <a:t>● Waypoint  — Flight Path</a:t>
            </a:r>
            <a:endParaRPr lang="en-US" sz="1000"/>
          </a:p>
        </p:txBody>
      </p:sp>
      <p:sp>
        <p:nvSpPr>
          <p:cNvPr id="356936968" name="Shape 43"/>
          <p:cNvSpPr/>
          <p:nvPr/>
        </p:nvSpPr>
        <p:spPr bwMode="auto">
          <a:xfrm>
            <a:off x="8549640" y="3739896"/>
            <a:ext cx="109728" cy="109728"/>
          </a:xfrm>
          <a:prstGeom prst="ellipse">
            <a:avLst/>
          </a:prstGeom>
          <a:solidFill>
            <a:srgbClr val="FFB703"/>
          </a:solidFill>
          <a:ln w="12700">
            <a:solidFill>
              <a:srgbClr val="FFB703"/>
            </a:solidFill>
            <a:prstDash val="solid"/>
          </a:ln>
        </p:spPr>
      </p:sp>
      <p:sp>
        <p:nvSpPr>
          <p:cNvPr id="1072305439" name="Shape 24"/>
          <p:cNvSpPr/>
          <p:nvPr/>
        </p:nvSpPr>
        <p:spPr bwMode="auto">
          <a:xfrm flipH="0" flipV="0">
            <a:off x="8595360" y="2262619"/>
            <a:ext cx="0" cy="809243"/>
          </a:xfrm>
          <a:prstGeom prst="line">
            <a:avLst/>
          </a:prstGeom>
          <a:noFill/>
          <a:ln w="19050">
            <a:solidFill>
              <a:srgbClr val="00B4D8"/>
            </a:solidFill>
            <a:prstDash val="solid"/>
          </a:ln>
        </p:spPr>
      </p:sp>
      <p:sp>
        <p:nvSpPr>
          <p:cNvPr id="1747269628" name="Shape 24"/>
          <p:cNvSpPr/>
          <p:nvPr/>
        </p:nvSpPr>
        <p:spPr bwMode="auto">
          <a:xfrm flipH="0" flipV="0">
            <a:off x="5120640" y="2994660"/>
            <a:ext cx="0" cy="809243"/>
          </a:xfrm>
          <a:prstGeom prst="line">
            <a:avLst/>
          </a:prstGeom>
          <a:noFill/>
          <a:ln w="19050">
            <a:solidFill>
              <a:srgbClr val="00B4D8"/>
            </a:solidFill>
            <a:prstDash val="solid"/>
          </a:ln>
        </p:spPr>
      </p:sp>
      <p:sp>
        <p:nvSpPr>
          <p:cNvPr id="1574096911" name="Shape 25"/>
          <p:cNvSpPr/>
          <p:nvPr/>
        </p:nvSpPr>
        <p:spPr bwMode="auto">
          <a:xfrm>
            <a:off x="5065776" y="1492758"/>
            <a:ext cx="109728" cy="109728"/>
          </a:xfrm>
          <a:prstGeom prst="ellipse">
            <a:avLst/>
          </a:prstGeom>
          <a:solidFill>
            <a:srgbClr val="FFB703"/>
          </a:solidFill>
          <a:ln w="12700">
            <a:solidFill>
              <a:srgbClr val="FFB703"/>
            </a:solidFill>
            <a:prstDash val="solid"/>
          </a:ln>
        </p:spPr>
      </p:sp>
      <p:sp>
        <p:nvSpPr>
          <p:cNvPr id="2016565617" name="Shape 34"/>
          <p:cNvSpPr/>
          <p:nvPr/>
        </p:nvSpPr>
        <p:spPr bwMode="auto">
          <a:xfrm>
            <a:off x="8540496" y="2262619"/>
            <a:ext cx="109728" cy="109728"/>
          </a:xfrm>
          <a:prstGeom prst="ellipse">
            <a:avLst/>
          </a:prstGeom>
          <a:solidFill>
            <a:srgbClr val="FFB703"/>
          </a:solidFill>
          <a:ln w="12700">
            <a:solidFill>
              <a:srgbClr val="FFB703"/>
            </a:solidFill>
            <a:prstDash val="solid"/>
          </a:ln>
        </p:spPr>
      </p:sp>
      <p:sp>
        <p:nvSpPr>
          <p:cNvPr id="94238230" name="Shape 40"/>
          <p:cNvSpPr/>
          <p:nvPr/>
        </p:nvSpPr>
        <p:spPr bwMode="auto">
          <a:xfrm>
            <a:off x="8540496" y="3016999"/>
            <a:ext cx="109728" cy="109728"/>
          </a:xfrm>
          <a:prstGeom prst="ellipse">
            <a:avLst/>
          </a:prstGeom>
          <a:solidFill>
            <a:srgbClr val="FFB703"/>
          </a:solidFill>
          <a:ln w="12700">
            <a:solidFill>
              <a:srgbClr val="FFB703"/>
            </a:solidFill>
            <a:prstDash val="solid"/>
          </a:ln>
        </p:spPr>
      </p:sp>
      <p:sp>
        <p:nvSpPr>
          <p:cNvPr id="27981401" name="Shape 37"/>
          <p:cNvSpPr/>
          <p:nvPr/>
        </p:nvSpPr>
        <p:spPr bwMode="auto">
          <a:xfrm>
            <a:off x="5065776" y="3001518"/>
            <a:ext cx="109728" cy="109728"/>
          </a:xfrm>
          <a:prstGeom prst="ellipse">
            <a:avLst/>
          </a:prstGeom>
          <a:solidFill>
            <a:srgbClr val="FFB703"/>
          </a:solidFill>
          <a:ln w="12700">
            <a:solidFill>
              <a:srgbClr val="FFB703"/>
            </a:solidFill>
            <a:prstDash val="solid"/>
          </a:ln>
        </p:spPr>
      </p:sp>
      <p:sp>
        <p:nvSpPr>
          <p:cNvPr id="1631668866" name="Shape 43"/>
          <p:cNvSpPr/>
          <p:nvPr/>
        </p:nvSpPr>
        <p:spPr bwMode="auto">
          <a:xfrm>
            <a:off x="5065776" y="3755898"/>
            <a:ext cx="109728" cy="109728"/>
          </a:xfrm>
          <a:prstGeom prst="ellipse">
            <a:avLst/>
          </a:prstGeom>
          <a:solidFill>
            <a:srgbClr val="FFB703"/>
          </a:solidFill>
          <a:ln w="12700">
            <a:solidFill>
              <a:srgbClr val="FFB703"/>
            </a:solidFill>
            <a:prstDash val="solid"/>
          </a:ln>
        </p:spPr>
      </p:sp>
      <p:sp>
        <p:nvSpPr>
          <p:cNvPr id="1395401049" name="Shape 25"/>
          <p:cNvSpPr/>
          <p:nvPr/>
        </p:nvSpPr>
        <p:spPr bwMode="auto">
          <a:xfrm>
            <a:off x="5829181" y="1485900"/>
            <a:ext cx="109728" cy="109728"/>
          </a:xfrm>
          <a:prstGeom prst="ellipse">
            <a:avLst/>
          </a:prstGeom>
          <a:solidFill>
            <a:srgbClr val="FFB703"/>
          </a:solidFill>
          <a:ln w="12700">
            <a:solidFill>
              <a:srgbClr val="FFB703"/>
            </a:solidFill>
            <a:prstDash val="solid"/>
          </a:ln>
        </p:spPr>
      </p:sp>
      <p:sp>
        <p:nvSpPr>
          <p:cNvPr id="842103297" name="Shape 25"/>
          <p:cNvSpPr/>
          <p:nvPr/>
        </p:nvSpPr>
        <p:spPr bwMode="auto">
          <a:xfrm>
            <a:off x="6803136" y="1496332"/>
            <a:ext cx="109728" cy="109728"/>
          </a:xfrm>
          <a:prstGeom prst="ellipse">
            <a:avLst/>
          </a:prstGeom>
          <a:solidFill>
            <a:srgbClr val="FFB703"/>
          </a:solidFill>
          <a:ln w="12700">
            <a:solidFill>
              <a:srgbClr val="FFB703"/>
            </a:solidFill>
            <a:prstDash val="solid"/>
          </a:ln>
        </p:spPr>
      </p:sp>
      <p:sp>
        <p:nvSpPr>
          <p:cNvPr id="626398321" name="Shape 25"/>
          <p:cNvSpPr/>
          <p:nvPr/>
        </p:nvSpPr>
        <p:spPr bwMode="auto">
          <a:xfrm>
            <a:off x="7808432" y="1496332"/>
            <a:ext cx="109728" cy="109728"/>
          </a:xfrm>
          <a:prstGeom prst="ellipse">
            <a:avLst/>
          </a:prstGeom>
          <a:solidFill>
            <a:srgbClr val="FFB703"/>
          </a:solidFill>
          <a:ln w="12700">
            <a:solidFill>
              <a:srgbClr val="FFB703"/>
            </a:solidFill>
            <a:prstDash val="solid"/>
          </a:ln>
        </p:spPr>
      </p:sp>
      <p:sp>
        <p:nvSpPr>
          <p:cNvPr id="731888532" name="Shape 25"/>
          <p:cNvSpPr/>
          <p:nvPr/>
        </p:nvSpPr>
        <p:spPr bwMode="auto">
          <a:xfrm>
            <a:off x="5829181" y="2220702"/>
            <a:ext cx="109728" cy="109728"/>
          </a:xfrm>
          <a:prstGeom prst="ellipse">
            <a:avLst/>
          </a:prstGeom>
          <a:solidFill>
            <a:srgbClr val="FFB703"/>
          </a:solidFill>
          <a:ln w="12700">
            <a:solidFill>
              <a:srgbClr val="FFB703"/>
            </a:solidFill>
            <a:prstDash val="solid"/>
          </a:ln>
        </p:spPr>
      </p:sp>
      <p:sp>
        <p:nvSpPr>
          <p:cNvPr id="53945485" name="Shape 25"/>
          <p:cNvSpPr/>
          <p:nvPr/>
        </p:nvSpPr>
        <p:spPr bwMode="auto">
          <a:xfrm>
            <a:off x="6803136" y="2231136"/>
            <a:ext cx="109728" cy="109728"/>
          </a:xfrm>
          <a:prstGeom prst="ellipse">
            <a:avLst/>
          </a:prstGeom>
          <a:solidFill>
            <a:srgbClr val="FFB703"/>
          </a:solidFill>
          <a:ln w="12700">
            <a:solidFill>
              <a:srgbClr val="FFB703"/>
            </a:solidFill>
            <a:prstDash val="solid"/>
          </a:ln>
        </p:spPr>
      </p:sp>
      <p:sp>
        <p:nvSpPr>
          <p:cNvPr id="209193524" name="Shape 25"/>
          <p:cNvSpPr/>
          <p:nvPr/>
        </p:nvSpPr>
        <p:spPr bwMode="auto">
          <a:xfrm>
            <a:off x="7808432" y="2231136"/>
            <a:ext cx="109728" cy="109728"/>
          </a:xfrm>
          <a:prstGeom prst="ellipse">
            <a:avLst/>
          </a:prstGeom>
          <a:solidFill>
            <a:srgbClr val="FFB703"/>
          </a:solidFill>
          <a:ln w="12700">
            <a:solidFill>
              <a:srgbClr val="FFB703"/>
            </a:solidFill>
            <a:prstDash val="solid"/>
          </a:ln>
        </p:spPr>
      </p:sp>
      <p:sp>
        <p:nvSpPr>
          <p:cNvPr id="2044769845" name="Shape 25"/>
          <p:cNvSpPr/>
          <p:nvPr/>
        </p:nvSpPr>
        <p:spPr bwMode="auto">
          <a:xfrm>
            <a:off x="5829181" y="2984226"/>
            <a:ext cx="109728" cy="109728"/>
          </a:xfrm>
          <a:prstGeom prst="ellipse">
            <a:avLst/>
          </a:prstGeom>
          <a:solidFill>
            <a:srgbClr val="FFB703"/>
          </a:solidFill>
          <a:ln w="12700">
            <a:solidFill>
              <a:srgbClr val="FFB703"/>
            </a:solidFill>
            <a:prstDash val="solid"/>
          </a:ln>
        </p:spPr>
      </p:sp>
      <p:sp>
        <p:nvSpPr>
          <p:cNvPr id="347241744" name="Shape 25"/>
          <p:cNvSpPr/>
          <p:nvPr/>
        </p:nvSpPr>
        <p:spPr bwMode="auto">
          <a:xfrm>
            <a:off x="6803136" y="2994660"/>
            <a:ext cx="109728" cy="109728"/>
          </a:xfrm>
          <a:prstGeom prst="ellipse">
            <a:avLst/>
          </a:prstGeom>
          <a:solidFill>
            <a:srgbClr val="FFB703"/>
          </a:solidFill>
          <a:ln w="12700">
            <a:solidFill>
              <a:srgbClr val="FFB703"/>
            </a:solidFill>
            <a:prstDash val="solid"/>
          </a:ln>
        </p:spPr>
      </p:sp>
      <p:sp>
        <p:nvSpPr>
          <p:cNvPr id="222440450" name="Shape 25"/>
          <p:cNvSpPr/>
          <p:nvPr/>
        </p:nvSpPr>
        <p:spPr bwMode="auto">
          <a:xfrm>
            <a:off x="7808432" y="2994660"/>
            <a:ext cx="109728" cy="109728"/>
          </a:xfrm>
          <a:prstGeom prst="ellipse">
            <a:avLst/>
          </a:prstGeom>
          <a:solidFill>
            <a:srgbClr val="FFB703"/>
          </a:solidFill>
          <a:ln w="12700">
            <a:solidFill>
              <a:srgbClr val="FFB703"/>
            </a:solidFill>
            <a:prstDash val="solid"/>
          </a:ln>
        </p:spPr>
      </p:sp>
      <p:sp>
        <p:nvSpPr>
          <p:cNvPr id="391291413" name="Shape 25"/>
          <p:cNvSpPr/>
          <p:nvPr/>
        </p:nvSpPr>
        <p:spPr bwMode="auto">
          <a:xfrm>
            <a:off x="5829181" y="3784326"/>
            <a:ext cx="109728" cy="109728"/>
          </a:xfrm>
          <a:prstGeom prst="ellipse">
            <a:avLst/>
          </a:prstGeom>
          <a:solidFill>
            <a:srgbClr val="FFB703"/>
          </a:solidFill>
          <a:ln w="12700">
            <a:solidFill>
              <a:srgbClr val="FFB703"/>
            </a:solidFill>
            <a:prstDash val="solid"/>
          </a:ln>
        </p:spPr>
      </p:sp>
      <p:sp>
        <p:nvSpPr>
          <p:cNvPr id="340746363" name="Shape 25"/>
          <p:cNvSpPr/>
          <p:nvPr/>
        </p:nvSpPr>
        <p:spPr bwMode="auto">
          <a:xfrm>
            <a:off x="6803136" y="3794760"/>
            <a:ext cx="109728" cy="109728"/>
          </a:xfrm>
          <a:prstGeom prst="ellipse">
            <a:avLst/>
          </a:prstGeom>
          <a:solidFill>
            <a:srgbClr val="FFB703"/>
          </a:solidFill>
          <a:ln w="12700">
            <a:solidFill>
              <a:srgbClr val="FFB703"/>
            </a:solidFill>
            <a:prstDash val="solid"/>
          </a:ln>
        </p:spPr>
      </p:sp>
      <p:sp>
        <p:nvSpPr>
          <p:cNvPr id="1704411369" name="Shape 25"/>
          <p:cNvSpPr/>
          <p:nvPr/>
        </p:nvSpPr>
        <p:spPr bwMode="auto">
          <a:xfrm>
            <a:off x="7808432" y="3794760"/>
            <a:ext cx="109728" cy="109728"/>
          </a:xfrm>
          <a:prstGeom prst="ellipse">
            <a:avLst/>
          </a:prstGeom>
          <a:solidFill>
            <a:srgbClr val="FFB703"/>
          </a:solidFill>
          <a:ln w="12700">
            <a:solidFill>
              <a:srgbClr val="FFB703"/>
            </a:solidFill>
            <a:prstDash val="solid"/>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Slide 8">
    <p:bg>
      <p:bgPr shadeToTitle="0">
        <a:solidFill>
          <a:srgbClr val="0A1628"/>
        </a:solidFill>
      </p:bgPr>
    </p:bg>
    <p:spTree>
      <p:nvGrpSpPr>
        <p:cNvPr id="1" name=""/>
        <p:cNvGrpSpPr/>
        <p:nvPr/>
      </p:nvGrpSpPr>
      <p:grpSpPr bwMode="auto">
        <a:xfrm>
          <a:off x="0" y="0"/>
          <a:ext cx="0" cy="0"/>
          <a:chOff x="0" y="0"/>
          <a:chExt cx="0" cy="0"/>
        </a:xfrm>
      </p:grpSpPr>
      <p:sp>
        <p:nvSpPr>
          <p:cNvPr id="1802535484" name="Shape 0"/>
          <p:cNvSpPr/>
          <p:nvPr/>
        </p:nvSpPr>
        <p:spPr bwMode="auto">
          <a:xfrm>
            <a:off x="0" y="0"/>
            <a:ext cx="9144000" cy="73152"/>
          </a:xfrm>
          <a:prstGeom prst="rect">
            <a:avLst/>
          </a:prstGeom>
          <a:solidFill>
            <a:srgbClr val="00B4D8"/>
          </a:solidFill>
          <a:ln w="12700">
            <a:solidFill>
              <a:srgbClr val="00B4D8"/>
            </a:solidFill>
            <a:prstDash val="solid"/>
          </a:ln>
        </p:spPr>
      </p:sp>
      <p:sp>
        <p:nvSpPr>
          <p:cNvPr id="767280624" name="Text 1"/>
          <p:cNvSpPr/>
          <p:nvPr/>
        </p:nvSpPr>
        <p:spPr bwMode="auto">
          <a:xfrm>
            <a:off x="365760" y="137160"/>
            <a:ext cx="8229600" cy="411480"/>
          </a:xfrm>
          <a:prstGeom prst="rect">
            <a:avLst/>
          </a:prstGeom>
          <a:noFill/>
          <a:ln/>
        </p:spPr>
        <p:txBody>
          <a:bodyPr wrap="square" lIns="0" tIns="0" rIns="0" bIns="0" rtlCol="0" anchor="ctr"/>
          <a:lstStyle/>
          <a:p>
            <a:pPr marL="0" indent="0">
              <a:buNone/>
              <a:defRPr/>
            </a:pPr>
            <a:r>
              <a:rPr lang="en-US" sz="2400" b="1">
                <a:solidFill>
                  <a:srgbClr val="FFFFFF"/>
                </a:solidFill>
              </a:rPr>
              <a:t>Spiral Survey Planner</a:t>
            </a:r>
            <a:endParaRPr lang="en-US" sz="2400"/>
          </a:p>
        </p:txBody>
      </p:sp>
      <p:sp>
        <p:nvSpPr>
          <p:cNvPr id="2056317166" name="Shape 2"/>
          <p:cNvSpPr/>
          <p:nvPr/>
        </p:nvSpPr>
        <p:spPr bwMode="auto">
          <a:xfrm>
            <a:off x="274320" y="777240"/>
            <a:ext cx="411480" cy="411480"/>
          </a:xfrm>
          <a:prstGeom prst="ellipse">
            <a:avLst/>
          </a:prstGeom>
          <a:solidFill>
            <a:srgbClr val="00B4D8"/>
          </a:solidFill>
          <a:ln w="12700">
            <a:solidFill>
              <a:srgbClr val="00B4D8"/>
            </a:solidFill>
            <a:prstDash val="solid"/>
          </a:ln>
        </p:spPr>
      </p:sp>
      <p:sp>
        <p:nvSpPr>
          <p:cNvPr id="10341477" name="Text 3"/>
          <p:cNvSpPr/>
          <p:nvPr/>
        </p:nvSpPr>
        <p:spPr bwMode="auto">
          <a:xfrm>
            <a:off x="274320" y="777240"/>
            <a:ext cx="411480" cy="411480"/>
          </a:xfrm>
          <a:prstGeom prst="rect">
            <a:avLst/>
          </a:prstGeom>
          <a:noFill/>
          <a:ln/>
        </p:spPr>
        <p:txBody>
          <a:bodyPr wrap="square" lIns="0" tIns="0" rIns="0" bIns="0" rtlCol="0" anchor="ctr"/>
          <a:lstStyle/>
          <a:p>
            <a:pPr marL="0" indent="0" algn="ctr">
              <a:buNone/>
              <a:defRPr/>
            </a:pPr>
            <a:r>
              <a:rPr lang="en-US" sz="1400" b="1">
                <a:solidFill>
                  <a:srgbClr val="0A1628"/>
                </a:solidFill>
              </a:rPr>
              <a:t>1</a:t>
            </a:r>
            <a:endParaRPr lang="en-US" sz="1400"/>
          </a:p>
        </p:txBody>
      </p:sp>
      <p:sp>
        <p:nvSpPr>
          <p:cNvPr id="1259220957" name="Text 4"/>
          <p:cNvSpPr/>
          <p:nvPr/>
        </p:nvSpPr>
        <p:spPr bwMode="auto">
          <a:xfrm>
            <a:off x="777240" y="777240"/>
            <a:ext cx="3474720" cy="228600"/>
          </a:xfrm>
          <a:prstGeom prst="rect">
            <a:avLst/>
          </a:prstGeom>
          <a:noFill/>
          <a:ln/>
        </p:spPr>
        <p:txBody>
          <a:bodyPr wrap="square" lIns="0" tIns="0" rIns="0" bIns="0" rtlCol="0" anchor="ctr"/>
          <a:lstStyle/>
          <a:p>
            <a:pPr marL="0" indent="0">
              <a:buNone/>
              <a:defRPr/>
            </a:pPr>
            <a:r>
              <a:rPr lang="en-US" sz="1200" b="1">
                <a:solidFill>
                  <a:srgbClr val="00B4D8"/>
                </a:solidFill>
              </a:rPr>
              <a:t>Centroid Calculation</a:t>
            </a:r>
            <a:endParaRPr lang="en-US" sz="1200"/>
          </a:p>
        </p:txBody>
      </p:sp>
      <p:sp>
        <p:nvSpPr>
          <p:cNvPr id="240568035" name="Text 5"/>
          <p:cNvSpPr/>
          <p:nvPr/>
        </p:nvSpPr>
        <p:spPr bwMode="auto">
          <a:xfrm>
            <a:off x="777240" y="1005840"/>
            <a:ext cx="3520440" cy="548640"/>
          </a:xfrm>
          <a:prstGeom prst="rect">
            <a:avLst/>
          </a:prstGeom>
          <a:noFill/>
          <a:ln/>
        </p:spPr>
        <p:txBody>
          <a:bodyPr wrap="square" lIns="0" tIns="0" rIns="0" bIns="0" rtlCol="0" anchor="ctr"/>
          <a:lstStyle/>
          <a:p>
            <a:pPr marL="0" indent="0">
              <a:buNone/>
              <a:defRPr/>
            </a:pPr>
            <a:r>
              <a:rPr lang="en-US" sz="1000">
                <a:solidFill>
                  <a:srgbClr val="B8C8DC"/>
                </a:solidFill>
              </a:rPr>
              <a:t>Center GPS coordinates define the origin. Haversine converts radius_m to angular offsets for ellipse axes.</a:t>
            </a:r>
            <a:endParaRPr lang="en-US" sz="1000"/>
          </a:p>
        </p:txBody>
      </p:sp>
      <p:sp>
        <p:nvSpPr>
          <p:cNvPr id="636887335" name="Shape 6"/>
          <p:cNvSpPr/>
          <p:nvPr/>
        </p:nvSpPr>
        <p:spPr bwMode="auto">
          <a:xfrm>
            <a:off x="480060" y="1188720"/>
            <a:ext cx="0" cy="365760"/>
          </a:xfrm>
          <a:prstGeom prst="line">
            <a:avLst/>
          </a:prstGeom>
          <a:noFill/>
          <a:ln w="19050">
            <a:solidFill>
              <a:srgbClr val="00B4D8"/>
            </a:solidFill>
            <a:prstDash val="solid"/>
          </a:ln>
        </p:spPr>
      </p:sp>
      <p:sp>
        <p:nvSpPr>
          <p:cNvPr id="1159723420" name="Shape 7"/>
          <p:cNvSpPr/>
          <p:nvPr/>
        </p:nvSpPr>
        <p:spPr bwMode="auto">
          <a:xfrm>
            <a:off x="274320" y="1783080"/>
            <a:ext cx="411480" cy="411480"/>
          </a:xfrm>
          <a:prstGeom prst="ellipse">
            <a:avLst/>
          </a:prstGeom>
          <a:solidFill>
            <a:srgbClr val="00B4D8"/>
          </a:solidFill>
          <a:ln w="12700">
            <a:solidFill>
              <a:srgbClr val="00B4D8"/>
            </a:solidFill>
            <a:prstDash val="solid"/>
          </a:ln>
        </p:spPr>
      </p:sp>
      <p:sp>
        <p:nvSpPr>
          <p:cNvPr id="447027229" name="Text 8"/>
          <p:cNvSpPr/>
          <p:nvPr/>
        </p:nvSpPr>
        <p:spPr bwMode="auto">
          <a:xfrm>
            <a:off x="274320" y="1783080"/>
            <a:ext cx="411480" cy="411480"/>
          </a:xfrm>
          <a:prstGeom prst="rect">
            <a:avLst/>
          </a:prstGeom>
          <a:noFill/>
          <a:ln/>
        </p:spPr>
        <p:txBody>
          <a:bodyPr wrap="square" lIns="0" tIns="0" rIns="0" bIns="0" rtlCol="0" anchor="ctr"/>
          <a:lstStyle/>
          <a:p>
            <a:pPr marL="0" indent="0" algn="ctr">
              <a:buNone/>
              <a:defRPr/>
            </a:pPr>
            <a:r>
              <a:rPr lang="en-US" sz="1400" b="1">
                <a:solidFill>
                  <a:srgbClr val="0A1628"/>
                </a:solidFill>
              </a:rPr>
              <a:t>2</a:t>
            </a:r>
            <a:endParaRPr lang="en-US" sz="1400"/>
          </a:p>
        </p:txBody>
      </p:sp>
      <p:sp>
        <p:nvSpPr>
          <p:cNvPr id="1556328719" name="Text 9"/>
          <p:cNvSpPr/>
          <p:nvPr/>
        </p:nvSpPr>
        <p:spPr bwMode="auto">
          <a:xfrm>
            <a:off x="777240" y="1783080"/>
            <a:ext cx="3474720" cy="228600"/>
          </a:xfrm>
          <a:prstGeom prst="rect">
            <a:avLst/>
          </a:prstGeom>
          <a:noFill/>
          <a:ln/>
        </p:spPr>
        <p:txBody>
          <a:bodyPr wrap="square" lIns="0" tIns="0" rIns="0" bIns="0" rtlCol="0" anchor="ctr"/>
          <a:lstStyle/>
          <a:p>
            <a:pPr marL="0" indent="0">
              <a:buNone/>
              <a:defRPr/>
            </a:pPr>
            <a:r>
              <a:rPr lang="en-US" sz="1200" b="1">
                <a:solidFill>
                  <a:srgbClr val="00B4D8"/>
                </a:solidFill>
              </a:rPr>
              <a:t>Elliptical Spiral</a:t>
            </a:r>
            <a:endParaRPr lang="en-US" sz="1200"/>
          </a:p>
        </p:txBody>
      </p:sp>
      <p:sp>
        <p:nvSpPr>
          <p:cNvPr id="575977442" name="Text 10"/>
          <p:cNvSpPr/>
          <p:nvPr/>
        </p:nvSpPr>
        <p:spPr bwMode="auto">
          <a:xfrm>
            <a:off x="777240" y="2011680"/>
            <a:ext cx="3520440" cy="548640"/>
          </a:xfrm>
          <a:prstGeom prst="rect">
            <a:avLst/>
          </a:prstGeom>
          <a:noFill/>
          <a:ln/>
        </p:spPr>
        <p:txBody>
          <a:bodyPr wrap="square" lIns="0" tIns="0" rIns="0" bIns="0" rtlCol="0" anchor="ctr"/>
          <a:lstStyle/>
          <a:p>
            <a:pPr marL="0" indent="0">
              <a:buNone/>
              <a:defRPr/>
            </a:pPr>
            <a:r>
              <a:rPr lang="en-US" sz="1000">
                <a:solidFill>
                  <a:srgbClr val="B8C8DC"/>
                </a:solidFill>
              </a:rPr>
              <a:t>Semi-major (a) and semi-minor (b) axes generate parametric ellipse. Theta increments by configurable step angle.</a:t>
            </a:r>
            <a:endParaRPr lang="en-US" sz="1000"/>
          </a:p>
        </p:txBody>
      </p:sp>
      <p:sp>
        <p:nvSpPr>
          <p:cNvPr id="444466204" name="Shape 11"/>
          <p:cNvSpPr/>
          <p:nvPr/>
        </p:nvSpPr>
        <p:spPr bwMode="auto">
          <a:xfrm>
            <a:off x="480060" y="2194560"/>
            <a:ext cx="0" cy="365760"/>
          </a:xfrm>
          <a:prstGeom prst="line">
            <a:avLst/>
          </a:prstGeom>
          <a:noFill/>
          <a:ln w="19050">
            <a:solidFill>
              <a:srgbClr val="00B4D8"/>
            </a:solidFill>
            <a:prstDash val="solid"/>
          </a:ln>
        </p:spPr>
      </p:sp>
      <p:sp>
        <p:nvSpPr>
          <p:cNvPr id="1702371420" name="Shape 12"/>
          <p:cNvSpPr/>
          <p:nvPr/>
        </p:nvSpPr>
        <p:spPr bwMode="auto">
          <a:xfrm>
            <a:off x="274320" y="2788920"/>
            <a:ext cx="411480" cy="411480"/>
          </a:xfrm>
          <a:prstGeom prst="ellipse">
            <a:avLst/>
          </a:prstGeom>
          <a:solidFill>
            <a:srgbClr val="00B4D8"/>
          </a:solidFill>
          <a:ln w="12700">
            <a:solidFill>
              <a:srgbClr val="00B4D8"/>
            </a:solidFill>
            <a:prstDash val="solid"/>
          </a:ln>
        </p:spPr>
      </p:sp>
      <p:sp>
        <p:nvSpPr>
          <p:cNvPr id="1025386046" name="Text 13"/>
          <p:cNvSpPr/>
          <p:nvPr/>
        </p:nvSpPr>
        <p:spPr bwMode="auto">
          <a:xfrm>
            <a:off x="274320" y="2788920"/>
            <a:ext cx="411480" cy="411480"/>
          </a:xfrm>
          <a:prstGeom prst="rect">
            <a:avLst/>
          </a:prstGeom>
          <a:noFill/>
          <a:ln/>
        </p:spPr>
        <p:txBody>
          <a:bodyPr wrap="square" lIns="0" tIns="0" rIns="0" bIns="0" rtlCol="0" anchor="ctr"/>
          <a:lstStyle/>
          <a:p>
            <a:pPr marL="0" indent="0" algn="ctr">
              <a:buNone/>
              <a:defRPr/>
            </a:pPr>
            <a:r>
              <a:rPr lang="en-US" sz="1400" b="1">
                <a:solidFill>
                  <a:srgbClr val="0A1628"/>
                </a:solidFill>
              </a:rPr>
              <a:t>3</a:t>
            </a:r>
            <a:endParaRPr lang="en-US" sz="1400"/>
          </a:p>
        </p:txBody>
      </p:sp>
      <p:sp>
        <p:nvSpPr>
          <p:cNvPr id="540458695" name="Text 14"/>
          <p:cNvSpPr/>
          <p:nvPr/>
        </p:nvSpPr>
        <p:spPr bwMode="auto">
          <a:xfrm>
            <a:off x="777240" y="2788920"/>
            <a:ext cx="3474720" cy="228600"/>
          </a:xfrm>
          <a:prstGeom prst="rect">
            <a:avLst/>
          </a:prstGeom>
          <a:noFill/>
          <a:ln/>
        </p:spPr>
        <p:txBody>
          <a:bodyPr wrap="square" lIns="0" tIns="0" rIns="0" bIns="0" rtlCol="0" anchor="ctr"/>
          <a:lstStyle/>
          <a:p>
            <a:pPr marL="0" indent="0">
              <a:buNone/>
              <a:defRPr/>
            </a:pPr>
            <a:r>
              <a:rPr lang="en-US" sz="1200" b="1">
                <a:solidFill>
                  <a:srgbClr val="00B4D8"/>
                </a:solidFill>
              </a:rPr>
              <a:t>Inward Spiral</a:t>
            </a:r>
            <a:endParaRPr lang="en-US" sz="1200"/>
          </a:p>
        </p:txBody>
      </p:sp>
      <p:sp>
        <p:nvSpPr>
          <p:cNvPr id="1653547211" name="Text 15"/>
          <p:cNvSpPr/>
          <p:nvPr/>
        </p:nvSpPr>
        <p:spPr bwMode="auto">
          <a:xfrm>
            <a:off x="777240" y="3017519"/>
            <a:ext cx="3520440" cy="548640"/>
          </a:xfrm>
          <a:prstGeom prst="rect">
            <a:avLst/>
          </a:prstGeom>
          <a:noFill/>
          <a:ln/>
        </p:spPr>
        <p:txBody>
          <a:bodyPr wrap="square" lIns="0" tIns="0" rIns="0" bIns="0" rtlCol="0" anchor="ctr"/>
          <a:lstStyle/>
          <a:p>
            <a:pPr marL="0" indent="0">
              <a:buNone/>
              <a:defRPr/>
            </a:pPr>
            <a:r>
              <a:rPr lang="en-US" sz="1000">
                <a:solidFill>
                  <a:srgbClr val="B8C8DC"/>
                </a:solidFill>
              </a:rPr>
              <a:t>spiral_in: radius decreases from max to min. Creates convergent coverage toward the mission center point.</a:t>
            </a:r>
            <a:endParaRPr lang="en-US" sz="1000"/>
          </a:p>
        </p:txBody>
      </p:sp>
      <p:sp>
        <p:nvSpPr>
          <p:cNvPr id="1924137739" name="Shape 16"/>
          <p:cNvSpPr/>
          <p:nvPr/>
        </p:nvSpPr>
        <p:spPr bwMode="auto">
          <a:xfrm>
            <a:off x="480060" y="3200400"/>
            <a:ext cx="0" cy="365760"/>
          </a:xfrm>
          <a:prstGeom prst="line">
            <a:avLst/>
          </a:prstGeom>
          <a:noFill/>
          <a:ln w="19050">
            <a:solidFill>
              <a:srgbClr val="00B4D8"/>
            </a:solidFill>
            <a:prstDash val="solid"/>
          </a:ln>
        </p:spPr>
      </p:sp>
      <p:sp>
        <p:nvSpPr>
          <p:cNvPr id="2131298143" name="Shape 17"/>
          <p:cNvSpPr/>
          <p:nvPr/>
        </p:nvSpPr>
        <p:spPr bwMode="auto">
          <a:xfrm>
            <a:off x="274320" y="3794760"/>
            <a:ext cx="411480" cy="411480"/>
          </a:xfrm>
          <a:prstGeom prst="ellipse">
            <a:avLst/>
          </a:prstGeom>
          <a:solidFill>
            <a:srgbClr val="00B4D8"/>
          </a:solidFill>
          <a:ln w="12700">
            <a:solidFill>
              <a:srgbClr val="00B4D8"/>
            </a:solidFill>
            <a:prstDash val="solid"/>
          </a:ln>
        </p:spPr>
      </p:sp>
      <p:sp>
        <p:nvSpPr>
          <p:cNvPr id="378593517" name="Text 18"/>
          <p:cNvSpPr/>
          <p:nvPr/>
        </p:nvSpPr>
        <p:spPr bwMode="auto">
          <a:xfrm>
            <a:off x="274320" y="3794760"/>
            <a:ext cx="411480" cy="411480"/>
          </a:xfrm>
          <a:prstGeom prst="rect">
            <a:avLst/>
          </a:prstGeom>
          <a:noFill/>
          <a:ln/>
        </p:spPr>
        <p:txBody>
          <a:bodyPr wrap="square" lIns="0" tIns="0" rIns="0" bIns="0" rtlCol="0" anchor="ctr"/>
          <a:lstStyle/>
          <a:p>
            <a:pPr marL="0" indent="0" algn="ctr">
              <a:buNone/>
              <a:defRPr/>
            </a:pPr>
            <a:r>
              <a:rPr lang="en-US" sz="1400" b="1">
                <a:solidFill>
                  <a:srgbClr val="0A1628"/>
                </a:solidFill>
              </a:rPr>
              <a:t>4</a:t>
            </a:r>
            <a:endParaRPr lang="en-US" sz="1400"/>
          </a:p>
        </p:txBody>
      </p:sp>
      <p:sp>
        <p:nvSpPr>
          <p:cNvPr id="893895881" name="Text 19"/>
          <p:cNvSpPr/>
          <p:nvPr/>
        </p:nvSpPr>
        <p:spPr bwMode="auto">
          <a:xfrm>
            <a:off x="777240" y="3794760"/>
            <a:ext cx="3474720" cy="228600"/>
          </a:xfrm>
          <a:prstGeom prst="rect">
            <a:avLst/>
          </a:prstGeom>
          <a:noFill/>
          <a:ln/>
        </p:spPr>
        <p:txBody>
          <a:bodyPr wrap="square" lIns="0" tIns="0" rIns="0" bIns="0" rtlCol="0" anchor="ctr"/>
          <a:lstStyle/>
          <a:p>
            <a:pPr marL="0" indent="0">
              <a:buNone/>
              <a:defRPr/>
            </a:pPr>
            <a:r>
              <a:rPr lang="en-US" sz="1200" b="1">
                <a:solidFill>
                  <a:srgbClr val="00B4D8"/>
                </a:solidFill>
              </a:rPr>
              <a:t>Outward Spiral</a:t>
            </a:r>
            <a:endParaRPr lang="en-US" sz="1200"/>
          </a:p>
        </p:txBody>
      </p:sp>
      <p:sp>
        <p:nvSpPr>
          <p:cNvPr id="1464682250" name="Text 20"/>
          <p:cNvSpPr/>
          <p:nvPr/>
        </p:nvSpPr>
        <p:spPr bwMode="auto">
          <a:xfrm>
            <a:off x="777240" y="4023360"/>
            <a:ext cx="3520440" cy="548640"/>
          </a:xfrm>
          <a:prstGeom prst="rect">
            <a:avLst/>
          </a:prstGeom>
          <a:noFill/>
          <a:ln/>
        </p:spPr>
        <p:txBody>
          <a:bodyPr wrap="square" lIns="0" tIns="0" rIns="0" bIns="0" rtlCol="0" anchor="ctr"/>
          <a:lstStyle/>
          <a:p>
            <a:pPr marL="0" indent="0">
              <a:buNone/>
              <a:defRPr/>
            </a:pPr>
            <a:r>
              <a:rPr lang="en-US" sz="1000">
                <a:solidFill>
                  <a:srgbClr val="B8C8DC"/>
                </a:solidFill>
              </a:rPr>
              <a:t>spiral_out: radius increases from min to max. Creates divergent coverage expanding from center outward.</a:t>
            </a:r>
            <a:endParaRPr lang="en-US" sz="1000"/>
          </a:p>
        </p:txBody>
      </p:sp>
      <p:sp>
        <p:nvSpPr>
          <p:cNvPr id="1198938889" name="Shape 21"/>
          <p:cNvSpPr/>
          <p:nvPr/>
        </p:nvSpPr>
        <p:spPr bwMode="auto">
          <a:xfrm>
            <a:off x="4709160" y="658368"/>
            <a:ext cx="4160519" cy="4297680"/>
          </a:xfrm>
          <a:prstGeom prst="rect">
            <a:avLst/>
          </a:prstGeom>
          <a:solidFill>
            <a:srgbClr val="0D1B35"/>
          </a:solidFill>
          <a:ln w="19050">
            <a:solidFill>
              <a:srgbClr val="00B4D8"/>
            </a:solidFill>
            <a:prstDash val="solid"/>
          </a:ln>
        </p:spPr>
      </p:sp>
      <p:sp>
        <p:nvSpPr>
          <p:cNvPr id="1577223267" name="Text 22"/>
          <p:cNvSpPr/>
          <p:nvPr/>
        </p:nvSpPr>
        <p:spPr bwMode="auto">
          <a:xfrm>
            <a:off x="4846320" y="749808"/>
            <a:ext cx="3840480" cy="274320"/>
          </a:xfrm>
          <a:prstGeom prst="rect">
            <a:avLst/>
          </a:prstGeom>
          <a:noFill/>
          <a:ln/>
        </p:spPr>
        <p:txBody>
          <a:bodyPr wrap="square" lIns="0" tIns="0" rIns="0" bIns="0" rtlCol="0" anchor="ctr"/>
          <a:lstStyle/>
          <a:p>
            <a:pPr marL="0" indent="0" algn="ctr">
              <a:buNone/>
              <a:defRPr/>
            </a:pPr>
            <a:r>
              <a:rPr lang="en-US" sz="1200" b="1">
                <a:solidFill>
                  <a:srgbClr val="00B4D8"/>
                </a:solidFill>
              </a:rPr>
              <a:t>Elliptical Spiral Pattern</a:t>
            </a:r>
            <a:endParaRPr lang="en-US" sz="1200"/>
          </a:p>
        </p:txBody>
      </p:sp>
      <p:sp>
        <p:nvSpPr>
          <p:cNvPr id="1663179189" name="Shape 23"/>
          <p:cNvSpPr/>
          <p:nvPr/>
        </p:nvSpPr>
        <p:spPr bwMode="auto">
          <a:xfrm>
            <a:off x="6464808" y="2514600"/>
            <a:ext cx="640080" cy="457200"/>
          </a:xfrm>
          <a:prstGeom prst="ellipse">
            <a:avLst/>
          </a:prstGeom>
          <a:solidFill>
            <a:srgbClr val="0A1628">
              <a:alpha val="0"/>
            </a:srgbClr>
          </a:solidFill>
          <a:ln w="19050">
            <a:solidFill>
              <a:srgbClr val="06D6A0"/>
            </a:solidFill>
            <a:prstDash val="solid"/>
          </a:ln>
        </p:spPr>
      </p:sp>
      <p:sp>
        <p:nvSpPr>
          <p:cNvPr id="1407023794" name="Shape 24"/>
          <p:cNvSpPr/>
          <p:nvPr/>
        </p:nvSpPr>
        <p:spPr bwMode="auto">
          <a:xfrm>
            <a:off x="6144768" y="2286000"/>
            <a:ext cx="1280160" cy="914400"/>
          </a:xfrm>
          <a:prstGeom prst="ellipse">
            <a:avLst/>
          </a:prstGeom>
          <a:solidFill>
            <a:srgbClr val="0A1628">
              <a:alpha val="0"/>
            </a:srgbClr>
          </a:solidFill>
          <a:ln w="19050">
            <a:solidFill>
              <a:srgbClr val="00B4D8"/>
            </a:solidFill>
            <a:prstDash val="dash"/>
          </a:ln>
        </p:spPr>
      </p:sp>
      <p:sp>
        <p:nvSpPr>
          <p:cNvPr id="567007439" name="Shape 25"/>
          <p:cNvSpPr/>
          <p:nvPr/>
        </p:nvSpPr>
        <p:spPr bwMode="auto">
          <a:xfrm>
            <a:off x="5824728" y="2057400"/>
            <a:ext cx="1920240" cy="1371600"/>
          </a:xfrm>
          <a:prstGeom prst="ellipse">
            <a:avLst/>
          </a:prstGeom>
          <a:solidFill>
            <a:srgbClr val="0A1628">
              <a:alpha val="0"/>
            </a:srgbClr>
          </a:solidFill>
          <a:ln w="19050">
            <a:solidFill>
              <a:srgbClr val="0077B6"/>
            </a:solidFill>
            <a:prstDash val="solid"/>
          </a:ln>
        </p:spPr>
      </p:sp>
      <p:sp>
        <p:nvSpPr>
          <p:cNvPr id="1983573787" name="Shape 26"/>
          <p:cNvSpPr/>
          <p:nvPr/>
        </p:nvSpPr>
        <p:spPr bwMode="auto">
          <a:xfrm>
            <a:off x="5504687" y="1828800"/>
            <a:ext cx="2560320" cy="1828800"/>
          </a:xfrm>
          <a:prstGeom prst="ellipse">
            <a:avLst/>
          </a:prstGeom>
          <a:solidFill>
            <a:srgbClr val="0A1628">
              <a:alpha val="0"/>
            </a:srgbClr>
          </a:solidFill>
          <a:ln w="19050">
            <a:solidFill>
              <a:srgbClr val="7B2FBE"/>
            </a:solidFill>
            <a:prstDash val="dash"/>
          </a:ln>
        </p:spPr>
      </p:sp>
      <p:sp>
        <p:nvSpPr>
          <p:cNvPr id="818794070" name="Shape 27"/>
          <p:cNvSpPr/>
          <p:nvPr/>
        </p:nvSpPr>
        <p:spPr bwMode="auto">
          <a:xfrm>
            <a:off x="5184648" y="1600200"/>
            <a:ext cx="3200400" cy="2286000"/>
          </a:xfrm>
          <a:prstGeom prst="ellipse">
            <a:avLst/>
          </a:prstGeom>
          <a:solidFill>
            <a:srgbClr val="0A1628">
              <a:alpha val="0"/>
            </a:srgbClr>
          </a:solidFill>
          <a:ln w="19050">
            <a:solidFill>
              <a:srgbClr val="EF476F"/>
            </a:solidFill>
            <a:prstDash val="solid"/>
          </a:ln>
        </p:spPr>
      </p:sp>
      <p:sp>
        <p:nvSpPr>
          <p:cNvPr id="622403829" name="Shape 28"/>
          <p:cNvSpPr/>
          <p:nvPr/>
        </p:nvSpPr>
        <p:spPr bwMode="auto">
          <a:xfrm>
            <a:off x="4800600" y="1325880"/>
            <a:ext cx="3968496" cy="2834640"/>
          </a:xfrm>
          <a:prstGeom prst="ellipse">
            <a:avLst/>
          </a:prstGeom>
          <a:solidFill>
            <a:srgbClr val="0A1628">
              <a:alpha val="0"/>
            </a:srgbClr>
          </a:solidFill>
          <a:ln w="19050">
            <a:solidFill>
              <a:srgbClr val="FFB703"/>
            </a:solidFill>
            <a:prstDash val="dash"/>
          </a:ln>
        </p:spPr>
      </p:sp>
      <p:sp>
        <p:nvSpPr>
          <p:cNvPr id="2066084925" name="Shape 30"/>
          <p:cNvSpPr/>
          <p:nvPr/>
        </p:nvSpPr>
        <p:spPr bwMode="auto">
          <a:xfrm>
            <a:off x="6693408" y="2651760"/>
            <a:ext cx="182880" cy="182880"/>
          </a:xfrm>
          <a:prstGeom prst="ellipse">
            <a:avLst/>
          </a:prstGeom>
          <a:solidFill>
            <a:srgbClr val="FFB703"/>
          </a:solidFill>
          <a:ln w="12700">
            <a:solidFill>
              <a:srgbClr val="FFB703"/>
            </a:solidFill>
            <a:prstDash val="solid"/>
          </a:ln>
        </p:spPr>
      </p:sp>
      <p:sp>
        <p:nvSpPr>
          <p:cNvPr id="2093324413" name="Text 31"/>
          <p:cNvSpPr/>
          <p:nvPr/>
        </p:nvSpPr>
        <p:spPr bwMode="auto">
          <a:xfrm>
            <a:off x="6464808" y="2852928"/>
            <a:ext cx="640080" cy="182880"/>
          </a:xfrm>
          <a:prstGeom prst="rect">
            <a:avLst/>
          </a:prstGeom>
          <a:noFill/>
          <a:ln/>
        </p:spPr>
        <p:txBody>
          <a:bodyPr wrap="square" lIns="0" tIns="0" rIns="0" bIns="0" rtlCol="0" anchor="ctr"/>
          <a:lstStyle/>
          <a:p>
            <a:pPr marL="0" indent="0" algn="ctr">
              <a:buNone/>
              <a:defRPr/>
            </a:pPr>
            <a:r>
              <a:rPr lang="en-US" sz="800">
                <a:solidFill>
                  <a:srgbClr val="FFB703"/>
                </a:solidFill>
              </a:rPr>
              <a:t>Center</a:t>
            </a:r>
            <a:endParaRPr lang="en-US" sz="800"/>
          </a:p>
        </p:txBody>
      </p:sp>
      <p:sp>
        <p:nvSpPr>
          <p:cNvPr id="1938844059" name="Shape 32"/>
          <p:cNvSpPr/>
          <p:nvPr/>
        </p:nvSpPr>
        <p:spPr bwMode="auto">
          <a:xfrm>
            <a:off x="7973568" y="1828800"/>
            <a:ext cx="365760" cy="365760"/>
          </a:xfrm>
          <a:prstGeom prst="line">
            <a:avLst/>
          </a:prstGeom>
          <a:noFill/>
          <a:ln w="25400">
            <a:solidFill>
              <a:srgbClr val="00B4D8"/>
            </a:solidFill>
            <a:prstDash val="solid"/>
          </a:ln>
        </p:spPr>
      </p:sp>
      <p:sp>
        <p:nvSpPr>
          <p:cNvPr id="1714822899" name="Text 33"/>
          <p:cNvSpPr/>
          <p:nvPr/>
        </p:nvSpPr>
        <p:spPr bwMode="auto">
          <a:xfrm>
            <a:off x="7772400" y="1645920"/>
            <a:ext cx="1005840" cy="228600"/>
          </a:xfrm>
          <a:prstGeom prst="rect">
            <a:avLst/>
          </a:prstGeom>
          <a:noFill/>
          <a:ln/>
        </p:spPr>
        <p:txBody>
          <a:bodyPr wrap="square" lIns="0" tIns="0" rIns="0" bIns="0" rtlCol="0" anchor="ctr"/>
          <a:lstStyle/>
          <a:p>
            <a:pPr marL="0" indent="0">
              <a:buNone/>
              <a:defRPr/>
            </a:pPr>
            <a:r>
              <a:rPr lang="en-US" sz="800">
                <a:solidFill>
                  <a:srgbClr val="00B4D8"/>
                </a:solidFill>
              </a:rPr>
              <a:t>spiral_in →</a:t>
            </a:r>
            <a:endParaRPr lang="en-US" sz="800"/>
          </a:p>
        </p:txBody>
      </p:sp>
      <p:sp>
        <p:nvSpPr>
          <p:cNvPr id="1597828633" name="Text 34"/>
          <p:cNvSpPr/>
          <p:nvPr/>
        </p:nvSpPr>
        <p:spPr bwMode="auto">
          <a:xfrm>
            <a:off x="7772400" y="1920240"/>
            <a:ext cx="1005840" cy="228600"/>
          </a:xfrm>
          <a:prstGeom prst="rect">
            <a:avLst/>
          </a:prstGeom>
          <a:noFill/>
          <a:ln/>
        </p:spPr>
        <p:txBody>
          <a:bodyPr wrap="square" lIns="0" tIns="0" rIns="0" bIns="0" rtlCol="0" anchor="ctr"/>
          <a:lstStyle/>
          <a:p>
            <a:pPr marL="0" indent="0">
              <a:buNone/>
              <a:defRPr/>
            </a:pPr>
            <a:r>
              <a:rPr lang="en-US" sz="800">
                <a:solidFill>
                  <a:srgbClr val="FFB703"/>
                </a:solidFill>
              </a:rPr>
              <a:t>spiral_out ←</a:t>
            </a:r>
            <a:endParaRPr lang="en-US" sz="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Slide 9">
    <p:bg>
      <p:bgPr shadeToTitle="0">
        <a:solidFill>
          <a:srgbClr val="0A1628"/>
        </a:solidFill>
      </p:bgPr>
    </p:bg>
    <p:spTree>
      <p:nvGrpSpPr>
        <p:cNvPr id="1" name=""/>
        <p:cNvGrpSpPr/>
        <p:nvPr/>
      </p:nvGrpSpPr>
      <p:grpSpPr bwMode="auto">
        <a:xfrm>
          <a:off x="0" y="0"/>
          <a:ext cx="0" cy="0"/>
          <a:chOff x="0" y="0"/>
          <a:chExt cx="0" cy="0"/>
        </a:xfrm>
      </p:grpSpPr>
      <p:sp>
        <p:nvSpPr>
          <p:cNvPr id="832553395" name="Shape 0"/>
          <p:cNvSpPr/>
          <p:nvPr/>
        </p:nvSpPr>
        <p:spPr bwMode="auto">
          <a:xfrm>
            <a:off x="0" y="0"/>
            <a:ext cx="9144000" cy="73152"/>
          </a:xfrm>
          <a:prstGeom prst="rect">
            <a:avLst/>
          </a:prstGeom>
          <a:solidFill>
            <a:srgbClr val="00B4D8"/>
          </a:solidFill>
          <a:ln w="12700">
            <a:solidFill>
              <a:srgbClr val="00B4D8"/>
            </a:solidFill>
            <a:prstDash val="solid"/>
          </a:ln>
        </p:spPr>
      </p:sp>
      <p:sp>
        <p:nvSpPr>
          <p:cNvPr id="1934448149" name="Text 1"/>
          <p:cNvSpPr/>
          <p:nvPr/>
        </p:nvSpPr>
        <p:spPr bwMode="auto">
          <a:xfrm>
            <a:off x="365760" y="137160"/>
            <a:ext cx="8229600" cy="411480"/>
          </a:xfrm>
          <a:prstGeom prst="rect">
            <a:avLst/>
          </a:prstGeom>
          <a:noFill/>
          <a:ln/>
        </p:spPr>
        <p:txBody>
          <a:bodyPr wrap="square" lIns="0" tIns="0" rIns="0" bIns="0" rtlCol="0" anchor="ctr"/>
          <a:lstStyle/>
          <a:p>
            <a:pPr marL="0" indent="0">
              <a:buNone/>
              <a:defRPr/>
            </a:pPr>
            <a:r>
              <a:rPr lang="en-US" sz="2400" b="1">
                <a:solidFill>
                  <a:srgbClr val="FFFFFF"/>
                </a:solidFill>
              </a:rPr>
              <a:t>Waypoint Mission Planner</a:t>
            </a:r>
            <a:endParaRPr lang="en-US" sz="2400"/>
          </a:p>
        </p:txBody>
      </p:sp>
      <p:sp>
        <p:nvSpPr>
          <p:cNvPr id="652187492" name="Shape 2"/>
          <p:cNvSpPr/>
          <p:nvPr/>
        </p:nvSpPr>
        <p:spPr bwMode="auto">
          <a:xfrm>
            <a:off x="274320" y="685800"/>
            <a:ext cx="1993392" cy="1828800"/>
          </a:xfrm>
          <a:prstGeom prst="rect">
            <a:avLst/>
          </a:prstGeom>
          <a:solidFill>
            <a:srgbClr val="112240"/>
          </a:solidFill>
          <a:ln w="12700">
            <a:solidFill>
              <a:srgbClr val="FFB703"/>
            </a:solidFill>
            <a:prstDash val="solid"/>
          </a:ln>
        </p:spPr>
      </p:sp>
      <p:sp>
        <p:nvSpPr>
          <p:cNvPr id="1107894575" name="Text 3"/>
          <p:cNvSpPr/>
          <p:nvPr/>
        </p:nvSpPr>
        <p:spPr bwMode="auto">
          <a:xfrm>
            <a:off x="274320" y="777240"/>
            <a:ext cx="1993392" cy="457200"/>
          </a:xfrm>
          <a:prstGeom prst="rect">
            <a:avLst/>
          </a:prstGeom>
          <a:noFill/>
          <a:ln/>
        </p:spPr>
        <p:txBody>
          <a:bodyPr wrap="square" rtlCol="0" anchor="ctr"/>
          <a:lstStyle/>
          <a:p>
            <a:pPr marL="0" indent="0" algn="ctr">
              <a:buNone/>
              <a:defRPr/>
            </a:pPr>
            <a:r>
              <a:rPr lang="en-US" sz="2800">
                <a:solidFill>
                  <a:srgbClr val="000000"/>
                </a:solidFill>
              </a:rPr>
              <a:t>📍</a:t>
            </a:r>
            <a:endParaRPr lang="en-US" sz="2800"/>
          </a:p>
        </p:txBody>
      </p:sp>
      <p:sp>
        <p:nvSpPr>
          <p:cNvPr id="1639106725" name="Text 4"/>
          <p:cNvSpPr/>
          <p:nvPr/>
        </p:nvSpPr>
        <p:spPr bwMode="auto">
          <a:xfrm>
            <a:off x="365760" y="1234440"/>
            <a:ext cx="1810512" cy="457200"/>
          </a:xfrm>
          <a:prstGeom prst="rect">
            <a:avLst/>
          </a:prstGeom>
          <a:noFill/>
          <a:ln/>
        </p:spPr>
        <p:txBody>
          <a:bodyPr wrap="square" lIns="0" tIns="0" rIns="0" bIns="0" rtlCol="0" anchor="ctr"/>
          <a:lstStyle/>
          <a:p>
            <a:pPr marL="0" indent="0" algn="ctr">
              <a:buNone/>
              <a:defRPr/>
            </a:pPr>
            <a:r>
              <a:rPr lang="en-US" sz="1100" b="1">
                <a:solidFill>
                  <a:srgbClr val="FFB703"/>
                </a:solidFill>
              </a:rPr>
              <a:t>User-Defined</a:t>
            </a:r>
            <a:endParaRPr lang="en-US" sz="1100"/>
          </a:p>
          <a:p>
            <a:pPr marL="0" indent="0" algn="ctr">
              <a:buNone/>
              <a:defRPr/>
            </a:pPr>
            <a:r>
              <a:rPr lang="en-US" sz="1100" b="1">
                <a:solidFill>
                  <a:srgbClr val="FFB703"/>
                </a:solidFill>
              </a:rPr>
              <a:t>Waypoints</a:t>
            </a:r>
            <a:endParaRPr lang="en-US" sz="1100"/>
          </a:p>
        </p:txBody>
      </p:sp>
      <p:sp>
        <p:nvSpPr>
          <p:cNvPr id="1384576825" name="Text 5"/>
          <p:cNvSpPr/>
          <p:nvPr/>
        </p:nvSpPr>
        <p:spPr bwMode="auto">
          <a:xfrm>
            <a:off x="365760" y="1691640"/>
            <a:ext cx="1810512" cy="777240"/>
          </a:xfrm>
          <a:prstGeom prst="rect">
            <a:avLst/>
          </a:prstGeom>
          <a:noFill/>
          <a:ln/>
        </p:spPr>
        <p:txBody>
          <a:bodyPr wrap="square" lIns="0" tIns="0" rIns="0" bIns="0" rtlCol="0" anchor="ctr"/>
          <a:lstStyle/>
          <a:p>
            <a:pPr marL="0" indent="0" algn="ctr">
              <a:buNone/>
              <a:defRPr/>
            </a:pPr>
            <a:r>
              <a:rPr lang="en-US" sz="950">
                <a:solidFill>
                  <a:srgbClr val="B8C8DC"/>
                </a:solidFill>
              </a:rPr>
              <a:t>Sequential GPS points extracted directly from LLM-generated JSON. Each point individually addressable.</a:t>
            </a:r>
            <a:endParaRPr lang="en-US" sz="950"/>
          </a:p>
        </p:txBody>
      </p:sp>
      <p:sp>
        <p:nvSpPr>
          <p:cNvPr id="1372688361" name="Shape 6"/>
          <p:cNvSpPr/>
          <p:nvPr/>
        </p:nvSpPr>
        <p:spPr bwMode="auto">
          <a:xfrm>
            <a:off x="2450592" y="685800"/>
            <a:ext cx="1993392" cy="1828800"/>
          </a:xfrm>
          <a:prstGeom prst="rect">
            <a:avLst/>
          </a:prstGeom>
          <a:solidFill>
            <a:srgbClr val="112240"/>
          </a:solidFill>
          <a:ln w="12700">
            <a:solidFill>
              <a:srgbClr val="FFB703"/>
            </a:solidFill>
            <a:prstDash val="solid"/>
          </a:ln>
        </p:spPr>
      </p:sp>
      <p:sp>
        <p:nvSpPr>
          <p:cNvPr id="214006311" name="Text 7"/>
          <p:cNvSpPr/>
          <p:nvPr/>
        </p:nvSpPr>
        <p:spPr bwMode="auto">
          <a:xfrm>
            <a:off x="2450592" y="777240"/>
            <a:ext cx="1993392" cy="457200"/>
          </a:xfrm>
          <a:prstGeom prst="rect">
            <a:avLst/>
          </a:prstGeom>
          <a:noFill/>
          <a:ln/>
        </p:spPr>
        <p:txBody>
          <a:bodyPr wrap="square" rtlCol="0" anchor="ctr"/>
          <a:lstStyle/>
          <a:p>
            <a:pPr marL="0" indent="0" algn="ctr">
              <a:buNone/>
              <a:defRPr/>
            </a:pPr>
            <a:r>
              <a:rPr lang="en-US" sz="2800">
                <a:solidFill>
                  <a:srgbClr val="000000"/>
                </a:solidFill>
              </a:rPr>
              <a:t>📏</a:t>
            </a:r>
            <a:endParaRPr lang="en-US" sz="2800"/>
          </a:p>
        </p:txBody>
      </p:sp>
      <p:sp>
        <p:nvSpPr>
          <p:cNvPr id="924052593" name="Text 8"/>
          <p:cNvSpPr/>
          <p:nvPr/>
        </p:nvSpPr>
        <p:spPr bwMode="auto">
          <a:xfrm>
            <a:off x="2542032" y="1234440"/>
            <a:ext cx="1810512" cy="457200"/>
          </a:xfrm>
          <a:prstGeom prst="rect">
            <a:avLst/>
          </a:prstGeom>
          <a:noFill/>
          <a:ln/>
        </p:spPr>
        <p:txBody>
          <a:bodyPr wrap="square" lIns="0" tIns="0" rIns="0" bIns="0" rtlCol="0" anchor="ctr"/>
          <a:lstStyle/>
          <a:p>
            <a:pPr marL="0" indent="0" algn="ctr">
              <a:buNone/>
              <a:defRPr/>
            </a:pPr>
            <a:r>
              <a:rPr lang="en-US" sz="1100" b="1">
                <a:solidFill>
                  <a:srgbClr val="FFB703"/>
                </a:solidFill>
              </a:rPr>
              <a:t>Altitude</a:t>
            </a:r>
            <a:endParaRPr lang="en-US" sz="1100"/>
          </a:p>
          <a:p>
            <a:pPr marL="0" indent="0" algn="ctr">
              <a:buNone/>
              <a:defRPr/>
            </a:pPr>
            <a:r>
              <a:rPr lang="en-US" sz="1100" b="1">
                <a:solidFill>
                  <a:srgbClr val="FFB703"/>
                </a:solidFill>
              </a:rPr>
              <a:t>Handling</a:t>
            </a:r>
            <a:endParaRPr lang="en-US" sz="1100"/>
          </a:p>
        </p:txBody>
      </p:sp>
      <p:sp>
        <p:nvSpPr>
          <p:cNvPr id="804855077" name="Text 9"/>
          <p:cNvSpPr/>
          <p:nvPr/>
        </p:nvSpPr>
        <p:spPr bwMode="auto">
          <a:xfrm>
            <a:off x="2542032" y="1691640"/>
            <a:ext cx="1810512" cy="777240"/>
          </a:xfrm>
          <a:prstGeom prst="rect">
            <a:avLst/>
          </a:prstGeom>
          <a:noFill/>
          <a:ln/>
        </p:spPr>
        <p:txBody>
          <a:bodyPr wrap="square" lIns="0" tIns="0" rIns="0" bIns="0" rtlCol="0" anchor="ctr"/>
          <a:lstStyle/>
          <a:p>
            <a:pPr marL="0" indent="0" algn="ctr">
              <a:buNone/>
              <a:defRPr/>
            </a:pPr>
            <a:r>
              <a:rPr lang="en-US" sz="950">
                <a:solidFill>
                  <a:srgbClr val="B8C8DC"/>
                </a:solidFill>
              </a:rPr>
              <a:t>Per-waypoint AGL altitude support. Defaults to mission-level altitude if individual value not specified.</a:t>
            </a:r>
            <a:endParaRPr lang="en-US" sz="950"/>
          </a:p>
        </p:txBody>
      </p:sp>
      <p:sp>
        <p:nvSpPr>
          <p:cNvPr id="465019245" name="Shape 10"/>
          <p:cNvSpPr/>
          <p:nvPr/>
        </p:nvSpPr>
        <p:spPr bwMode="auto">
          <a:xfrm>
            <a:off x="4626864" y="685800"/>
            <a:ext cx="1993392" cy="1828800"/>
          </a:xfrm>
          <a:prstGeom prst="rect">
            <a:avLst/>
          </a:prstGeom>
          <a:solidFill>
            <a:srgbClr val="112240"/>
          </a:solidFill>
          <a:ln w="12700">
            <a:solidFill>
              <a:srgbClr val="FFB703"/>
            </a:solidFill>
            <a:prstDash val="solid"/>
          </a:ln>
        </p:spPr>
      </p:sp>
      <p:sp>
        <p:nvSpPr>
          <p:cNvPr id="1145428108" name="Text 11"/>
          <p:cNvSpPr/>
          <p:nvPr/>
        </p:nvSpPr>
        <p:spPr bwMode="auto">
          <a:xfrm>
            <a:off x="4626864" y="777240"/>
            <a:ext cx="1993392" cy="457200"/>
          </a:xfrm>
          <a:prstGeom prst="rect">
            <a:avLst/>
          </a:prstGeom>
          <a:noFill/>
          <a:ln/>
        </p:spPr>
        <p:txBody>
          <a:bodyPr wrap="square" rtlCol="0" anchor="ctr"/>
          <a:lstStyle/>
          <a:p>
            <a:pPr marL="0" indent="0" algn="ctr">
              <a:buNone/>
              <a:defRPr/>
            </a:pPr>
            <a:r>
              <a:rPr lang="en-US" sz="2800">
                <a:solidFill>
                  <a:srgbClr val="000000"/>
                </a:solidFill>
              </a:rPr>
              <a:t>⚡</a:t>
            </a:r>
            <a:endParaRPr lang="en-US" sz="2800"/>
          </a:p>
        </p:txBody>
      </p:sp>
      <p:sp>
        <p:nvSpPr>
          <p:cNvPr id="54382377" name="Text 12"/>
          <p:cNvSpPr/>
          <p:nvPr/>
        </p:nvSpPr>
        <p:spPr bwMode="auto">
          <a:xfrm>
            <a:off x="4718304" y="1234440"/>
            <a:ext cx="1810512" cy="457200"/>
          </a:xfrm>
          <a:prstGeom prst="rect">
            <a:avLst/>
          </a:prstGeom>
          <a:noFill/>
          <a:ln/>
        </p:spPr>
        <p:txBody>
          <a:bodyPr wrap="square" lIns="0" tIns="0" rIns="0" bIns="0" rtlCol="0" anchor="ctr"/>
          <a:lstStyle/>
          <a:p>
            <a:pPr marL="0" indent="0" algn="ctr">
              <a:buNone/>
              <a:defRPr/>
            </a:pPr>
            <a:r>
              <a:rPr lang="en-US" sz="1100" b="1">
                <a:solidFill>
                  <a:srgbClr val="FFB703"/>
                </a:solidFill>
              </a:rPr>
              <a:t>Speed</a:t>
            </a:r>
            <a:endParaRPr lang="en-US" sz="1100"/>
          </a:p>
          <a:p>
            <a:pPr marL="0" indent="0" algn="ctr">
              <a:buNone/>
              <a:defRPr/>
            </a:pPr>
            <a:r>
              <a:rPr lang="en-US" sz="1100" b="1">
                <a:solidFill>
                  <a:srgbClr val="FFB703"/>
                </a:solidFill>
              </a:rPr>
              <a:t>Handling</a:t>
            </a:r>
            <a:endParaRPr lang="en-US" sz="1100"/>
          </a:p>
        </p:txBody>
      </p:sp>
      <p:sp>
        <p:nvSpPr>
          <p:cNvPr id="1478227136" name="Text 13"/>
          <p:cNvSpPr/>
          <p:nvPr/>
        </p:nvSpPr>
        <p:spPr bwMode="auto">
          <a:xfrm>
            <a:off x="4718304" y="1691640"/>
            <a:ext cx="1810512" cy="777240"/>
          </a:xfrm>
          <a:prstGeom prst="rect">
            <a:avLst/>
          </a:prstGeom>
          <a:noFill/>
          <a:ln/>
        </p:spPr>
        <p:txBody>
          <a:bodyPr wrap="square" lIns="0" tIns="0" rIns="0" bIns="0" rtlCol="0" anchor="ctr"/>
          <a:lstStyle/>
          <a:p>
            <a:pPr marL="0" indent="0" algn="ctr">
              <a:buNone/>
              <a:defRPr/>
            </a:pPr>
            <a:r>
              <a:rPr lang="en-US" sz="950">
                <a:solidFill>
                  <a:srgbClr val="B8C8DC"/>
                </a:solidFill>
              </a:rPr>
              <a:t>DO_CHANGE_SPEED command inserted before each waypoint for dynamic speed adjustment mid-mission.</a:t>
            </a:r>
            <a:endParaRPr lang="en-US" sz="950"/>
          </a:p>
        </p:txBody>
      </p:sp>
      <p:sp>
        <p:nvSpPr>
          <p:cNvPr id="188461690" name="Shape 14"/>
          <p:cNvSpPr/>
          <p:nvPr/>
        </p:nvSpPr>
        <p:spPr bwMode="auto">
          <a:xfrm>
            <a:off x="6803136" y="685800"/>
            <a:ext cx="1993392" cy="1828800"/>
          </a:xfrm>
          <a:prstGeom prst="rect">
            <a:avLst/>
          </a:prstGeom>
          <a:solidFill>
            <a:srgbClr val="112240"/>
          </a:solidFill>
          <a:ln w="12700">
            <a:solidFill>
              <a:srgbClr val="FFB703"/>
            </a:solidFill>
            <a:prstDash val="solid"/>
          </a:ln>
        </p:spPr>
      </p:sp>
      <p:sp>
        <p:nvSpPr>
          <p:cNvPr id="1036626982" name="Text 15"/>
          <p:cNvSpPr/>
          <p:nvPr/>
        </p:nvSpPr>
        <p:spPr bwMode="auto">
          <a:xfrm>
            <a:off x="6803136" y="777240"/>
            <a:ext cx="1993392" cy="457200"/>
          </a:xfrm>
          <a:prstGeom prst="rect">
            <a:avLst/>
          </a:prstGeom>
          <a:noFill/>
          <a:ln/>
        </p:spPr>
        <p:txBody>
          <a:bodyPr wrap="square" rtlCol="0" anchor="ctr"/>
          <a:lstStyle/>
          <a:p>
            <a:pPr marL="0" indent="0" algn="ctr">
              <a:buNone/>
              <a:defRPr/>
            </a:pPr>
            <a:r>
              <a:rPr lang="en-US" sz="2800">
                <a:solidFill>
                  <a:srgbClr val="000000"/>
                </a:solidFill>
              </a:rPr>
              <a:t>📡</a:t>
            </a:r>
            <a:endParaRPr lang="en-US" sz="2800"/>
          </a:p>
        </p:txBody>
      </p:sp>
      <p:sp>
        <p:nvSpPr>
          <p:cNvPr id="1188467904" name="Text 16"/>
          <p:cNvSpPr/>
          <p:nvPr/>
        </p:nvSpPr>
        <p:spPr bwMode="auto">
          <a:xfrm>
            <a:off x="6894576" y="1234440"/>
            <a:ext cx="1810512" cy="457200"/>
          </a:xfrm>
          <a:prstGeom prst="rect">
            <a:avLst/>
          </a:prstGeom>
          <a:noFill/>
          <a:ln/>
        </p:spPr>
        <p:txBody>
          <a:bodyPr wrap="square" lIns="0" tIns="0" rIns="0" bIns="0" rtlCol="0" anchor="ctr"/>
          <a:lstStyle/>
          <a:p>
            <a:pPr marL="0" indent="0" algn="ctr">
              <a:buNone/>
              <a:defRPr/>
            </a:pPr>
            <a:r>
              <a:rPr lang="en-US" sz="1100" b="1">
                <a:solidFill>
                  <a:srgbClr val="FFB703"/>
                </a:solidFill>
              </a:rPr>
              <a:t>MAVLink</a:t>
            </a:r>
            <a:endParaRPr lang="en-US" sz="1100"/>
          </a:p>
          <a:p>
            <a:pPr marL="0" indent="0" algn="ctr">
              <a:buNone/>
              <a:defRPr/>
            </a:pPr>
            <a:r>
              <a:rPr lang="en-US" sz="1100" b="1">
                <a:solidFill>
                  <a:srgbClr val="FFB703"/>
                </a:solidFill>
              </a:rPr>
              <a:t>Compatibility</a:t>
            </a:r>
            <a:endParaRPr lang="en-US" sz="1100"/>
          </a:p>
        </p:txBody>
      </p:sp>
      <p:sp>
        <p:nvSpPr>
          <p:cNvPr id="1681143895" name="Text 17"/>
          <p:cNvSpPr/>
          <p:nvPr/>
        </p:nvSpPr>
        <p:spPr bwMode="auto">
          <a:xfrm>
            <a:off x="6894576" y="1691640"/>
            <a:ext cx="1810512" cy="777240"/>
          </a:xfrm>
          <a:prstGeom prst="rect">
            <a:avLst/>
          </a:prstGeom>
          <a:noFill/>
          <a:ln/>
        </p:spPr>
        <p:txBody>
          <a:bodyPr wrap="square" lIns="0" tIns="0" rIns="0" bIns="0" rtlCol="0" anchor="ctr"/>
          <a:lstStyle/>
          <a:p>
            <a:pPr marL="0" indent="0" algn="ctr">
              <a:buNone/>
              <a:defRPr/>
            </a:pPr>
            <a:r>
              <a:rPr lang="en-US" sz="950">
                <a:solidFill>
                  <a:srgbClr val="B8C8DC"/>
                </a:solidFill>
              </a:rPr>
              <a:t>Generates NAV_WAYPOINT (16) commands with full MISSION_ITEM_INT encoding for 32-bit GPS precision.</a:t>
            </a:r>
            <a:endParaRPr lang="en-US" sz="950"/>
          </a:p>
        </p:txBody>
      </p:sp>
      <p:sp>
        <p:nvSpPr>
          <p:cNvPr id="135774867" name="Shape 18"/>
          <p:cNvSpPr/>
          <p:nvPr/>
        </p:nvSpPr>
        <p:spPr bwMode="auto">
          <a:xfrm>
            <a:off x="274320" y="2697480"/>
            <a:ext cx="4114800" cy="2240280"/>
          </a:xfrm>
          <a:prstGeom prst="rect">
            <a:avLst/>
          </a:prstGeom>
          <a:solidFill>
            <a:srgbClr val="0D1117"/>
          </a:solidFill>
          <a:ln w="12700">
            <a:solidFill>
              <a:srgbClr val="FFB703"/>
            </a:solidFill>
            <a:prstDash val="solid"/>
          </a:ln>
        </p:spPr>
      </p:sp>
      <p:sp>
        <p:nvSpPr>
          <p:cNvPr id="898863615" name="Text 19"/>
          <p:cNvSpPr/>
          <p:nvPr/>
        </p:nvSpPr>
        <p:spPr bwMode="auto">
          <a:xfrm>
            <a:off x="365760" y="2743200"/>
            <a:ext cx="3840480" cy="256032"/>
          </a:xfrm>
          <a:prstGeom prst="rect">
            <a:avLst/>
          </a:prstGeom>
          <a:noFill/>
          <a:ln/>
        </p:spPr>
        <p:txBody>
          <a:bodyPr wrap="square" lIns="0" tIns="0" rIns="0" bIns="0" rtlCol="0" anchor="ctr"/>
          <a:lstStyle/>
          <a:p>
            <a:pPr marL="0" indent="0">
              <a:buNone/>
              <a:defRPr/>
            </a:pPr>
            <a:r>
              <a:rPr lang="en-US" sz="1000" b="1">
                <a:solidFill>
                  <a:srgbClr val="FFB703"/>
                </a:solidFill>
              </a:rPr>
              <a:t>Waypoint JSON Example</a:t>
            </a:r>
            <a:endParaRPr lang="en-US" sz="1000"/>
          </a:p>
        </p:txBody>
      </p:sp>
      <p:sp>
        <p:nvSpPr>
          <p:cNvPr id="1465384481" name="Text 20"/>
          <p:cNvSpPr/>
          <p:nvPr/>
        </p:nvSpPr>
        <p:spPr bwMode="auto">
          <a:xfrm>
            <a:off x="411480" y="3044952"/>
            <a:ext cx="3840480" cy="182880"/>
          </a:xfrm>
          <a:prstGeom prst="rect">
            <a:avLst/>
          </a:prstGeom>
          <a:noFill/>
          <a:ln/>
        </p:spPr>
        <p:txBody>
          <a:bodyPr wrap="square" lIns="0" tIns="0" rIns="0" bIns="0" rtlCol="0" anchor="ctr"/>
          <a:lstStyle/>
          <a:p>
            <a:pPr marL="0" indent="0">
              <a:buNone/>
              <a:defRPr/>
            </a:pPr>
            <a:r>
              <a:rPr lang="en-US" sz="850">
                <a:solidFill>
                  <a:srgbClr val="FFFFFF"/>
                </a:solidFill>
                <a:latin typeface="Consolas"/>
                <a:ea typeface="Consolas"/>
                <a:cs typeface="Consolas"/>
              </a:rPr>
              <a:t>{  "mission_type": "waypoint",</a:t>
            </a:r>
            <a:endParaRPr lang="en-US" sz="850"/>
          </a:p>
        </p:txBody>
      </p:sp>
      <p:sp>
        <p:nvSpPr>
          <p:cNvPr id="1752249085" name="Text 21"/>
          <p:cNvSpPr/>
          <p:nvPr/>
        </p:nvSpPr>
        <p:spPr bwMode="auto">
          <a:xfrm>
            <a:off x="411480" y="3227832"/>
            <a:ext cx="3840480" cy="182880"/>
          </a:xfrm>
          <a:prstGeom prst="rect">
            <a:avLst/>
          </a:prstGeom>
          <a:noFill/>
          <a:ln/>
        </p:spPr>
        <p:txBody>
          <a:bodyPr wrap="square" lIns="0" tIns="0" rIns="0" bIns="0" rtlCol="0" anchor="ctr"/>
          <a:lstStyle/>
          <a:p>
            <a:pPr marL="0" indent="0">
              <a:buNone/>
              <a:defRPr/>
            </a:pPr>
            <a:r>
              <a:rPr lang="en-US" sz="850">
                <a:solidFill>
                  <a:srgbClr val="B8C8DC"/>
                </a:solidFill>
                <a:latin typeface="Consolas"/>
                <a:ea typeface="Consolas"/>
                <a:cs typeface="Consolas"/>
              </a:rPr>
              <a:t>  "waypoints": [</a:t>
            </a:r>
            <a:endParaRPr lang="en-US" sz="850"/>
          </a:p>
        </p:txBody>
      </p:sp>
      <p:sp>
        <p:nvSpPr>
          <p:cNvPr id="2013023434" name="Text 22"/>
          <p:cNvSpPr/>
          <p:nvPr/>
        </p:nvSpPr>
        <p:spPr bwMode="auto">
          <a:xfrm>
            <a:off x="411480" y="3410712"/>
            <a:ext cx="3840480" cy="182880"/>
          </a:xfrm>
          <a:prstGeom prst="rect">
            <a:avLst/>
          </a:prstGeom>
          <a:noFill/>
          <a:ln/>
        </p:spPr>
        <p:txBody>
          <a:bodyPr wrap="square" lIns="0" tIns="0" rIns="0" bIns="0" rtlCol="0" anchor="ctr"/>
          <a:lstStyle/>
          <a:p>
            <a:pPr marL="0" indent="0">
              <a:buNone/>
              <a:defRPr/>
            </a:pPr>
            <a:r>
              <a:rPr lang="en-US" sz="850">
                <a:solidFill>
                  <a:srgbClr val="06D6A0"/>
                </a:solidFill>
                <a:latin typeface="Consolas"/>
                <a:ea typeface="Consolas"/>
                <a:cs typeface="Consolas"/>
              </a:rPr>
              <a:t>    {"lat":15.459,"lon":78.468,</a:t>
            </a:r>
            <a:endParaRPr lang="en-US" sz="850"/>
          </a:p>
        </p:txBody>
      </p:sp>
      <p:sp>
        <p:nvSpPr>
          <p:cNvPr id="1526007176" name="Text 23"/>
          <p:cNvSpPr/>
          <p:nvPr/>
        </p:nvSpPr>
        <p:spPr bwMode="auto">
          <a:xfrm>
            <a:off x="411480" y="3593592"/>
            <a:ext cx="3840480" cy="182880"/>
          </a:xfrm>
          <a:prstGeom prst="rect">
            <a:avLst/>
          </a:prstGeom>
          <a:noFill/>
          <a:ln/>
        </p:spPr>
        <p:txBody>
          <a:bodyPr wrap="square" lIns="0" tIns="0" rIns="0" bIns="0" rtlCol="0" anchor="ctr"/>
          <a:lstStyle/>
          <a:p>
            <a:pPr marL="0" indent="0">
              <a:buNone/>
              <a:defRPr/>
            </a:pPr>
            <a:r>
              <a:rPr lang="en-US" sz="850">
                <a:solidFill>
                  <a:srgbClr val="06D6A0"/>
                </a:solidFill>
                <a:latin typeface="Consolas"/>
                <a:ea typeface="Consolas"/>
                <a:cs typeface="Consolas"/>
              </a:rPr>
              <a:t>     "alt":50,"speed":8},</a:t>
            </a:r>
            <a:endParaRPr lang="en-US" sz="850"/>
          </a:p>
        </p:txBody>
      </p:sp>
      <p:sp>
        <p:nvSpPr>
          <p:cNvPr id="794649293" name="Text 24"/>
          <p:cNvSpPr/>
          <p:nvPr/>
        </p:nvSpPr>
        <p:spPr bwMode="auto">
          <a:xfrm>
            <a:off x="411480" y="3776472"/>
            <a:ext cx="3840480" cy="182880"/>
          </a:xfrm>
          <a:prstGeom prst="rect">
            <a:avLst/>
          </a:prstGeom>
          <a:noFill/>
          <a:ln/>
        </p:spPr>
        <p:txBody>
          <a:bodyPr wrap="square" lIns="0" tIns="0" rIns="0" bIns="0" rtlCol="0" anchor="ctr"/>
          <a:lstStyle/>
          <a:p>
            <a:pPr marL="0" indent="0">
              <a:buNone/>
              <a:defRPr/>
            </a:pPr>
            <a:r>
              <a:rPr lang="en-US" sz="850">
                <a:solidFill>
                  <a:srgbClr val="00B4D8"/>
                </a:solidFill>
                <a:latin typeface="Consolas"/>
                <a:ea typeface="Consolas"/>
                <a:cs typeface="Consolas"/>
              </a:rPr>
              <a:t>    {"lat":15.461,"lon":78.471,</a:t>
            </a:r>
            <a:endParaRPr lang="en-US" sz="850"/>
          </a:p>
        </p:txBody>
      </p:sp>
      <p:sp>
        <p:nvSpPr>
          <p:cNvPr id="350032005" name="Text 25"/>
          <p:cNvSpPr/>
          <p:nvPr/>
        </p:nvSpPr>
        <p:spPr bwMode="auto">
          <a:xfrm>
            <a:off x="411480" y="3959352"/>
            <a:ext cx="3840480" cy="182880"/>
          </a:xfrm>
          <a:prstGeom prst="rect">
            <a:avLst/>
          </a:prstGeom>
          <a:noFill/>
          <a:ln/>
        </p:spPr>
        <p:txBody>
          <a:bodyPr wrap="square" lIns="0" tIns="0" rIns="0" bIns="0" rtlCol="0" anchor="ctr"/>
          <a:lstStyle/>
          <a:p>
            <a:pPr marL="0" indent="0">
              <a:buNone/>
              <a:defRPr/>
            </a:pPr>
            <a:r>
              <a:rPr lang="en-US" sz="850">
                <a:solidFill>
                  <a:srgbClr val="00B4D8"/>
                </a:solidFill>
                <a:latin typeface="Consolas"/>
                <a:ea typeface="Consolas"/>
                <a:cs typeface="Consolas"/>
              </a:rPr>
              <a:t>     "alt":45,"speed":6},</a:t>
            </a:r>
            <a:endParaRPr lang="en-US" sz="850"/>
          </a:p>
        </p:txBody>
      </p:sp>
      <p:sp>
        <p:nvSpPr>
          <p:cNvPr id="492898837" name="Text 26"/>
          <p:cNvSpPr/>
          <p:nvPr/>
        </p:nvSpPr>
        <p:spPr bwMode="auto">
          <a:xfrm>
            <a:off x="411480" y="4142232"/>
            <a:ext cx="3840480" cy="182880"/>
          </a:xfrm>
          <a:prstGeom prst="rect">
            <a:avLst/>
          </a:prstGeom>
          <a:noFill/>
          <a:ln/>
        </p:spPr>
        <p:txBody>
          <a:bodyPr wrap="square" lIns="0" tIns="0" rIns="0" bIns="0" rtlCol="0" anchor="ctr"/>
          <a:lstStyle/>
          <a:p>
            <a:pPr marL="0" indent="0">
              <a:buNone/>
              <a:defRPr/>
            </a:pPr>
            <a:r>
              <a:rPr lang="en-US" sz="850">
                <a:solidFill>
                  <a:srgbClr val="FFB703"/>
                </a:solidFill>
                <a:latin typeface="Consolas"/>
                <a:ea typeface="Consolas"/>
                <a:cs typeface="Consolas"/>
              </a:rPr>
              <a:t>    {"lat":15.463,"lon":78.469,</a:t>
            </a:r>
            <a:endParaRPr lang="en-US" sz="850"/>
          </a:p>
        </p:txBody>
      </p:sp>
      <p:sp>
        <p:nvSpPr>
          <p:cNvPr id="1255079743" name="Text 27"/>
          <p:cNvSpPr/>
          <p:nvPr/>
        </p:nvSpPr>
        <p:spPr bwMode="auto">
          <a:xfrm>
            <a:off x="411480" y="4325112"/>
            <a:ext cx="3840480" cy="182880"/>
          </a:xfrm>
          <a:prstGeom prst="rect">
            <a:avLst/>
          </a:prstGeom>
          <a:noFill/>
          <a:ln/>
        </p:spPr>
        <p:txBody>
          <a:bodyPr wrap="square" lIns="0" tIns="0" rIns="0" bIns="0" rtlCol="0" anchor="ctr"/>
          <a:lstStyle/>
          <a:p>
            <a:pPr marL="0" indent="0">
              <a:buNone/>
              <a:defRPr/>
            </a:pPr>
            <a:r>
              <a:rPr lang="en-US" sz="850">
                <a:solidFill>
                  <a:srgbClr val="FFB703"/>
                </a:solidFill>
                <a:latin typeface="Consolas"/>
                <a:ea typeface="Consolas"/>
                <a:cs typeface="Consolas"/>
              </a:rPr>
              <a:t>     "alt":55,"speed":10}</a:t>
            </a:r>
            <a:endParaRPr lang="en-US" sz="850"/>
          </a:p>
        </p:txBody>
      </p:sp>
      <p:sp>
        <p:nvSpPr>
          <p:cNvPr id="1879325308" name="Text 28"/>
          <p:cNvSpPr/>
          <p:nvPr/>
        </p:nvSpPr>
        <p:spPr bwMode="auto">
          <a:xfrm>
            <a:off x="411480" y="4507992"/>
            <a:ext cx="3840480" cy="182880"/>
          </a:xfrm>
          <a:prstGeom prst="rect">
            <a:avLst/>
          </a:prstGeom>
          <a:noFill/>
          <a:ln/>
        </p:spPr>
        <p:txBody>
          <a:bodyPr wrap="square" lIns="0" tIns="0" rIns="0" bIns="0" rtlCol="0" anchor="ctr"/>
          <a:lstStyle/>
          <a:p>
            <a:pPr marL="0" indent="0">
              <a:buNone/>
              <a:defRPr/>
            </a:pPr>
            <a:r>
              <a:rPr lang="en-US" sz="850">
                <a:solidFill>
                  <a:srgbClr val="B8C8DC"/>
                </a:solidFill>
                <a:latin typeface="Consolas"/>
                <a:ea typeface="Consolas"/>
                <a:cs typeface="Consolas"/>
              </a:rPr>
              <a:t>  ]</a:t>
            </a:r>
            <a:endParaRPr lang="en-US" sz="850"/>
          </a:p>
        </p:txBody>
      </p:sp>
      <p:sp>
        <p:nvSpPr>
          <p:cNvPr id="769669436" name="Text 29"/>
          <p:cNvSpPr/>
          <p:nvPr/>
        </p:nvSpPr>
        <p:spPr bwMode="auto">
          <a:xfrm>
            <a:off x="411480" y="4690872"/>
            <a:ext cx="3840480" cy="182880"/>
          </a:xfrm>
          <a:prstGeom prst="rect">
            <a:avLst/>
          </a:prstGeom>
          <a:noFill/>
          <a:ln/>
        </p:spPr>
        <p:txBody>
          <a:bodyPr wrap="square" lIns="0" tIns="0" rIns="0" bIns="0" rtlCol="0" anchor="ctr"/>
          <a:lstStyle/>
          <a:p>
            <a:pPr marL="0" indent="0">
              <a:buNone/>
              <a:defRPr/>
            </a:pPr>
            <a:r>
              <a:rPr lang="en-US" sz="850">
                <a:solidFill>
                  <a:srgbClr val="FFFFFF"/>
                </a:solidFill>
                <a:latin typeface="Consolas"/>
                <a:ea typeface="Consolas"/>
                <a:cs typeface="Consolas"/>
              </a:rPr>
              <a:t>}</a:t>
            </a:r>
            <a:endParaRPr lang="en-US" sz="850"/>
          </a:p>
        </p:txBody>
      </p:sp>
      <p:sp>
        <p:nvSpPr>
          <p:cNvPr id="14332445" name="Shape 30"/>
          <p:cNvSpPr/>
          <p:nvPr/>
        </p:nvSpPr>
        <p:spPr bwMode="auto">
          <a:xfrm>
            <a:off x="4663440" y="2697480"/>
            <a:ext cx="4206240" cy="2240280"/>
          </a:xfrm>
          <a:prstGeom prst="rect">
            <a:avLst/>
          </a:prstGeom>
          <a:solidFill>
            <a:srgbClr val="112240"/>
          </a:solidFill>
          <a:ln w="12700">
            <a:solidFill>
              <a:srgbClr val="00B4D8"/>
            </a:solidFill>
            <a:prstDash val="solid"/>
          </a:ln>
        </p:spPr>
      </p:sp>
      <p:sp>
        <p:nvSpPr>
          <p:cNvPr id="1430955567" name="Text 31"/>
          <p:cNvSpPr/>
          <p:nvPr/>
        </p:nvSpPr>
        <p:spPr bwMode="auto">
          <a:xfrm>
            <a:off x="4754880" y="2743200"/>
            <a:ext cx="3931920" cy="256032"/>
          </a:xfrm>
          <a:prstGeom prst="rect">
            <a:avLst/>
          </a:prstGeom>
          <a:noFill/>
          <a:ln/>
        </p:spPr>
        <p:txBody>
          <a:bodyPr wrap="square" lIns="0" tIns="0" rIns="0" bIns="0" rtlCol="0" anchor="ctr"/>
          <a:lstStyle/>
          <a:p>
            <a:pPr marL="0" indent="0">
              <a:buNone/>
              <a:defRPr/>
            </a:pPr>
            <a:r>
              <a:rPr lang="en-US" sz="1000" b="1">
                <a:solidFill>
                  <a:srgbClr val="00B4D8"/>
                </a:solidFill>
              </a:rPr>
              <a:t>MAVLink Commands Generated</a:t>
            </a:r>
            <a:endParaRPr lang="en-US" sz="1000"/>
          </a:p>
        </p:txBody>
      </p:sp>
      <p:sp>
        <p:nvSpPr>
          <p:cNvPr id="999404717" name="Shape 32"/>
          <p:cNvSpPr/>
          <p:nvPr/>
        </p:nvSpPr>
        <p:spPr bwMode="auto">
          <a:xfrm>
            <a:off x="4709160" y="3063240"/>
            <a:ext cx="54864" cy="274320"/>
          </a:xfrm>
          <a:prstGeom prst="rect">
            <a:avLst/>
          </a:prstGeom>
          <a:solidFill>
            <a:srgbClr val="06D6A0"/>
          </a:solidFill>
          <a:ln w="12700">
            <a:solidFill>
              <a:srgbClr val="06D6A0"/>
            </a:solidFill>
            <a:prstDash val="solid"/>
          </a:ln>
        </p:spPr>
      </p:sp>
      <p:sp>
        <p:nvSpPr>
          <p:cNvPr id="178080126" name="Text 33"/>
          <p:cNvSpPr/>
          <p:nvPr/>
        </p:nvSpPr>
        <p:spPr bwMode="auto">
          <a:xfrm>
            <a:off x="4828032" y="3063240"/>
            <a:ext cx="3931920" cy="164592"/>
          </a:xfrm>
          <a:prstGeom prst="rect">
            <a:avLst/>
          </a:prstGeom>
          <a:noFill/>
          <a:ln/>
        </p:spPr>
        <p:txBody>
          <a:bodyPr wrap="square" lIns="0" tIns="0" rIns="0" bIns="0" rtlCol="0" anchor="ctr"/>
          <a:lstStyle/>
          <a:p>
            <a:pPr marL="0" indent="0">
              <a:buNone/>
              <a:defRPr/>
            </a:pPr>
            <a:r>
              <a:rPr lang="en-US" sz="900" b="1">
                <a:solidFill>
                  <a:srgbClr val="06D6A0"/>
                </a:solidFill>
                <a:latin typeface="Consolas"/>
                <a:ea typeface="Consolas"/>
                <a:cs typeface="Consolas"/>
              </a:rPr>
              <a:t>MAV_CMD_NAV_TAKEOFF (22)</a:t>
            </a:r>
            <a:endParaRPr lang="en-US" sz="900"/>
          </a:p>
        </p:txBody>
      </p:sp>
      <p:sp>
        <p:nvSpPr>
          <p:cNvPr id="172213483" name="Text 34"/>
          <p:cNvSpPr/>
          <p:nvPr/>
        </p:nvSpPr>
        <p:spPr bwMode="auto">
          <a:xfrm>
            <a:off x="4828032" y="3227832"/>
            <a:ext cx="3931920" cy="146304"/>
          </a:xfrm>
          <a:prstGeom prst="rect">
            <a:avLst/>
          </a:prstGeom>
          <a:noFill/>
          <a:ln/>
        </p:spPr>
        <p:txBody>
          <a:bodyPr wrap="square" lIns="0" tIns="0" rIns="0" bIns="0" rtlCol="0" anchor="ctr"/>
          <a:lstStyle/>
          <a:p>
            <a:pPr marL="0" indent="0">
              <a:buNone/>
              <a:defRPr/>
            </a:pPr>
            <a:r>
              <a:rPr lang="en-US" sz="850">
                <a:solidFill>
                  <a:srgbClr val="B8C8DC"/>
                </a:solidFill>
              </a:rPr>
              <a:t>Initial climb to mission altitude</a:t>
            </a:r>
            <a:endParaRPr lang="en-US" sz="850"/>
          </a:p>
        </p:txBody>
      </p:sp>
      <p:sp>
        <p:nvSpPr>
          <p:cNvPr id="2004368303" name="Shape 35"/>
          <p:cNvSpPr/>
          <p:nvPr/>
        </p:nvSpPr>
        <p:spPr bwMode="auto">
          <a:xfrm>
            <a:off x="4709160" y="3520440"/>
            <a:ext cx="54864" cy="274320"/>
          </a:xfrm>
          <a:prstGeom prst="rect">
            <a:avLst/>
          </a:prstGeom>
          <a:solidFill>
            <a:srgbClr val="00B4D8"/>
          </a:solidFill>
          <a:ln w="12700">
            <a:solidFill>
              <a:srgbClr val="00B4D8"/>
            </a:solidFill>
            <a:prstDash val="solid"/>
          </a:ln>
        </p:spPr>
      </p:sp>
      <p:sp>
        <p:nvSpPr>
          <p:cNvPr id="329845539" name="Text 36"/>
          <p:cNvSpPr/>
          <p:nvPr/>
        </p:nvSpPr>
        <p:spPr bwMode="auto">
          <a:xfrm>
            <a:off x="4828032" y="3520440"/>
            <a:ext cx="3931920" cy="164592"/>
          </a:xfrm>
          <a:prstGeom prst="rect">
            <a:avLst/>
          </a:prstGeom>
          <a:noFill/>
          <a:ln/>
        </p:spPr>
        <p:txBody>
          <a:bodyPr wrap="square" lIns="0" tIns="0" rIns="0" bIns="0" rtlCol="0" anchor="ctr"/>
          <a:lstStyle/>
          <a:p>
            <a:pPr marL="0" indent="0">
              <a:buNone/>
              <a:defRPr/>
            </a:pPr>
            <a:r>
              <a:rPr lang="en-US" sz="900" b="1">
                <a:solidFill>
                  <a:srgbClr val="00B4D8"/>
                </a:solidFill>
                <a:latin typeface="Consolas"/>
                <a:ea typeface="Consolas"/>
                <a:cs typeface="Consolas"/>
              </a:rPr>
              <a:t>MAV_CMD_DO_CHANGE_SPEED (178)</a:t>
            </a:r>
            <a:endParaRPr lang="en-US" sz="900"/>
          </a:p>
        </p:txBody>
      </p:sp>
      <p:sp>
        <p:nvSpPr>
          <p:cNvPr id="897196244" name="Text 37"/>
          <p:cNvSpPr/>
          <p:nvPr/>
        </p:nvSpPr>
        <p:spPr bwMode="auto">
          <a:xfrm>
            <a:off x="4828032" y="3685032"/>
            <a:ext cx="3931920" cy="146304"/>
          </a:xfrm>
          <a:prstGeom prst="rect">
            <a:avLst/>
          </a:prstGeom>
          <a:noFill/>
          <a:ln/>
        </p:spPr>
        <p:txBody>
          <a:bodyPr wrap="square" lIns="0" tIns="0" rIns="0" bIns="0" rtlCol="0" anchor="ctr"/>
          <a:lstStyle/>
          <a:p>
            <a:pPr marL="0" indent="0">
              <a:buNone/>
              <a:defRPr/>
            </a:pPr>
            <a:r>
              <a:rPr lang="en-US" sz="850">
                <a:solidFill>
                  <a:srgbClr val="B8C8DC"/>
                </a:solidFill>
              </a:rPr>
              <a:t>Set speed before each waypoint</a:t>
            </a:r>
            <a:endParaRPr lang="en-US" sz="850"/>
          </a:p>
        </p:txBody>
      </p:sp>
      <p:sp>
        <p:nvSpPr>
          <p:cNvPr id="1484212424" name="Shape 38"/>
          <p:cNvSpPr/>
          <p:nvPr/>
        </p:nvSpPr>
        <p:spPr bwMode="auto">
          <a:xfrm>
            <a:off x="4709160" y="3977640"/>
            <a:ext cx="54864" cy="274320"/>
          </a:xfrm>
          <a:prstGeom prst="rect">
            <a:avLst/>
          </a:prstGeom>
          <a:solidFill>
            <a:srgbClr val="FFB703"/>
          </a:solidFill>
          <a:ln w="12700">
            <a:solidFill>
              <a:srgbClr val="FFB703"/>
            </a:solidFill>
            <a:prstDash val="solid"/>
          </a:ln>
        </p:spPr>
      </p:sp>
      <p:sp>
        <p:nvSpPr>
          <p:cNvPr id="354721154" name="Text 39"/>
          <p:cNvSpPr/>
          <p:nvPr/>
        </p:nvSpPr>
        <p:spPr bwMode="auto">
          <a:xfrm>
            <a:off x="4828032" y="3977640"/>
            <a:ext cx="3931920" cy="164592"/>
          </a:xfrm>
          <a:prstGeom prst="rect">
            <a:avLst/>
          </a:prstGeom>
          <a:noFill/>
          <a:ln/>
        </p:spPr>
        <p:txBody>
          <a:bodyPr wrap="square" lIns="0" tIns="0" rIns="0" bIns="0" rtlCol="0" anchor="ctr"/>
          <a:lstStyle/>
          <a:p>
            <a:pPr marL="0" indent="0">
              <a:buNone/>
              <a:defRPr/>
            </a:pPr>
            <a:r>
              <a:rPr lang="en-US" sz="900" b="1">
                <a:solidFill>
                  <a:srgbClr val="FFB703"/>
                </a:solidFill>
                <a:latin typeface="Consolas"/>
                <a:ea typeface="Consolas"/>
                <a:cs typeface="Consolas"/>
              </a:rPr>
              <a:t>MAV_CMD_NAV_WAYPOINT (16)</a:t>
            </a:r>
            <a:endParaRPr lang="en-US" sz="900"/>
          </a:p>
        </p:txBody>
      </p:sp>
      <p:sp>
        <p:nvSpPr>
          <p:cNvPr id="202712622" name="Text 40"/>
          <p:cNvSpPr/>
          <p:nvPr/>
        </p:nvSpPr>
        <p:spPr bwMode="auto">
          <a:xfrm>
            <a:off x="4828032" y="4142232"/>
            <a:ext cx="3931920" cy="146304"/>
          </a:xfrm>
          <a:prstGeom prst="rect">
            <a:avLst/>
          </a:prstGeom>
          <a:noFill/>
          <a:ln/>
        </p:spPr>
        <p:txBody>
          <a:bodyPr wrap="square" lIns="0" tIns="0" rIns="0" bIns="0" rtlCol="0" anchor="ctr"/>
          <a:lstStyle/>
          <a:p>
            <a:pPr marL="0" indent="0">
              <a:buNone/>
              <a:defRPr/>
            </a:pPr>
            <a:r>
              <a:rPr lang="en-US" sz="850">
                <a:solidFill>
                  <a:srgbClr val="B8C8DC"/>
                </a:solidFill>
              </a:rPr>
              <a:t>Navigate to GPS coordinate with hold</a:t>
            </a:r>
            <a:endParaRPr lang="en-US" sz="850"/>
          </a:p>
        </p:txBody>
      </p:sp>
      <p:sp>
        <p:nvSpPr>
          <p:cNvPr id="1891552722" name="Shape 41"/>
          <p:cNvSpPr/>
          <p:nvPr/>
        </p:nvSpPr>
        <p:spPr bwMode="auto">
          <a:xfrm>
            <a:off x="4709160" y="4434840"/>
            <a:ext cx="54864" cy="274320"/>
          </a:xfrm>
          <a:prstGeom prst="rect">
            <a:avLst/>
          </a:prstGeom>
          <a:solidFill>
            <a:srgbClr val="EF476F"/>
          </a:solidFill>
          <a:ln w="12700">
            <a:solidFill>
              <a:srgbClr val="EF476F"/>
            </a:solidFill>
            <a:prstDash val="solid"/>
          </a:ln>
        </p:spPr>
      </p:sp>
      <p:sp>
        <p:nvSpPr>
          <p:cNvPr id="428214667" name="Text 42"/>
          <p:cNvSpPr/>
          <p:nvPr/>
        </p:nvSpPr>
        <p:spPr bwMode="auto">
          <a:xfrm>
            <a:off x="4828032" y="4434840"/>
            <a:ext cx="3931920" cy="164592"/>
          </a:xfrm>
          <a:prstGeom prst="rect">
            <a:avLst/>
          </a:prstGeom>
          <a:noFill/>
          <a:ln/>
        </p:spPr>
        <p:txBody>
          <a:bodyPr wrap="square" lIns="0" tIns="0" rIns="0" bIns="0" rtlCol="0" anchor="ctr"/>
          <a:lstStyle/>
          <a:p>
            <a:pPr marL="0" indent="0">
              <a:buNone/>
              <a:defRPr/>
            </a:pPr>
            <a:r>
              <a:rPr lang="en-US" sz="900" b="1">
                <a:solidFill>
                  <a:srgbClr val="EF476F"/>
                </a:solidFill>
                <a:latin typeface="Consolas"/>
                <a:ea typeface="Consolas"/>
                <a:cs typeface="Consolas"/>
              </a:rPr>
              <a:t>MAV_CMD_NAV_RETURN_TO_LAUNCH (20)</a:t>
            </a:r>
            <a:endParaRPr lang="en-US" sz="900"/>
          </a:p>
        </p:txBody>
      </p:sp>
      <p:sp>
        <p:nvSpPr>
          <p:cNvPr id="137232840" name="Text 43"/>
          <p:cNvSpPr/>
          <p:nvPr/>
        </p:nvSpPr>
        <p:spPr bwMode="auto">
          <a:xfrm>
            <a:off x="4828032" y="4599432"/>
            <a:ext cx="3931920" cy="146304"/>
          </a:xfrm>
          <a:prstGeom prst="rect">
            <a:avLst/>
          </a:prstGeom>
          <a:noFill/>
          <a:ln/>
        </p:spPr>
        <p:txBody>
          <a:bodyPr wrap="square" lIns="0" tIns="0" rIns="0" bIns="0" rtlCol="0" anchor="ctr"/>
          <a:lstStyle/>
          <a:p>
            <a:pPr marL="0" indent="0">
              <a:buNone/>
              <a:defRPr/>
            </a:pPr>
            <a:r>
              <a:rPr lang="en-US" sz="850">
                <a:solidFill>
                  <a:srgbClr val="B8C8DC"/>
                </a:solidFill>
              </a:rPr>
              <a:t>Automatic RTL at mission end</a:t>
            </a:r>
            <a:endParaRPr lang="en-US" sz="8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0A1628"/>
        </a:solidFill>
      </p:bgPr>
    </p:bg>
    <p:spTree>
      <p:nvGrpSpPr>
        <p:cNvPr id="1" name=""/>
        <p:cNvGrpSpPr/>
        <p:nvPr/>
      </p:nvGrpSpPr>
      <p:grpSpPr bwMode="auto">
        <a:xfrm>
          <a:off x="0" y="0"/>
          <a:ext cx="0" cy="0"/>
          <a:chOff x="0" y="0"/>
          <a:chExt cx="0" cy="0"/>
        </a:xfrm>
      </p:grpSpPr>
      <p:sp>
        <p:nvSpPr>
          <p:cNvPr id="1805939502" name="Shape 0"/>
          <p:cNvSpPr/>
          <p:nvPr/>
        </p:nvSpPr>
        <p:spPr bwMode="auto">
          <a:xfrm>
            <a:off x="0" y="0"/>
            <a:ext cx="9144000" cy="73152"/>
          </a:xfrm>
          <a:prstGeom prst="rect">
            <a:avLst/>
          </a:prstGeom>
          <a:solidFill>
            <a:srgbClr val="00B4D8"/>
          </a:solidFill>
          <a:ln w="12700">
            <a:solidFill>
              <a:srgbClr val="00B4D8"/>
            </a:solidFill>
            <a:prstDash val="solid"/>
          </a:ln>
        </p:spPr>
      </p:sp>
      <p:sp>
        <p:nvSpPr>
          <p:cNvPr id="1642931752" name="Text 1"/>
          <p:cNvSpPr/>
          <p:nvPr/>
        </p:nvSpPr>
        <p:spPr bwMode="auto">
          <a:xfrm>
            <a:off x="365760" y="137160"/>
            <a:ext cx="8229600" cy="411480"/>
          </a:xfrm>
          <a:prstGeom prst="rect">
            <a:avLst/>
          </a:prstGeom>
          <a:noFill/>
          <a:ln/>
        </p:spPr>
        <p:txBody>
          <a:bodyPr wrap="square" lIns="0" tIns="0" rIns="0" bIns="0" rtlCol="0" anchor="ctr"/>
          <a:lstStyle/>
          <a:p>
            <a:pPr marL="0" indent="0">
              <a:buNone/>
              <a:defRPr/>
            </a:pPr>
            <a:r>
              <a:rPr lang="en-US" sz="2400" b="1">
                <a:solidFill>
                  <a:srgbClr val="FFFFFF"/>
                </a:solidFill>
              </a:rPr>
              <a:t>Mission Upload Workflow</a:t>
            </a:r>
            <a:endParaRPr lang="en-US" sz="2400"/>
          </a:p>
        </p:txBody>
      </p:sp>
      <p:sp>
        <p:nvSpPr>
          <p:cNvPr id="1011140804" name="Shape 2"/>
          <p:cNvSpPr/>
          <p:nvPr/>
        </p:nvSpPr>
        <p:spPr bwMode="auto">
          <a:xfrm>
            <a:off x="457200" y="685800"/>
            <a:ext cx="2286000" cy="365760"/>
          </a:xfrm>
          <a:prstGeom prst="rect">
            <a:avLst/>
          </a:prstGeom>
          <a:solidFill>
            <a:srgbClr val="0077B6"/>
          </a:solidFill>
          <a:ln w="12700">
            <a:solidFill>
              <a:srgbClr val="00B4D8"/>
            </a:solidFill>
            <a:prstDash val="solid"/>
          </a:ln>
        </p:spPr>
      </p:sp>
      <p:sp>
        <p:nvSpPr>
          <p:cNvPr id="1816944355" name="Text 3"/>
          <p:cNvSpPr/>
          <p:nvPr/>
        </p:nvSpPr>
        <p:spPr bwMode="auto">
          <a:xfrm>
            <a:off x="457200" y="685800"/>
            <a:ext cx="2286000" cy="365760"/>
          </a:xfrm>
          <a:prstGeom prst="rect">
            <a:avLst/>
          </a:prstGeom>
          <a:noFill/>
          <a:ln/>
        </p:spPr>
        <p:txBody>
          <a:bodyPr wrap="square" lIns="0" tIns="0" rIns="0" bIns="0" rtlCol="0" anchor="ctr"/>
          <a:lstStyle/>
          <a:p>
            <a:pPr marL="0" indent="0" algn="ctr">
              <a:buNone/>
              <a:defRPr/>
            </a:pPr>
            <a:r>
              <a:rPr lang="en-US" sz="1100" b="1">
                <a:solidFill>
                  <a:srgbClr val="FFFFFF"/>
                </a:solidFill>
              </a:rPr>
              <a:t>GCS / PRANAVA</a:t>
            </a:r>
            <a:endParaRPr lang="en-US" sz="1100"/>
          </a:p>
        </p:txBody>
      </p:sp>
      <p:sp>
        <p:nvSpPr>
          <p:cNvPr id="1777149276" name="Shape 4"/>
          <p:cNvSpPr/>
          <p:nvPr/>
        </p:nvSpPr>
        <p:spPr bwMode="auto">
          <a:xfrm>
            <a:off x="6400800" y="685800"/>
            <a:ext cx="2286000" cy="365760"/>
          </a:xfrm>
          <a:prstGeom prst="rect">
            <a:avLst/>
          </a:prstGeom>
          <a:solidFill>
            <a:srgbClr val="EF476F">
              <a:alpha val="80000"/>
            </a:srgbClr>
          </a:solidFill>
          <a:ln w="12700">
            <a:solidFill>
              <a:srgbClr val="EF476F"/>
            </a:solidFill>
            <a:prstDash val="solid"/>
          </a:ln>
        </p:spPr>
      </p:sp>
      <p:sp>
        <p:nvSpPr>
          <p:cNvPr id="1282790462" name="Text 5"/>
          <p:cNvSpPr/>
          <p:nvPr/>
        </p:nvSpPr>
        <p:spPr bwMode="auto">
          <a:xfrm>
            <a:off x="6400800" y="685800"/>
            <a:ext cx="2286000" cy="365760"/>
          </a:xfrm>
          <a:prstGeom prst="rect">
            <a:avLst/>
          </a:prstGeom>
          <a:noFill/>
          <a:ln/>
        </p:spPr>
        <p:txBody>
          <a:bodyPr wrap="square" lIns="0" tIns="0" rIns="0" bIns="0" rtlCol="0" anchor="ctr"/>
          <a:lstStyle/>
          <a:p>
            <a:pPr marL="0" indent="0" algn="ctr">
              <a:buNone/>
              <a:defRPr/>
            </a:pPr>
            <a:r>
              <a:rPr lang="en-US" sz="1100" b="1">
                <a:solidFill>
                  <a:srgbClr val="FFFFFF"/>
                </a:solidFill>
              </a:rPr>
              <a:t>ArduPilot / Pixhawk</a:t>
            </a:r>
            <a:endParaRPr lang="en-US" sz="1100"/>
          </a:p>
        </p:txBody>
      </p:sp>
      <p:sp>
        <p:nvSpPr>
          <p:cNvPr id="852690143" name="Shape 6"/>
          <p:cNvSpPr/>
          <p:nvPr/>
        </p:nvSpPr>
        <p:spPr bwMode="auto">
          <a:xfrm>
            <a:off x="1600200" y="1051560"/>
            <a:ext cx="0" cy="3977640"/>
          </a:xfrm>
          <a:prstGeom prst="line">
            <a:avLst/>
          </a:prstGeom>
          <a:noFill/>
          <a:ln w="19050">
            <a:solidFill>
              <a:srgbClr val="0077B6"/>
            </a:solidFill>
            <a:prstDash val="dash"/>
          </a:ln>
        </p:spPr>
      </p:sp>
      <p:sp>
        <p:nvSpPr>
          <p:cNvPr id="989778356" name="Shape 7"/>
          <p:cNvSpPr/>
          <p:nvPr/>
        </p:nvSpPr>
        <p:spPr bwMode="auto">
          <a:xfrm>
            <a:off x="7543800" y="1051560"/>
            <a:ext cx="0" cy="3977640"/>
          </a:xfrm>
          <a:prstGeom prst="line">
            <a:avLst/>
          </a:prstGeom>
          <a:noFill/>
          <a:ln w="19050">
            <a:solidFill>
              <a:srgbClr val="EF476F"/>
            </a:solidFill>
            <a:prstDash val="dash"/>
          </a:ln>
        </p:spPr>
      </p:sp>
      <p:sp>
        <p:nvSpPr>
          <p:cNvPr id="1962190218" name="Shape 8"/>
          <p:cNvSpPr/>
          <p:nvPr/>
        </p:nvSpPr>
        <p:spPr bwMode="auto">
          <a:xfrm>
            <a:off x="1600200" y="1298448"/>
            <a:ext cx="5943600" cy="0"/>
          </a:xfrm>
          <a:prstGeom prst="line">
            <a:avLst/>
          </a:prstGeom>
          <a:noFill/>
          <a:ln w="19050">
            <a:solidFill>
              <a:srgbClr val="FFB703"/>
            </a:solidFill>
            <a:prstDash val="solid"/>
          </a:ln>
        </p:spPr>
      </p:sp>
      <p:sp>
        <p:nvSpPr>
          <p:cNvPr id="1509665247" name="Text 9"/>
          <p:cNvSpPr/>
          <p:nvPr/>
        </p:nvSpPr>
        <p:spPr bwMode="auto">
          <a:xfrm>
            <a:off x="2926080" y="1097280"/>
            <a:ext cx="3291840" cy="182880"/>
          </a:xfrm>
          <a:prstGeom prst="rect">
            <a:avLst/>
          </a:prstGeom>
          <a:noFill/>
          <a:ln/>
        </p:spPr>
        <p:txBody>
          <a:bodyPr wrap="square" lIns="0" tIns="0" rIns="0" bIns="0" rtlCol="0" anchor="ctr"/>
          <a:lstStyle/>
          <a:p>
            <a:pPr marL="0" indent="0" algn="ctr">
              <a:buNone/>
              <a:defRPr/>
            </a:pPr>
            <a:r>
              <a:rPr lang="en-US" sz="950" b="1">
                <a:solidFill>
                  <a:srgbClr val="FFB703"/>
                </a:solidFill>
                <a:latin typeface="Consolas"/>
                <a:ea typeface="Consolas"/>
                <a:cs typeface="Consolas"/>
              </a:rPr>
              <a:t>MISSION_CLEAR_ALL</a:t>
            </a:r>
            <a:endParaRPr lang="en-US" sz="950"/>
          </a:p>
        </p:txBody>
      </p:sp>
      <p:sp>
        <p:nvSpPr>
          <p:cNvPr id="292187303" name="Text 10"/>
          <p:cNvSpPr/>
          <p:nvPr/>
        </p:nvSpPr>
        <p:spPr bwMode="auto">
          <a:xfrm>
            <a:off x="7726680" y="1188720"/>
            <a:ext cx="1280160" cy="228600"/>
          </a:xfrm>
          <a:prstGeom prst="rect">
            <a:avLst/>
          </a:prstGeom>
          <a:noFill/>
          <a:ln/>
        </p:spPr>
        <p:txBody>
          <a:bodyPr wrap="square" lIns="0" tIns="0" rIns="0" bIns="0" rtlCol="0" anchor="ctr"/>
          <a:lstStyle/>
          <a:p>
            <a:pPr marL="0" indent="0">
              <a:buNone/>
              <a:defRPr/>
            </a:pPr>
            <a:r>
              <a:rPr lang="en-US" sz="900">
                <a:solidFill>
                  <a:srgbClr val="B8C8DC"/>
                </a:solidFill>
              </a:rPr>
              <a:t>Clear existing mission from autopilot memory</a:t>
            </a:r>
            <a:endParaRPr lang="en-US" sz="900"/>
          </a:p>
        </p:txBody>
      </p:sp>
      <p:sp>
        <p:nvSpPr>
          <p:cNvPr id="74170848" name="Shape 11"/>
          <p:cNvSpPr/>
          <p:nvPr/>
        </p:nvSpPr>
        <p:spPr bwMode="auto">
          <a:xfrm>
            <a:off x="7543800" y="1755648"/>
            <a:ext cx="0" cy="0"/>
          </a:xfrm>
          <a:prstGeom prst="line">
            <a:avLst/>
          </a:prstGeom>
          <a:noFill/>
          <a:ln w="19050">
            <a:solidFill>
              <a:srgbClr val="06D6A0"/>
            </a:solidFill>
            <a:prstDash val="solid"/>
          </a:ln>
        </p:spPr>
      </p:sp>
      <p:sp>
        <p:nvSpPr>
          <p:cNvPr id="1080311909" name="Text 12"/>
          <p:cNvSpPr/>
          <p:nvPr/>
        </p:nvSpPr>
        <p:spPr bwMode="auto">
          <a:xfrm>
            <a:off x="2926080" y="1536192"/>
            <a:ext cx="3291840" cy="182880"/>
          </a:xfrm>
          <a:prstGeom prst="rect">
            <a:avLst/>
          </a:prstGeom>
          <a:noFill/>
          <a:ln/>
        </p:spPr>
        <p:txBody>
          <a:bodyPr wrap="square" lIns="0" tIns="0" rIns="0" bIns="0" rtlCol="0" anchor="ctr"/>
          <a:lstStyle/>
          <a:p>
            <a:pPr marL="0" indent="0" algn="ctr">
              <a:buNone/>
              <a:defRPr/>
            </a:pPr>
            <a:r>
              <a:rPr lang="en-US" sz="950" b="1">
                <a:solidFill>
                  <a:srgbClr val="06D6A0"/>
                </a:solidFill>
                <a:latin typeface="Consolas"/>
                <a:ea typeface="Consolas"/>
                <a:cs typeface="Consolas"/>
              </a:rPr>
              <a:t>MISSION_ACK (accepted)</a:t>
            </a:r>
            <a:endParaRPr lang="en-US" sz="950"/>
          </a:p>
        </p:txBody>
      </p:sp>
      <p:sp>
        <p:nvSpPr>
          <p:cNvPr id="1286029948" name="Text 13"/>
          <p:cNvSpPr/>
          <p:nvPr/>
        </p:nvSpPr>
        <p:spPr bwMode="auto">
          <a:xfrm>
            <a:off x="91440" y="1645920"/>
            <a:ext cx="1280160" cy="228600"/>
          </a:xfrm>
          <a:prstGeom prst="rect">
            <a:avLst/>
          </a:prstGeom>
          <a:noFill/>
          <a:ln/>
        </p:spPr>
        <p:txBody>
          <a:bodyPr wrap="square" lIns="0" tIns="0" rIns="0" bIns="0" rtlCol="0" anchor="ctr"/>
          <a:lstStyle/>
          <a:p>
            <a:pPr marL="0" indent="0">
              <a:buNone/>
              <a:defRPr/>
            </a:pPr>
            <a:r>
              <a:rPr lang="en-US" sz="900">
                <a:solidFill>
                  <a:srgbClr val="B8C8DC"/>
                </a:solidFill>
              </a:rPr>
              <a:t>Autopilot confirms mission cleared</a:t>
            </a:r>
            <a:endParaRPr lang="en-US" sz="900"/>
          </a:p>
        </p:txBody>
      </p:sp>
      <p:sp>
        <p:nvSpPr>
          <p:cNvPr id="226645291" name="Shape 14"/>
          <p:cNvSpPr/>
          <p:nvPr/>
        </p:nvSpPr>
        <p:spPr bwMode="auto">
          <a:xfrm>
            <a:off x="1600200" y="2212848"/>
            <a:ext cx="5943600" cy="0"/>
          </a:xfrm>
          <a:prstGeom prst="line">
            <a:avLst/>
          </a:prstGeom>
          <a:noFill/>
          <a:ln w="19050">
            <a:solidFill>
              <a:srgbClr val="FFB703"/>
            </a:solidFill>
            <a:prstDash val="solid"/>
          </a:ln>
        </p:spPr>
      </p:sp>
      <p:sp>
        <p:nvSpPr>
          <p:cNvPr id="1102071231" name="Text 15"/>
          <p:cNvSpPr/>
          <p:nvPr/>
        </p:nvSpPr>
        <p:spPr bwMode="auto">
          <a:xfrm>
            <a:off x="2926080" y="1993392"/>
            <a:ext cx="3291840" cy="182880"/>
          </a:xfrm>
          <a:prstGeom prst="rect">
            <a:avLst/>
          </a:prstGeom>
          <a:noFill/>
          <a:ln/>
        </p:spPr>
        <p:txBody>
          <a:bodyPr wrap="square" lIns="0" tIns="0" rIns="0" bIns="0" rtlCol="0" anchor="ctr"/>
          <a:lstStyle/>
          <a:p>
            <a:pPr marL="0" indent="0" algn="ctr">
              <a:buNone/>
              <a:defRPr/>
            </a:pPr>
            <a:r>
              <a:rPr lang="en-US" sz="950" b="1">
                <a:solidFill>
                  <a:srgbClr val="FFB703"/>
                </a:solidFill>
                <a:latin typeface="Consolas"/>
                <a:ea typeface="Consolas"/>
                <a:cs typeface="Consolas"/>
              </a:rPr>
              <a:t>MISSION_COUNT (N waypoints)</a:t>
            </a:r>
            <a:endParaRPr lang="en-US" sz="950"/>
          </a:p>
        </p:txBody>
      </p:sp>
      <p:sp>
        <p:nvSpPr>
          <p:cNvPr id="551422948" name="Text 16"/>
          <p:cNvSpPr/>
          <p:nvPr/>
        </p:nvSpPr>
        <p:spPr bwMode="auto">
          <a:xfrm>
            <a:off x="7726680" y="2103120"/>
            <a:ext cx="1280160" cy="228600"/>
          </a:xfrm>
          <a:prstGeom prst="rect">
            <a:avLst/>
          </a:prstGeom>
          <a:noFill/>
          <a:ln/>
        </p:spPr>
        <p:txBody>
          <a:bodyPr wrap="square" lIns="0" tIns="0" rIns="0" bIns="0" rtlCol="0" anchor="ctr"/>
          <a:lstStyle/>
          <a:p>
            <a:pPr marL="0" indent="0">
              <a:buNone/>
              <a:defRPr/>
            </a:pPr>
            <a:r>
              <a:rPr lang="en-US" sz="900">
                <a:solidFill>
                  <a:srgbClr val="B8C8DC"/>
                </a:solidFill>
              </a:rPr>
              <a:t>Announce total number of mission items</a:t>
            </a:r>
            <a:endParaRPr lang="en-US" sz="900"/>
          </a:p>
        </p:txBody>
      </p:sp>
      <p:sp>
        <p:nvSpPr>
          <p:cNvPr id="1978975092" name="Shape 17"/>
          <p:cNvSpPr/>
          <p:nvPr/>
        </p:nvSpPr>
        <p:spPr bwMode="auto">
          <a:xfrm>
            <a:off x="7543800" y="2670048"/>
            <a:ext cx="0" cy="0"/>
          </a:xfrm>
          <a:prstGeom prst="line">
            <a:avLst/>
          </a:prstGeom>
          <a:noFill/>
          <a:ln w="19050">
            <a:solidFill>
              <a:srgbClr val="00B4D8"/>
            </a:solidFill>
            <a:prstDash val="solid"/>
          </a:ln>
        </p:spPr>
      </p:sp>
      <p:sp>
        <p:nvSpPr>
          <p:cNvPr id="1875913772" name="Text 18"/>
          <p:cNvSpPr/>
          <p:nvPr/>
        </p:nvSpPr>
        <p:spPr bwMode="auto">
          <a:xfrm>
            <a:off x="2974307" y="2388870"/>
            <a:ext cx="3291840" cy="182880"/>
          </a:xfrm>
          <a:prstGeom prst="rect">
            <a:avLst/>
          </a:prstGeom>
          <a:noFill/>
          <a:ln/>
        </p:spPr>
        <p:txBody>
          <a:bodyPr wrap="square" lIns="0" tIns="0" rIns="0" bIns="0" rtlCol="0" anchor="ctr"/>
          <a:lstStyle/>
          <a:p>
            <a:pPr marL="0" indent="0" algn="ctr">
              <a:buNone/>
              <a:defRPr/>
            </a:pPr>
            <a:r>
              <a:rPr lang="en-US" sz="950" b="1">
                <a:solidFill>
                  <a:srgbClr val="00B4D8"/>
                </a:solidFill>
                <a:latin typeface="Consolas"/>
                <a:ea typeface="Consolas"/>
                <a:cs typeface="Consolas"/>
              </a:rPr>
              <a:t>MISSION_REQUEST_INT (item 0)</a:t>
            </a:r>
            <a:endParaRPr lang="en-US" sz="950"/>
          </a:p>
        </p:txBody>
      </p:sp>
      <p:sp>
        <p:nvSpPr>
          <p:cNvPr id="922025644" name="Text 19"/>
          <p:cNvSpPr/>
          <p:nvPr/>
        </p:nvSpPr>
        <p:spPr bwMode="auto">
          <a:xfrm>
            <a:off x="91440" y="2560320"/>
            <a:ext cx="1280160" cy="228600"/>
          </a:xfrm>
          <a:prstGeom prst="rect">
            <a:avLst/>
          </a:prstGeom>
          <a:noFill/>
          <a:ln/>
        </p:spPr>
        <p:txBody>
          <a:bodyPr wrap="square" lIns="0" tIns="0" rIns="0" bIns="0" rtlCol="0" anchor="ctr"/>
          <a:lstStyle/>
          <a:p>
            <a:pPr marL="0" indent="0">
              <a:buNone/>
              <a:defRPr/>
            </a:pPr>
            <a:r>
              <a:rPr lang="en-US" sz="900">
                <a:solidFill>
                  <a:srgbClr val="B8C8DC"/>
                </a:solidFill>
              </a:rPr>
              <a:t>Autopilot requests first waypoint</a:t>
            </a:r>
            <a:endParaRPr lang="en-US" sz="900"/>
          </a:p>
        </p:txBody>
      </p:sp>
      <p:sp>
        <p:nvSpPr>
          <p:cNvPr id="1764314968" name="Shape 20"/>
          <p:cNvSpPr/>
          <p:nvPr/>
        </p:nvSpPr>
        <p:spPr bwMode="auto">
          <a:xfrm>
            <a:off x="1600200" y="3127248"/>
            <a:ext cx="5943600" cy="0"/>
          </a:xfrm>
          <a:prstGeom prst="line">
            <a:avLst/>
          </a:prstGeom>
          <a:noFill/>
          <a:ln w="19050">
            <a:solidFill>
              <a:srgbClr val="FFB703"/>
            </a:solidFill>
            <a:prstDash val="solid"/>
          </a:ln>
        </p:spPr>
      </p:sp>
      <p:sp>
        <p:nvSpPr>
          <p:cNvPr id="687610039" name="Text 21"/>
          <p:cNvSpPr/>
          <p:nvPr/>
        </p:nvSpPr>
        <p:spPr bwMode="auto">
          <a:xfrm>
            <a:off x="2974307" y="2857500"/>
            <a:ext cx="3291840" cy="182880"/>
          </a:xfrm>
          <a:prstGeom prst="rect">
            <a:avLst/>
          </a:prstGeom>
          <a:noFill/>
          <a:ln/>
        </p:spPr>
        <p:txBody>
          <a:bodyPr wrap="square" lIns="0" tIns="0" rIns="0" bIns="0" rtlCol="0" anchor="ctr"/>
          <a:lstStyle/>
          <a:p>
            <a:pPr marL="0" indent="0" algn="ctr">
              <a:buNone/>
              <a:defRPr/>
            </a:pPr>
            <a:r>
              <a:rPr lang="en-US" sz="950" b="1">
                <a:solidFill>
                  <a:srgbClr val="FFB703"/>
                </a:solidFill>
                <a:latin typeface="Consolas"/>
                <a:ea typeface="Consolas"/>
                <a:cs typeface="Consolas"/>
              </a:rPr>
              <a:t>MISSION_ITEM_INT (item 0)</a:t>
            </a:r>
            <a:endParaRPr lang="en-US" sz="950"/>
          </a:p>
        </p:txBody>
      </p:sp>
      <p:sp>
        <p:nvSpPr>
          <p:cNvPr id="448744601" name="Text 22"/>
          <p:cNvSpPr/>
          <p:nvPr/>
        </p:nvSpPr>
        <p:spPr bwMode="auto">
          <a:xfrm>
            <a:off x="7726680" y="3017519"/>
            <a:ext cx="1280160" cy="228600"/>
          </a:xfrm>
          <a:prstGeom prst="rect">
            <a:avLst/>
          </a:prstGeom>
          <a:noFill/>
          <a:ln/>
        </p:spPr>
        <p:txBody>
          <a:bodyPr wrap="square" lIns="0" tIns="0" rIns="0" bIns="0" rtlCol="0" anchor="ctr"/>
          <a:lstStyle/>
          <a:p>
            <a:pPr marL="0" indent="0">
              <a:buNone/>
              <a:defRPr/>
            </a:pPr>
            <a:r>
              <a:rPr lang="en-US" sz="900">
                <a:solidFill>
                  <a:srgbClr val="B8C8DC"/>
                </a:solidFill>
              </a:rPr>
              <a:t>Send waypoint with 32-bit GPS encoding</a:t>
            </a:r>
            <a:endParaRPr lang="en-US" sz="900"/>
          </a:p>
        </p:txBody>
      </p:sp>
      <p:sp>
        <p:nvSpPr>
          <p:cNvPr id="729943145" name="Shape 23"/>
          <p:cNvSpPr/>
          <p:nvPr/>
        </p:nvSpPr>
        <p:spPr bwMode="auto">
          <a:xfrm>
            <a:off x="7543800" y="3584448"/>
            <a:ext cx="0" cy="0"/>
          </a:xfrm>
          <a:prstGeom prst="line">
            <a:avLst/>
          </a:prstGeom>
          <a:noFill/>
          <a:ln w="19050">
            <a:solidFill>
              <a:srgbClr val="00B4D8"/>
            </a:solidFill>
            <a:prstDash val="solid"/>
          </a:ln>
        </p:spPr>
      </p:sp>
      <p:sp>
        <p:nvSpPr>
          <p:cNvPr id="1430950521" name="Text 24"/>
          <p:cNvSpPr/>
          <p:nvPr/>
        </p:nvSpPr>
        <p:spPr bwMode="auto">
          <a:xfrm>
            <a:off x="2926080" y="3314699"/>
            <a:ext cx="3291840" cy="182880"/>
          </a:xfrm>
          <a:prstGeom prst="rect">
            <a:avLst/>
          </a:prstGeom>
          <a:noFill/>
          <a:ln/>
        </p:spPr>
        <p:txBody>
          <a:bodyPr wrap="square" lIns="0" tIns="0" rIns="0" bIns="0" rtlCol="0" anchor="ctr"/>
          <a:lstStyle/>
          <a:p>
            <a:pPr marL="0" indent="0" algn="ctr">
              <a:buNone/>
              <a:defRPr/>
            </a:pPr>
            <a:r>
              <a:rPr lang="en-US" sz="950" b="1">
                <a:solidFill>
                  <a:srgbClr val="00B4D8"/>
                </a:solidFill>
                <a:latin typeface="Consolas"/>
                <a:ea typeface="Consolas"/>
                <a:cs typeface="Consolas"/>
              </a:rPr>
              <a:t>MISSION_REQUEST_INT (item 1..N)</a:t>
            </a:r>
            <a:endParaRPr lang="en-US" sz="950"/>
          </a:p>
        </p:txBody>
      </p:sp>
      <p:sp>
        <p:nvSpPr>
          <p:cNvPr id="1290746543" name="Text 25"/>
          <p:cNvSpPr/>
          <p:nvPr/>
        </p:nvSpPr>
        <p:spPr bwMode="auto">
          <a:xfrm>
            <a:off x="91440" y="3474720"/>
            <a:ext cx="1280160" cy="228600"/>
          </a:xfrm>
          <a:prstGeom prst="rect">
            <a:avLst/>
          </a:prstGeom>
          <a:noFill/>
          <a:ln/>
        </p:spPr>
        <p:txBody>
          <a:bodyPr wrap="square" lIns="0" tIns="0" rIns="0" bIns="0" rtlCol="0" anchor="ctr"/>
          <a:lstStyle/>
          <a:p>
            <a:pPr marL="0" indent="0">
              <a:buNone/>
              <a:defRPr/>
            </a:pPr>
            <a:r>
              <a:rPr lang="en-US" sz="900">
                <a:solidFill>
                  <a:srgbClr val="B8C8DC"/>
                </a:solidFill>
              </a:rPr>
              <a:t>Repeat for all N waypoints</a:t>
            </a:r>
            <a:endParaRPr lang="en-US" sz="900"/>
          </a:p>
        </p:txBody>
      </p:sp>
      <p:sp>
        <p:nvSpPr>
          <p:cNvPr id="1769018501" name="Shape 26"/>
          <p:cNvSpPr/>
          <p:nvPr/>
        </p:nvSpPr>
        <p:spPr bwMode="auto">
          <a:xfrm>
            <a:off x="1600200" y="4041648"/>
            <a:ext cx="5943600" cy="0"/>
          </a:xfrm>
          <a:prstGeom prst="line">
            <a:avLst/>
          </a:prstGeom>
          <a:noFill/>
          <a:ln w="19050">
            <a:solidFill>
              <a:srgbClr val="FFB703"/>
            </a:solidFill>
            <a:prstDash val="solid"/>
          </a:ln>
        </p:spPr>
      </p:sp>
      <p:sp>
        <p:nvSpPr>
          <p:cNvPr id="430679672" name="Text 27"/>
          <p:cNvSpPr/>
          <p:nvPr/>
        </p:nvSpPr>
        <p:spPr bwMode="auto">
          <a:xfrm>
            <a:off x="2974307" y="3822192"/>
            <a:ext cx="3291840" cy="182880"/>
          </a:xfrm>
          <a:prstGeom prst="rect">
            <a:avLst/>
          </a:prstGeom>
          <a:noFill/>
          <a:ln/>
        </p:spPr>
        <p:txBody>
          <a:bodyPr wrap="square" lIns="0" tIns="0" rIns="0" bIns="0" rtlCol="0" anchor="ctr"/>
          <a:lstStyle/>
          <a:p>
            <a:pPr marL="0" indent="0" algn="ctr">
              <a:buNone/>
              <a:defRPr/>
            </a:pPr>
            <a:r>
              <a:rPr lang="en-US" sz="950" b="1">
                <a:solidFill>
                  <a:srgbClr val="FFB703"/>
                </a:solidFill>
                <a:latin typeface="Consolas"/>
                <a:ea typeface="Consolas"/>
                <a:cs typeface="Consolas"/>
              </a:rPr>
              <a:t>MISSION_ITEM_INT (item 1..N)</a:t>
            </a:r>
            <a:endParaRPr lang="en-US" sz="950"/>
          </a:p>
        </p:txBody>
      </p:sp>
      <p:sp>
        <p:nvSpPr>
          <p:cNvPr id="1566558907" name="Text 28"/>
          <p:cNvSpPr/>
          <p:nvPr/>
        </p:nvSpPr>
        <p:spPr bwMode="auto">
          <a:xfrm>
            <a:off x="7726680" y="3931920"/>
            <a:ext cx="1280160" cy="228600"/>
          </a:xfrm>
          <a:prstGeom prst="rect">
            <a:avLst/>
          </a:prstGeom>
          <a:noFill/>
          <a:ln/>
        </p:spPr>
        <p:txBody>
          <a:bodyPr wrap="square" lIns="0" tIns="0" rIns="0" bIns="0" rtlCol="0" anchor="ctr"/>
          <a:lstStyle/>
          <a:p>
            <a:pPr marL="0" indent="0">
              <a:buNone/>
              <a:defRPr/>
            </a:pPr>
            <a:r>
              <a:rPr lang="en-US" sz="900">
                <a:solidFill>
                  <a:srgbClr val="B8C8DC"/>
                </a:solidFill>
              </a:rPr>
              <a:t>Upload remaining waypoints</a:t>
            </a:r>
            <a:endParaRPr lang="en-US" sz="900"/>
          </a:p>
        </p:txBody>
      </p:sp>
      <p:sp>
        <p:nvSpPr>
          <p:cNvPr id="137344112" name="Shape 29"/>
          <p:cNvSpPr/>
          <p:nvPr/>
        </p:nvSpPr>
        <p:spPr bwMode="auto">
          <a:xfrm>
            <a:off x="7543800" y="4498848"/>
            <a:ext cx="0" cy="0"/>
          </a:xfrm>
          <a:prstGeom prst="line">
            <a:avLst/>
          </a:prstGeom>
          <a:noFill/>
          <a:ln w="19050">
            <a:solidFill>
              <a:srgbClr val="06D6A0"/>
            </a:solidFill>
            <a:prstDash val="solid"/>
          </a:ln>
        </p:spPr>
      </p:sp>
      <p:sp>
        <p:nvSpPr>
          <p:cNvPr id="965706564" name="Text 30"/>
          <p:cNvSpPr/>
          <p:nvPr/>
        </p:nvSpPr>
        <p:spPr bwMode="auto">
          <a:xfrm>
            <a:off x="2926080" y="4320540"/>
            <a:ext cx="3291840" cy="182880"/>
          </a:xfrm>
          <a:prstGeom prst="rect">
            <a:avLst/>
          </a:prstGeom>
          <a:noFill/>
          <a:ln/>
        </p:spPr>
        <p:txBody>
          <a:bodyPr wrap="square" lIns="0" tIns="0" rIns="0" bIns="0" rtlCol="0" anchor="ctr"/>
          <a:lstStyle/>
          <a:p>
            <a:pPr marL="0" indent="0" algn="ctr">
              <a:buNone/>
              <a:defRPr/>
            </a:pPr>
            <a:r>
              <a:rPr lang="en-US" sz="950" b="1">
                <a:solidFill>
                  <a:srgbClr val="06D6A0"/>
                </a:solidFill>
                <a:latin typeface="Consolas"/>
                <a:ea typeface="Consolas"/>
                <a:cs typeface="Consolas"/>
              </a:rPr>
              <a:t>MISSION_ACK (MAV_MISSION_ACCEPTED)</a:t>
            </a:r>
            <a:endParaRPr lang="en-US" sz="950"/>
          </a:p>
        </p:txBody>
      </p:sp>
      <p:sp>
        <p:nvSpPr>
          <p:cNvPr id="1691476915" name="Text 31"/>
          <p:cNvSpPr/>
          <p:nvPr/>
        </p:nvSpPr>
        <p:spPr bwMode="auto">
          <a:xfrm>
            <a:off x="91440" y="4389120"/>
            <a:ext cx="1280160" cy="228600"/>
          </a:xfrm>
          <a:prstGeom prst="rect">
            <a:avLst/>
          </a:prstGeom>
          <a:noFill/>
          <a:ln/>
        </p:spPr>
        <p:txBody>
          <a:bodyPr wrap="square" lIns="0" tIns="0" rIns="0" bIns="0" rtlCol="0" anchor="ctr"/>
          <a:lstStyle/>
          <a:p>
            <a:pPr marL="0" indent="0">
              <a:buNone/>
              <a:defRPr/>
            </a:pPr>
            <a:r>
              <a:rPr lang="en-US" sz="900">
                <a:solidFill>
                  <a:srgbClr val="B8C8DC"/>
                </a:solidFill>
              </a:rPr>
              <a:t>Mission upload complete and verified</a:t>
            </a:r>
            <a:endParaRPr lang="en-US" sz="900"/>
          </a:p>
        </p:txBody>
      </p:sp>
      <p:sp>
        <p:nvSpPr>
          <p:cNvPr id="1340306338" name="Shape 14"/>
          <p:cNvSpPr/>
          <p:nvPr/>
        </p:nvSpPr>
        <p:spPr bwMode="auto">
          <a:xfrm>
            <a:off x="1600200" y="1760220"/>
            <a:ext cx="5943600" cy="0"/>
          </a:xfrm>
          <a:prstGeom prst="line">
            <a:avLst/>
          </a:prstGeom>
          <a:noFill/>
          <a:ln w="19050">
            <a:solidFill>
              <a:srgbClr val="00B050"/>
            </a:solidFill>
            <a:prstDash val="solid"/>
          </a:ln>
        </p:spPr>
      </p:sp>
      <p:sp>
        <p:nvSpPr>
          <p:cNvPr id="402496876" name="Shape 14"/>
          <p:cNvSpPr/>
          <p:nvPr/>
        </p:nvSpPr>
        <p:spPr bwMode="auto">
          <a:xfrm>
            <a:off x="1600200" y="2670048"/>
            <a:ext cx="5943600" cy="0"/>
          </a:xfrm>
          <a:prstGeom prst="line">
            <a:avLst/>
          </a:prstGeom>
          <a:noFill/>
          <a:ln w="19050">
            <a:solidFill>
              <a:srgbClr val="00B0F0"/>
            </a:solidFill>
            <a:prstDash val="solid"/>
          </a:ln>
        </p:spPr>
      </p:sp>
      <p:sp>
        <p:nvSpPr>
          <p:cNvPr id="1268555447" name="Shape 20"/>
          <p:cNvSpPr/>
          <p:nvPr/>
        </p:nvSpPr>
        <p:spPr bwMode="auto">
          <a:xfrm>
            <a:off x="1600200" y="3584448"/>
            <a:ext cx="5943600" cy="0"/>
          </a:xfrm>
          <a:prstGeom prst="line">
            <a:avLst/>
          </a:prstGeom>
          <a:noFill/>
          <a:ln w="19050">
            <a:solidFill>
              <a:srgbClr val="00B0F0"/>
            </a:solidFill>
            <a:prstDash val="solid"/>
          </a:ln>
        </p:spPr>
      </p:sp>
      <p:sp>
        <p:nvSpPr>
          <p:cNvPr id="1138630229" name="Shape 26"/>
          <p:cNvSpPr/>
          <p:nvPr/>
        </p:nvSpPr>
        <p:spPr bwMode="auto">
          <a:xfrm>
            <a:off x="1600200" y="4617720"/>
            <a:ext cx="5943600" cy="0"/>
          </a:xfrm>
          <a:prstGeom prst="line">
            <a:avLst/>
          </a:prstGeom>
          <a:noFill/>
          <a:ln w="19050">
            <a:solidFill>
              <a:srgbClr val="00B050"/>
            </a:solidFill>
            <a:prstDash val="solid"/>
          </a:ln>
        </p:spPr>
      </p:sp>
      <p:cxnSp>
        <p:nvCxnSpPr>
          <p:cNvPr id="778575222" name=""/>
          <p:cNvCxnSpPr/>
          <p:nvPr/>
        </p:nvCxnSpPr>
        <p:spPr bwMode="auto">
          <a:xfrm flipH="1" flipV="1">
            <a:off x="1498178" y="4617719"/>
            <a:ext cx="6045621" cy="0"/>
          </a:xfrm>
          <a:prstGeom prst="line">
            <a:avLst/>
          </a:prstGeom>
          <a:ln w="19050" cap="flat" cmpd="sng" algn="ctr">
            <a:solidFill>
              <a:srgbClr val="00B050"/>
            </a:solidFill>
            <a:prstDash val="solid"/>
            <a:miter lim="800000"/>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395863072" name=""/>
          <p:cNvCxnSpPr/>
          <p:nvPr/>
        </p:nvCxnSpPr>
        <p:spPr bwMode="auto">
          <a:xfrm flipH="1" flipV="1">
            <a:off x="1498178" y="3589019"/>
            <a:ext cx="6045621" cy="0"/>
          </a:xfrm>
          <a:prstGeom prst="line">
            <a:avLst/>
          </a:prstGeom>
          <a:ln w="19050" cap="flat" cmpd="sng" algn="ctr">
            <a:solidFill>
              <a:srgbClr val="00B0F0"/>
            </a:solidFill>
            <a:prstDash val="solid"/>
            <a:miter lim="800000"/>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392548177" name=""/>
          <p:cNvCxnSpPr/>
          <p:nvPr/>
        </p:nvCxnSpPr>
        <p:spPr bwMode="auto">
          <a:xfrm flipH="1" flipV="1">
            <a:off x="1498178" y="2670048"/>
            <a:ext cx="6045621" cy="0"/>
          </a:xfrm>
          <a:prstGeom prst="line">
            <a:avLst/>
          </a:prstGeom>
          <a:ln w="19050" cap="flat" cmpd="sng" algn="ctr">
            <a:solidFill>
              <a:srgbClr val="00B0F0"/>
            </a:solidFill>
            <a:prstDash val="solid"/>
            <a:miter lim="800000"/>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896262653" name=""/>
          <p:cNvCxnSpPr/>
          <p:nvPr/>
        </p:nvCxnSpPr>
        <p:spPr bwMode="auto">
          <a:xfrm flipH="1" flipV="1">
            <a:off x="1498178" y="1760220"/>
            <a:ext cx="6045621" cy="0"/>
          </a:xfrm>
          <a:prstGeom prst="line">
            <a:avLst/>
          </a:prstGeom>
          <a:ln w="19050" cap="flat" cmpd="sng" algn="ctr">
            <a:solidFill>
              <a:srgbClr val="00B050"/>
            </a:solidFill>
            <a:prstDash val="solid"/>
            <a:miter lim="800000"/>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1550762934" name=""/>
          <p:cNvCxnSpPr/>
          <p:nvPr/>
        </p:nvCxnSpPr>
        <p:spPr bwMode="auto">
          <a:xfrm rot="10799999" flipH="1" flipV="1">
            <a:off x="1600200" y="1303020"/>
            <a:ext cx="6072051" cy="0"/>
          </a:xfrm>
          <a:prstGeom prst="line">
            <a:avLst/>
          </a:prstGeom>
          <a:ln w="19050" cap="flat" cmpd="sng" algn="ctr">
            <a:solidFill>
              <a:srgbClr val="FFC000"/>
            </a:solidFill>
            <a:prstDash val="solid"/>
            <a:miter lim="800000"/>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45853260" name=""/>
          <p:cNvCxnSpPr/>
          <p:nvPr/>
        </p:nvCxnSpPr>
        <p:spPr bwMode="auto">
          <a:xfrm rot="10799999" flipH="1" flipV="1">
            <a:off x="1600200" y="2212848"/>
            <a:ext cx="6072051" cy="0"/>
          </a:xfrm>
          <a:prstGeom prst="line">
            <a:avLst/>
          </a:prstGeom>
          <a:ln w="19050" cap="flat" cmpd="sng" algn="ctr">
            <a:solidFill>
              <a:srgbClr val="FFC000"/>
            </a:solidFill>
            <a:prstDash val="solid"/>
            <a:miter lim="800000"/>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186892859" name=""/>
          <p:cNvCxnSpPr/>
          <p:nvPr/>
        </p:nvCxnSpPr>
        <p:spPr bwMode="auto">
          <a:xfrm rot="10799999" flipH="1" flipV="1">
            <a:off x="1600199" y="3127248"/>
            <a:ext cx="6072051" cy="0"/>
          </a:xfrm>
          <a:prstGeom prst="line">
            <a:avLst/>
          </a:prstGeom>
          <a:ln w="19050" cap="flat" cmpd="sng" algn="ctr">
            <a:solidFill>
              <a:srgbClr val="FFC000"/>
            </a:solidFill>
            <a:prstDash val="solid"/>
            <a:miter lim="800000"/>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911677003" name=""/>
          <p:cNvCxnSpPr/>
          <p:nvPr/>
        </p:nvCxnSpPr>
        <p:spPr bwMode="auto">
          <a:xfrm rot="10799999" flipH="1" flipV="1">
            <a:off x="1600200" y="4032612"/>
            <a:ext cx="6072051" cy="0"/>
          </a:xfrm>
          <a:prstGeom prst="line">
            <a:avLst/>
          </a:prstGeom>
          <a:ln w="19050" cap="flat" cmpd="sng" algn="ctr">
            <a:solidFill>
              <a:srgbClr val="FFC000"/>
            </a:solidFill>
            <a:prstDash val="solid"/>
            <a:miter lim="800000"/>
            <a:tailEnd type="arrow" len="med"/>
          </a:ln>
        </p:spPr>
        <p:style>
          <a:lnRef idx="1">
            <a:schemeClr val="accent1">
              <a:shade val="50000"/>
            </a:schemeClr>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0A1628"/>
        </a:solidFill>
      </p:bgPr>
    </p:bg>
    <p:spTree>
      <p:nvGrpSpPr>
        <p:cNvPr id="1" name=""/>
        <p:cNvGrpSpPr/>
        <p:nvPr/>
      </p:nvGrpSpPr>
      <p:grpSpPr bwMode="auto">
        <a:xfrm>
          <a:off x="0" y="0"/>
          <a:ext cx="0" cy="0"/>
          <a:chOff x="0" y="0"/>
          <a:chExt cx="0" cy="0"/>
        </a:xfrm>
      </p:grpSpPr>
      <p:sp>
        <p:nvSpPr>
          <p:cNvPr id="274148935" name="Shape 0"/>
          <p:cNvSpPr/>
          <p:nvPr/>
        </p:nvSpPr>
        <p:spPr bwMode="auto">
          <a:xfrm>
            <a:off x="0" y="0"/>
            <a:ext cx="9144000" cy="73152"/>
          </a:xfrm>
          <a:prstGeom prst="rect">
            <a:avLst/>
          </a:prstGeom>
          <a:solidFill>
            <a:srgbClr val="00B4D8"/>
          </a:solidFill>
          <a:ln w="12700">
            <a:solidFill>
              <a:srgbClr val="00B4D8"/>
            </a:solidFill>
            <a:prstDash val="solid"/>
          </a:ln>
        </p:spPr>
      </p:sp>
      <p:sp>
        <p:nvSpPr>
          <p:cNvPr id="1101226739" name="Text 1"/>
          <p:cNvSpPr/>
          <p:nvPr/>
        </p:nvSpPr>
        <p:spPr bwMode="auto">
          <a:xfrm>
            <a:off x="365760" y="137160"/>
            <a:ext cx="8229600" cy="411480"/>
          </a:xfrm>
          <a:prstGeom prst="rect">
            <a:avLst/>
          </a:prstGeom>
          <a:noFill/>
          <a:ln/>
        </p:spPr>
        <p:txBody>
          <a:bodyPr wrap="square" lIns="0" tIns="0" rIns="0" bIns="0" rtlCol="0" anchor="ctr"/>
          <a:lstStyle/>
          <a:p>
            <a:pPr marL="0" indent="0">
              <a:buNone/>
              <a:defRPr/>
            </a:pPr>
            <a:r>
              <a:rPr lang="en-US" sz="2400" b="1">
                <a:solidFill>
                  <a:srgbClr val="FFFFFF"/>
                </a:solidFill>
              </a:rPr>
              <a:t>Implementation Details</a:t>
            </a:r>
            <a:endParaRPr lang="en-US" sz="2400"/>
          </a:p>
        </p:txBody>
      </p:sp>
      <p:sp>
        <p:nvSpPr>
          <p:cNvPr id="696482702" name="Shape 2"/>
          <p:cNvSpPr/>
          <p:nvPr/>
        </p:nvSpPr>
        <p:spPr bwMode="auto">
          <a:xfrm>
            <a:off x="274320" y="713232"/>
            <a:ext cx="1371600" cy="713232"/>
          </a:xfrm>
          <a:prstGeom prst="rect">
            <a:avLst/>
          </a:prstGeom>
          <a:solidFill>
            <a:srgbClr val="7B2FBE">
              <a:alpha val="85000"/>
            </a:srgbClr>
          </a:solidFill>
          <a:ln w="12700">
            <a:solidFill>
              <a:srgbClr val="7B2FBE"/>
            </a:solidFill>
            <a:prstDash val="solid"/>
          </a:ln>
        </p:spPr>
      </p:sp>
      <p:sp>
        <p:nvSpPr>
          <p:cNvPr id="785086634" name="Text 3"/>
          <p:cNvSpPr/>
          <p:nvPr/>
        </p:nvSpPr>
        <p:spPr bwMode="auto">
          <a:xfrm>
            <a:off x="292608" y="740664"/>
            <a:ext cx="1335024" cy="658368"/>
          </a:xfrm>
          <a:prstGeom prst="rect">
            <a:avLst/>
          </a:prstGeom>
          <a:noFill/>
          <a:ln/>
        </p:spPr>
        <p:txBody>
          <a:bodyPr wrap="square" lIns="0" tIns="0" rIns="0" bIns="0" rtlCol="0" anchor="ctr"/>
          <a:lstStyle/>
          <a:p>
            <a:pPr marL="0" indent="0" algn="ctr">
              <a:buNone/>
              <a:defRPr/>
            </a:pPr>
            <a:r>
              <a:rPr lang="en-US" sz="900" b="1">
                <a:solidFill>
                  <a:srgbClr val="FFFFFF"/>
                </a:solidFill>
              </a:rPr>
              <a:t>AI / LLM Layer</a:t>
            </a:r>
            <a:endParaRPr lang="en-US" sz="900"/>
          </a:p>
        </p:txBody>
      </p:sp>
      <p:sp>
        <p:nvSpPr>
          <p:cNvPr id="1276515786" name="Shape 4"/>
          <p:cNvSpPr/>
          <p:nvPr/>
        </p:nvSpPr>
        <p:spPr bwMode="auto">
          <a:xfrm>
            <a:off x="1783080" y="749808"/>
            <a:ext cx="3291840" cy="621792"/>
          </a:xfrm>
          <a:prstGeom prst="rect">
            <a:avLst/>
          </a:prstGeom>
          <a:solidFill>
            <a:srgbClr val="112240"/>
          </a:solidFill>
          <a:ln w="12700">
            <a:solidFill>
              <a:srgbClr val="7B2FBE"/>
            </a:solidFill>
            <a:prstDash val="solid"/>
          </a:ln>
        </p:spPr>
      </p:sp>
      <p:sp>
        <p:nvSpPr>
          <p:cNvPr id="469867391" name="Shape 5"/>
          <p:cNvSpPr/>
          <p:nvPr/>
        </p:nvSpPr>
        <p:spPr bwMode="auto">
          <a:xfrm>
            <a:off x="1783080" y="749808"/>
            <a:ext cx="73152" cy="621792"/>
          </a:xfrm>
          <a:prstGeom prst="rect">
            <a:avLst/>
          </a:prstGeom>
          <a:solidFill>
            <a:srgbClr val="7B2FBE"/>
          </a:solidFill>
          <a:ln w="12700">
            <a:solidFill>
              <a:srgbClr val="7B2FBE"/>
            </a:solidFill>
            <a:prstDash val="solid"/>
          </a:ln>
        </p:spPr>
      </p:sp>
      <p:sp>
        <p:nvSpPr>
          <p:cNvPr id="1387218128" name="Text 6"/>
          <p:cNvSpPr/>
          <p:nvPr/>
        </p:nvSpPr>
        <p:spPr bwMode="auto">
          <a:xfrm>
            <a:off x="1920240" y="777240"/>
            <a:ext cx="3017519" cy="228600"/>
          </a:xfrm>
          <a:prstGeom prst="rect">
            <a:avLst/>
          </a:prstGeom>
          <a:noFill/>
          <a:ln/>
        </p:spPr>
        <p:txBody>
          <a:bodyPr wrap="square" lIns="0" tIns="0" rIns="0" bIns="0" rtlCol="0" anchor="ctr"/>
          <a:lstStyle/>
          <a:p>
            <a:pPr marL="0" indent="0">
              <a:buNone/>
              <a:defRPr/>
            </a:pPr>
            <a:r>
              <a:rPr lang="en-US" sz="1100" b="1">
                <a:solidFill>
                  <a:srgbClr val="7B2FBE"/>
                </a:solidFill>
              </a:rPr>
              <a:t>Mistral 7B</a:t>
            </a:r>
            <a:endParaRPr lang="en-US" sz="1100"/>
          </a:p>
        </p:txBody>
      </p:sp>
      <p:sp>
        <p:nvSpPr>
          <p:cNvPr id="605959680" name="Text 7"/>
          <p:cNvSpPr/>
          <p:nvPr/>
        </p:nvSpPr>
        <p:spPr bwMode="auto">
          <a:xfrm>
            <a:off x="1920240" y="1005840"/>
            <a:ext cx="3017519" cy="310896"/>
          </a:xfrm>
          <a:prstGeom prst="rect">
            <a:avLst/>
          </a:prstGeom>
          <a:noFill/>
          <a:ln/>
        </p:spPr>
        <p:txBody>
          <a:bodyPr wrap="square" lIns="0" tIns="0" rIns="0" bIns="0" rtlCol="0" anchor="ctr"/>
          <a:lstStyle/>
          <a:p>
            <a:pPr marL="0" indent="0">
              <a:buNone/>
              <a:defRPr/>
            </a:pPr>
            <a:r>
              <a:rPr lang="en-US" sz="900">
                <a:solidFill>
                  <a:srgbClr val="B8C8DC"/>
                </a:solidFill>
              </a:rPr>
              <a:t>Core language model (4-bit quantized, ~4GB VRAM)</a:t>
            </a:r>
            <a:endParaRPr lang="en-US" sz="900"/>
          </a:p>
        </p:txBody>
      </p:sp>
      <p:sp>
        <p:nvSpPr>
          <p:cNvPr id="1421847612" name="Shape 8"/>
          <p:cNvSpPr/>
          <p:nvPr/>
        </p:nvSpPr>
        <p:spPr bwMode="auto">
          <a:xfrm>
            <a:off x="5257800" y="749808"/>
            <a:ext cx="3291840" cy="621792"/>
          </a:xfrm>
          <a:prstGeom prst="rect">
            <a:avLst/>
          </a:prstGeom>
          <a:solidFill>
            <a:srgbClr val="112240"/>
          </a:solidFill>
          <a:ln w="12700">
            <a:solidFill>
              <a:srgbClr val="7B2FBE"/>
            </a:solidFill>
            <a:prstDash val="solid"/>
          </a:ln>
        </p:spPr>
      </p:sp>
      <p:sp>
        <p:nvSpPr>
          <p:cNvPr id="844752115" name="Shape 9"/>
          <p:cNvSpPr/>
          <p:nvPr/>
        </p:nvSpPr>
        <p:spPr bwMode="auto">
          <a:xfrm>
            <a:off x="5257800" y="749808"/>
            <a:ext cx="73152" cy="621792"/>
          </a:xfrm>
          <a:prstGeom prst="rect">
            <a:avLst/>
          </a:prstGeom>
          <a:solidFill>
            <a:srgbClr val="7B2FBE"/>
          </a:solidFill>
          <a:ln w="12700">
            <a:solidFill>
              <a:srgbClr val="7B2FBE"/>
            </a:solidFill>
            <a:prstDash val="solid"/>
          </a:ln>
        </p:spPr>
      </p:sp>
      <p:sp>
        <p:nvSpPr>
          <p:cNvPr id="1041423200" name="Text 10"/>
          <p:cNvSpPr/>
          <p:nvPr/>
        </p:nvSpPr>
        <p:spPr bwMode="auto">
          <a:xfrm>
            <a:off x="5394960" y="777240"/>
            <a:ext cx="3017519" cy="228600"/>
          </a:xfrm>
          <a:prstGeom prst="rect">
            <a:avLst/>
          </a:prstGeom>
          <a:noFill/>
          <a:ln/>
        </p:spPr>
        <p:txBody>
          <a:bodyPr wrap="square" lIns="0" tIns="0" rIns="0" bIns="0" rtlCol="0" anchor="ctr"/>
          <a:lstStyle/>
          <a:p>
            <a:pPr marL="0" indent="0">
              <a:buNone/>
              <a:defRPr/>
            </a:pPr>
            <a:r>
              <a:rPr lang="en-US" sz="1100" b="1">
                <a:solidFill>
                  <a:srgbClr val="7B2FBE"/>
                </a:solidFill>
              </a:rPr>
              <a:t>Ollama</a:t>
            </a:r>
            <a:endParaRPr lang="en-US" sz="1100"/>
          </a:p>
        </p:txBody>
      </p:sp>
      <p:sp>
        <p:nvSpPr>
          <p:cNvPr id="1867032103" name="Text 11"/>
          <p:cNvSpPr/>
          <p:nvPr/>
        </p:nvSpPr>
        <p:spPr bwMode="auto">
          <a:xfrm>
            <a:off x="5394960" y="1005840"/>
            <a:ext cx="3017519" cy="310896"/>
          </a:xfrm>
          <a:prstGeom prst="rect">
            <a:avLst/>
          </a:prstGeom>
          <a:noFill/>
          <a:ln/>
        </p:spPr>
        <p:txBody>
          <a:bodyPr wrap="square" lIns="0" tIns="0" rIns="0" bIns="0" rtlCol="0" anchor="ctr"/>
          <a:lstStyle/>
          <a:p>
            <a:pPr marL="0" indent="0">
              <a:buNone/>
              <a:defRPr/>
            </a:pPr>
            <a:r>
              <a:rPr lang="en-US" sz="900">
                <a:solidFill>
                  <a:srgbClr val="B8C8DC"/>
                </a:solidFill>
              </a:rPr>
              <a:t>Local LLM runtime, REST API on localhost:11434</a:t>
            </a:r>
            <a:endParaRPr lang="en-US" sz="900"/>
          </a:p>
        </p:txBody>
      </p:sp>
      <p:sp>
        <p:nvSpPr>
          <p:cNvPr id="1996514920" name="Shape 12"/>
          <p:cNvSpPr/>
          <p:nvPr/>
        </p:nvSpPr>
        <p:spPr bwMode="auto">
          <a:xfrm>
            <a:off x="502920" y="1426464"/>
            <a:ext cx="0" cy="137160"/>
          </a:xfrm>
          <a:prstGeom prst="line">
            <a:avLst/>
          </a:prstGeom>
          <a:noFill/>
          <a:ln w="12700">
            <a:solidFill>
              <a:srgbClr val="B8C8DC"/>
            </a:solidFill>
            <a:prstDash val="dash"/>
          </a:ln>
        </p:spPr>
      </p:sp>
      <p:sp>
        <p:nvSpPr>
          <p:cNvPr id="40219730" name="Shape 13"/>
          <p:cNvSpPr/>
          <p:nvPr/>
        </p:nvSpPr>
        <p:spPr bwMode="auto">
          <a:xfrm>
            <a:off x="274320" y="1563624"/>
            <a:ext cx="1371600" cy="713232"/>
          </a:xfrm>
          <a:prstGeom prst="rect">
            <a:avLst/>
          </a:prstGeom>
          <a:solidFill>
            <a:srgbClr val="00B4D8">
              <a:alpha val="85000"/>
            </a:srgbClr>
          </a:solidFill>
          <a:ln w="12700">
            <a:solidFill>
              <a:srgbClr val="00B4D8"/>
            </a:solidFill>
            <a:prstDash val="solid"/>
          </a:ln>
        </p:spPr>
      </p:sp>
      <p:sp>
        <p:nvSpPr>
          <p:cNvPr id="1453496471" name="Text 14"/>
          <p:cNvSpPr/>
          <p:nvPr/>
        </p:nvSpPr>
        <p:spPr bwMode="auto">
          <a:xfrm>
            <a:off x="292608" y="1591056"/>
            <a:ext cx="1335024" cy="658368"/>
          </a:xfrm>
          <a:prstGeom prst="rect">
            <a:avLst/>
          </a:prstGeom>
          <a:noFill/>
          <a:ln/>
        </p:spPr>
        <p:txBody>
          <a:bodyPr wrap="square" lIns="0" tIns="0" rIns="0" bIns="0" rtlCol="0" anchor="ctr"/>
          <a:lstStyle/>
          <a:p>
            <a:pPr marL="0" indent="0" algn="ctr">
              <a:buNone/>
              <a:defRPr/>
            </a:pPr>
            <a:r>
              <a:rPr lang="en-US" sz="900" b="1">
                <a:solidFill>
                  <a:srgbClr val="FFFFFF"/>
                </a:solidFill>
              </a:rPr>
              <a:t>Application Layer</a:t>
            </a:r>
            <a:endParaRPr lang="en-US" sz="900"/>
          </a:p>
        </p:txBody>
      </p:sp>
      <p:sp>
        <p:nvSpPr>
          <p:cNvPr id="1873771057" name="Shape 15"/>
          <p:cNvSpPr/>
          <p:nvPr/>
        </p:nvSpPr>
        <p:spPr bwMode="auto">
          <a:xfrm>
            <a:off x="1783080" y="1600200"/>
            <a:ext cx="3291840" cy="621792"/>
          </a:xfrm>
          <a:prstGeom prst="rect">
            <a:avLst/>
          </a:prstGeom>
          <a:solidFill>
            <a:srgbClr val="112240"/>
          </a:solidFill>
          <a:ln w="12700">
            <a:solidFill>
              <a:srgbClr val="00B4D8"/>
            </a:solidFill>
            <a:prstDash val="solid"/>
          </a:ln>
        </p:spPr>
      </p:sp>
      <p:sp>
        <p:nvSpPr>
          <p:cNvPr id="59239352" name="Shape 16"/>
          <p:cNvSpPr/>
          <p:nvPr/>
        </p:nvSpPr>
        <p:spPr bwMode="auto">
          <a:xfrm>
            <a:off x="1783080" y="1600200"/>
            <a:ext cx="73152" cy="621792"/>
          </a:xfrm>
          <a:prstGeom prst="rect">
            <a:avLst/>
          </a:prstGeom>
          <a:solidFill>
            <a:srgbClr val="00B4D8"/>
          </a:solidFill>
          <a:ln w="12700">
            <a:solidFill>
              <a:srgbClr val="00B4D8"/>
            </a:solidFill>
            <a:prstDash val="solid"/>
          </a:ln>
        </p:spPr>
      </p:sp>
      <p:sp>
        <p:nvSpPr>
          <p:cNvPr id="1227570218" name="Text 17"/>
          <p:cNvSpPr/>
          <p:nvPr/>
        </p:nvSpPr>
        <p:spPr bwMode="auto">
          <a:xfrm>
            <a:off x="1920240" y="1627632"/>
            <a:ext cx="3017519" cy="228600"/>
          </a:xfrm>
          <a:prstGeom prst="rect">
            <a:avLst/>
          </a:prstGeom>
          <a:noFill/>
          <a:ln/>
        </p:spPr>
        <p:txBody>
          <a:bodyPr wrap="square" lIns="0" tIns="0" rIns="0" bIns="0" rtlCol="0" anchor="ctr"/>
          <a:lstStyle/>
          <a:p>
            <a:pPr marL="0" indent="0">
              <a:buNone/>
              <a:defRPr/>
            </a:pPr>
            <a:r>
              <a:rPr lang="en-US" sz="1100" b="1">
                <a:solidFill>
                  <a:srgbClr val="00B4D8"/>
                </a:solidFill>
              </a:rPr>
              <a:t>Python 3.10+</a:t>
            </a:r>
            <a:endParaRPr lang="en-US" sz="1100"/>
          </a:p>
        </p:txBody>
      </p:sp>
      <p:sp>
        <p:nvSpPr>
          <p:cNvPr id="749409499" name="Text 18"/>
          <p:cNvSpPr/>
          <p:nvPr/>
        </p:nvSpPr>
        <p:spPr bwMode="auto">
          <a:xfrm>
            <a:off x="1920240" y="1856232"/>
            <a:ext cx="3017519" cy="310896"/>
          </a:xfrm>
          <a:prstGeom prst="rect">
            <a:avLst/>
          </a:prstGeom>
          <a:noFill/>
          <a:ln/>
        </p:spPr>
        <p:txBody>
          <a:bodyPr wrap="square" lIns="0" tIns="0" rIns="0" bIns="0" rtlCol="0" anchor="ctr"/>
          <a:lstStyle/>
          <a:p>
            <a:pPr marL="0" indent="0">
              <a:buNone/>
              <a:defRPr/>
            </a:pPr>
            <a:r>
              <a:rPr lang="en-US" sz="900">
                <a:solidFill>
                  <a:srgbClr val="B8C8DC"/>
                </a:solidFill>
              </a:rPr>
              <a:t>Core language: schema extraction, mission planners, upload engine</a:t>
            </a:r>
            <a:endParaRPr lang="en-US" sz="900"/>
          </a:p>
        </p:txBody>
      </p:sp>
      <p:sp>
        <p:nvSpPr>
          <p:cNvPr id="143574631" name="Shape 19"/>
          <p:cNvSpPr/>
          <p:nvPr/>
        </p:nvSpPr>
        <p:spPr bwMode="auto">
          <a:xfrm>
            <a:off x="5257800" y="1600200"/>
            <a:ext cx="3291840" cy="621792"/>
          </a:xfrm>
          <a:prstGeom prst="rect">
            <a:avLst/>
          </a:prstGeom>
          <a:solidFill>
            <a:srgbClr val="112240"/>
          </a:solidFill>
          <a:ln w="12700">
            <a:solidFill>
              <a:srgbClr val="00B4D8"/>
            </a:solidFill>
            <a:prstDash val="solid"/>
          </a:ln>
        </p:spPr>
      </p:sp>
      <p:sp>
        <p:nvSpPr>
          <p:cNvPr id="2121988890" name="Shape 20"/>
          <p:cNvSpPr/>
          <p:nvPr/>
        </p:nvSpPr>
        <p:spPr bwMode="auto">
          <a:xfrm>
            <a:off x="5257800" y="1600200"/>
            <a:ext cx="73152" cy="621792"/>
          </a:xfrm>
          <a:prstGeom prst="rect">
            <a:avLst/>
          </a:prstGeom>
          <a:solidFill>
            <a:srgbClr val="00B4D8"/>
          </a:solidFill>
          <a:ln w="12700">
            <a:solidFill>
              <a:srgbClr val="00B4D8"/>
            </a:solidFill>
            <a:prstDash val="solid"/>
          </a:ln>
        </p:spPr>
      </p:sp>
      <p:sp>
        <p:nvSpPr>
          <p:cNvPr id="169340656" name="Text 21"/>
          <p:cNvSpPr/>
          <p:nvPr/>
        </p:nvSpPr>
        <p:spPr bwMode="auto">
          <a:xfrm>
            <a:off x="5394960" y="1627632"/>
            <a:ext cx="3017519" cy="228600"/>
          </a:xfrm>
          <a:prstGeom prst="rect">
            <a:avLst/>
          </a:prstGeom>
          <a:noFill/>
          <a:ln/>
        </p:spPr>
        <p:txBody>
          <a:bodyPr wrap="square" lIns="0" tIns="0" rIns="0" bIns="0" rtlCol="0" anchor="ctr"/>
          <a:lstStyle/>
          <a:p>
            <a:pPr marL="0" indent="0">
              <a:buNone/>
              <a:defRPr/>
            </a:pPr>
            <a:r>
              <a:rPr lang="en-US" sz="1100" b="1">
                <a:solidFill>
                  <a:srgbClr val="00B4D8"/>
                </a:solidFill>
              </a:rPr>
              <a:t>PyQt5</a:t>
            </a:r>
            <a:endParaRPr lang="en-US" sz="1100"/>
          </a:p>
        </p:txBody>
      </p:sp>
      <p:sp>
        <p:nvSpPr>
          <p:cNvPr id="438237680" name="Text 22"/>
          <p:cNvSpPr/>
          <p:nvPr/>
        </p:nvSpPr>
        <p:spPr bwMode="auto">
          <a:xfrm>
            <a:off x="5394960" y="1856232"/>
            <a:ext cx="3017519" cy="310896"/>
          </a:xfrm>
          <a:prstGeom prst="rect">
            <a:avLst/>
          </a:prstGeom>
          <a:noFill/>
          <a:ln/>
        </p:spPr>
        <p:txBody>
          <a:bodyPr wrap="square" lIns="0" tIns="0" rIns="0" bIns="0" rtlCol="0" anchor="ctr"/>
          <a:lstStyle/>
          <a:p>
            <a:pPr marL="0" indent="0">
              <a:buNone/>
              <a:defRPr/>
            </a:pPr>
            <a:r>
              <a:rPr lang="en-US" sz="900">
                <a:solidFill>
                  <a:srgbClr val="B8C8DC"/>
                </a:solidFill>
              </a:rPr>
              <a:t>Cross-platform GUI: chat interface, mission display, status indicators</a:t>
            </a:r>
            <a:endParaRPr lang="en-US" sz="900"/>
          </a:p>
        </p:txBody>
      </p:sp>
      <p:sp>
        <p:nvSpPr>
          <p:cNvPr id="651816010" name="Shape 23"/>
          <p:cNvSpPr/>
          <p:nvPr/>
        </p:nvSpPr>
        <p:spPr bwMode="auto">
          <a:xfrm>
            <a:off x="502920" y="2276856"/>
            <a:ext cx="0" cy="137160"/>
          </a:xfrm>
          <a:prstGeom prst="line">
            <a:avLst/>
          </a:prstGeom>
          <a:noFill/>
          <a:ln w="12700">
            <a:solidFill>
              <a:srgbClr val="B8C8DC"/>
            </a:solidFill>
            <a:prstDash val="dash"/>
          </a:ln>
        </p:spPr>
      </p:sp>
      <p:sp>
        <p:nvSpPr>
          <p:cNvPr id="978817950" name="Shape 24"/>
          <p:cNvSpPr/>
          <p:nvPr/>
        </p:nvSpPr>
        <p:spPr bwMode="auto">
          <a:xfrm>
            <a:off x="274320" y="2414016"/>
            <a:ext cx="1371600" cy="713232"/>
          </a:xfrm>
          <a:prstGeom prst="rect">
            <a:avLst/>
          </a:prstGeom>
          <a:solidFill>
            <a:srgbClr val="FFB703">
              <a:alpha val="85000"/>
            </a:srgbClr>
          </a:solidFill>
          <a:ln w="12700">
            <a:solidFill>
              <a:srgbClr val="FFB703"/>
            </a:solidFill>
            <a:prstDash val="solid"/>
          </a:ln>
        </p:spPr>
      </p:sp>
      <p:sp>
        <p:nvSpPr>
          <p:cNvPr id="1335499908" name="Text 25"/>
          <p:cNvSpPr/>
          <p:nvPr/>
        </p:nvSpPr>
        <p:spPr bwMode="auto">
          <a:xfrm>
            <a:off x="292608" y="2441448"/>
            <a:ext cx="1335024" cy="658368"/>
          </a:xfrm>
          <a:prstGeom prst="rect">
            <a:avLst/>
          </a:prstGeom>
          <a:noFill/>
          <a:ln/>
        </p:spPr>
        <p:txBody>
          <a:bodyPr wrap="square" lIns="0" tIns="0" rIns="0" bIns="0" rtlCol="0" anchor="ctr"/>
          <a:lstStyle/>
          <a:p>
            <a:pPr marL="0" indent="0" algn="ctr">
              <a:buNone/>
              <a:defRPr/>
            </a:pPr>
            <a:r>
              <a:rPr lang="en-US" sz="900" b="1">
                <a:solidFill>
                  <a:srgbClr val="FFFFFF"/>
                </a:solidFill>
              </a:rPr>
              <a:t>Communication Layer</a:t>
            </a:r>
            <a:endParaRPr lang="en-US" sz="900"/>
          </a:p>
        </p:txBody>
      </p:sp>
      <p:sp>
        <p:nvSpPr>
          <p:cNvPr id="229173622" name="Shape 26"/>
          <p:cNvSpPr/>
          <p:nvPr/>
        </p:nvSpPr>
        <p:spPr bwMode="auto">
          <a:xfrm>
            <a:off x="1783080" y="2450592"/>
            <a:ext cx="3291840" cy="621792"/>
          </a:xfrm>
          <a:prstGeom prst="rect">
            <a:avLst/>
          </a:prstGeom>
          <a:solidFill>
            <a:srgbClr val="112240"/>
          </a:solidFill>
          <a:ln w="12700">
            <a:solidFill>
              <a:srgbClr val="FFB703"/>
            </a:solidFill>
            <a:prstDash val="solid"/>
          </a:ln>
        </p:spPr>
      </p:sp>
      <p:sp>
        <p:nvSpPr>
          <p:cNvPr id="645465849" name="Shape 27"/>
          <p:cNvSpPr/>
          <p:nvPr/>
        </p:nvSpPr>
        <p:spPr bwMode="auto">
          <a:xfrm>
            <a:off x="1783080" y="2450592"/>
            <a:ext cx="73152" cy="621792"/>
          </a:xfrm>
          <a:prstGeom prst="rect">
            <a:avLst/>
          </a:prstGeom>
          <a:solidFill>
            <a:srgbClr val="FFB703"/>
          </a:solidFill>
          <a:ln w="12700">
            <a:solidFill>
              <a:srgbClr val="FFB703"/>
            </a:solidFill>
            <a:prstDash val="solid"/>
          </a:ln>
        </p:spPr>
      </p:sp>
      <p:sp>
        <p:nvSpPr>
          <p:cNvPr id="965072955" name="Text 28"/>
          <p:cNvSpPr/>
          <p:nvPr/>
        </p:nvSpPr>
        <p:spPr bwMode="auto">
          <a:xfrm>
            <a:off x="1920240" y="2478024"/>
            <a:ext cx="3017519" cy="228600"/>
          </a:xfrm>
          <a:prstGeom prst="rect">
            <a:avLst/>
          </a:prstGeom>
          <a:noFill/>
          <a:ln/>
        </p:spPr>
        <p:txBody>
          <a:bodyPr wrap="square" lIns="0" tIns="0" rIns="0" bIns="0" rtlCol="0" anchor="ctr"/>
          <a:lstStyle/>
          <a:p>
            <a:pPr marL="0" indent="0">
              <a:buNone/>
              <a:defRPr/>
            </a:pPr>
            <a:r>
              <a:rPr lang="en-US" sz="1100" b="1">
                <a:solidFill>
                  <a:srgbClr val="FFB703"/>
                </a:solidFill>
              </a:rPr>
              <a:t>pymavlink</a:t>
            </a:r>
            <a:endParaRPr lang="en-US" sz="1100"/>
          </a:p>
        </p:txBody>
      </p:sp>
      <p:sp>
        <p:nvSpPr>
          <p:cNvPr id="1288982503" name="Text 29"/>
          <p:cNvSpPr/>
          <p:nvPr/>
        </p:nvSpPr>
        <p:spPr bwMode="auto">
          <a:xfrm>
            <a:off x="1920240" y="2706624"/>
            <a:ext cx="3017519" cy="310896"/>
          </a:xfrm>
          <a:prstGeom prst="rect">
            <a:avLst/>
          </a:prstGeom>
          <a:noFill/>
          <a:ln/>
        </p:spPr>
        <p:txBody>
          <a:bodyPr wrap="square" lIns="0" tIns="0" rIns="0" bIns="0" rtlCol="0" anchor="ctr"/>
          <a:lstStyle/>
          <a:p>
            <a:pPr marL="0" indent="0">
              <a:buNone/>
              <a:defRPr/>
            </a:pPr>
            <a:r>
              <a:rPr lang="en-US" sz="900">
                <a:solidFill>
                  <a:srgbClr val="B8C8DC"/>
                </a:solidFill>
              </a:rPr>
              <a:t>MAVLink protocol implementation: MISSION_ITEM_INT upload handshake</a:t>
            </a:r>
            <a:endParaRPr lang="en-US" sz="900"/>
          </a:p>
        </p:txBody>
      </p:sp>
      <p:sp>
        <p:nvSpPr>
          <p:cNvPr id="1907608899" name="Shape 30"/>
          <p:cNvSpPr/>
          <p:nvPr/>
        </p:nvSpPr>
        <p:spPr bwMode="auto">
          <a:xfrm>
            <a:off x="5257800" y="2450592"/>
            <a:ext cx="3291840" cy="621792"/>
          </a:xfrm>
          <a:prstGeom prst="rect">
            <a:avLst/>
          </a:prstGeom>
          <a:solidFill>
            <a:srgbClr val="112240"/>
          </a:solidFill>
          <a:ln w="12700">
            <a:solidFill>
              <a:srgbClr val="FFB703"/>
            </a:solidFill>
            <a:prstDash val="solid"/>
          </a:ln>
        </p:spPr>
      </p:sp>
      <p:sp>
        <p:nvSpPr>
          <p:cNvPr id="1761888194" name="Shape 31"/>
          <p:cNvSpPr/>
          <p:nvPr/>
        </p:nvSpPr>
        <p:spPr bwMode="auto">
          <a:xfrm>
            <a:off x="5257800" y="2450592"/>
            <a:ext cx="73152" cy="621792"/>
          </a:xfrm>
          <a:prstGeom prst="rect">
            <a:avLst/>
          </a:prstGeom>
          <a:solidFill>
            <a:srgbClr val="FFB703"/>
          </a:solidFill>
          <a:ln w="12700">
            <a:solidFill>
              <a:srgbClr val="FFB703"/>
            </a:solidFill>
            <a:prstDash val="solid"/>
          </a:ln>
        </p:spPr>
      </p:sp>
      <p:sp>
        <p:nvSpPr>
          <p:cNvPr id="1689760294" name="Text 32"/>
          <p:cNvSpPr/>
          <p:nvPr/>
        </p:nvSpPr>
        <p:spPr bwMode="auto">
          <a:xfrm>
            <a:off x="5394960" y="2478024"/>
            <a:ext cx="3017519" cy="228600"/>
          </a:xfrm>
          <a:prstGeom prst="rect">
            <a:avLst/>
          </a:prstGeom>
          <a:noFill/>
          <a:ln/>
        </p:spPr>
        <p:txBody>
          <a:bodyPr wrap="square" lIns="0" tIns="0" rIns="0" bIns="0" rtlCol="0" anchor="ctr"/>
          <a:lstStyle/>
          <a:p>
            <a:pPr marL="0" indent="0">
              <a:buNone/>
              <a:defRPr/>
            </a:pPr>
            <a:r>
              <a:rPr lang="en-US" sz="1100" b="1">
                <a:solidFill>
                  <a:srgbClr val="FFB703"/>
                </a:solidFill>
              </a:rPr>
              <a:t>MAVLink v2</a:t>
            </a:r>
            <a:endParaRPr lang="en-US" sz="1100"/>
          </a:p>
        </p:txBody>
      </p:sp>
      <p:sp>
        <p:nvSpPr>
          <p:cNvPr id="1100689145" name="Text 33"/>
          <p:cNvSpPr/>
          <p:nvPr/>
        </p:nvSpPr>
        <p:spPr bwMode="auto">
          <a:xfrm>
            <a:off x="5394960" y="2706624"/>
            <a:ext cx="3017519" cy="310896"/>
          </a:xfrm>
          <a:prstGeom prst="rect">
            <a:avLst/>
          </a:prstGeom>
          <a:noFill/>
          <a:ln/>
        </p:spPr>
        <p:txBody>
          <a:bodyPr wrap="square" lIns="0" tIns="0" rIns="0" bIns="0" rtlCol="0" anchor="ctr"/>
          <a:lstStyle/>
          <a:p>
            <a:pPr marL="0" indent="0">
              <a:buNone/>
              <a:defRPr/>
            </a:pPr>
            <a:r>
              <a:rPr lang="en-US" sz="900">
                <a:solidFill>
                  <a:srgbClr val="B8C8DC"/>
                </a:solidFill>
              </a:rPr>
              <a:t>Binary protocol for GCS ↔ autopilot communication</a:t>
            </a:r>
            <a:endParaRPr lang="en-US" sz="900"/>
          </a:p>
        </p:txBody>
      </p:sp>
      <p:sp>
        <p:nvSpPr>
          <p:cNvPr id="1020760603" name="Shape 34"/>
          <p:cNvSpPr/>
          <p:nvPr/>
        </p:nvSpPr>
        <p:spPr bwMode="auto">
          <a:xfrm>
            <a:off x="502920" y="3127248"/>
            <a:ext cx="0" cy="137160"/>
          </a:xfrm>
          <a:prstGeom prst="line">
            <a:avLst/>
          </a:prstGeom>
          <a:noFill/>
          <a:ln w="12700">
            <a:solidFill>
              <a:srgbClr val="B8C8DC"/>
            </a:solidFill>
            <a:prstDash val="dash"/>
          </a:ln>
        </p:spPr>
      </p:sp>
      <p:sp>
        <p:nvSpPr>
          <p:cNvPr id="1755333887" name="Shape 35"/>
          <p:cNvSpPr/>
          <p:nvPr/>
        </p:nvSpPr>
        <p:spPr bwMode="auto">
          <a:xfrm>
            <a:off x="274320" y="3264408"/>
            <a:ext cx="1371600" cy="713232"/>
          </a:xfrm>
          <a:prstGeom prst="rect">
            <a:avLst/>
          </a:prstGeom>
          <a:solidFill>
            <a:srgbClr val="EF476F">
              <a:alpha val="85000"/>
            </a:srgbClr>
          </a:solidFill>
          <a:ln w="12700">
            <a:solidFill>
              <a:srgbClr val="EF476F"/>
            </a:solidFill>
            <a:prstDash val="solid"/>
          </a:ln>
        </p:spPr>
      </p:sp>
      <p:sp>
        <p:nvSpPr>
          <p:cNvPr id="1224250629" name="Text 36"/>
          <p:cNvSpPr/>
          <p:nvPr/>
        </p:nvSpPr>
        <p:spPr bwMode="auto">
          <a:xfrm>
            <a:off x="292608" y="3291840"/>
            <a:ext cx="1335024" cy="658368"/>
          </a:xfrm>
          <a:prstGeom prst="rect">
            <a:avLst/>
          </a:prstGeom>
          <a:noFill/>
          <a:ln/>
        </p:spPr>
        <p:txBody>
          <a:bodyPr wrap="square" lIns="0" tIns="0" rIns="0" bIns="0" rtlCol="0" anchor="ctr"/>
          <a:lstStyle/>
          <a:p>
            <a:pPr marL="0" indent="0" algn="ctr">
              <a:buNone/>
              <a:defRPr/>
            </a:pPr>
            <a:r>
              <a:rPr lang="en-US" sz="900" b="1">
                <a:solidFill>
                  <a:srgbClr val="FFFFFF"/>
                </a:solidFill>
              </a:rPr>
              <a:t>Flight Layer</a:t>
            </a:r>
            <a:endParaRPr lang="en-US" sz="900"/>
          </a:p>
        </p:txBody>
      </p:sp>
      <p:sp>
        <p:nvSpPr>
          <p:cNvPr id="1762146769" name="Shape 37"/>
          <p:cNvSpPr/>
          <p:nvPr/>
        </p:nvSpPr>
        <p:spPr bwMode="auto">
          <a:xfrm>
            <a:off x="1783080" y="3300984"/>
            <a:ext cx="3291840" cy="621792"/>
          </a:xfrm>
          <a:prstGeom prst="rect">
            <a:avLst/>
          </a:prstGeom>
          <a:solidFill>
            <a:srgbClr val="112240"/>
          </a:solidFill>
          <a:ln w="12700">
            <a:solidFill>
              <a:srgbClr val="EF476F"/>
            </a:solidFill>
            <a:prstDash val="solid"/>
          </a:ln>
        </p:spPr>
      </p:sp>
      <p:sp>
        <p:nvSpPr>
          <p:cNvPr id="1894128790" name="Shape 38"/>
          <p:cNvSpPr/>
          <p:nvPr/>
        </p:nvSpPr>
        <p:spPr bwMode="auto">
          <a:xfrm>
            <a:off x="1783080" y="3300984"/>
            <a:ext cx="73152" cy="621792"/>
          </a:xfrm>
          <a:prstGeom prst="rect">
            <a:avLst/>
          </a:prstGeom>
          <a:solidFill>
            <a:srgbClr val="EF476F"/>
          </a:solidFill>
          <a:ln w="12700">
            <a:solidFill>
              <a:srgbClr val="EF476F"/>
            </a:solidFill>
            <a:prstDash val="solid"/>
          </a:ln>
        </p:spPr>
      </p:sp>
      <p:sp>
        <p:nvSpPr>
          <p:cNvPr id="117638761" name="Text 39"/>
          <p:cNvSpPr/>
          <p:nvPr/>
        </p:nvSpPr>
        <p:spPr bwMode="auto">
          <a:xfrm>
            <a:off x="1920240" y="3328416"/>
            <a:ext cx="3017519" cy="228600"/>
          </a:xfrm>
          <a:prstGeom prst="rect">
            <a:avLst/>
          </a:prstGeom>
          <a:noFill/>
          <a:ln/>
        </p:spPr>
        <p:txBody>
          <a:bodyPr wrap="square" lIns="0" tIns="0" rIns="0" bIns="0" rtlCol="0" anchor="ctr"/>
          <a:lstStyle/>
          <a:p>
            <a:pPr marL="0" indent="0">
              <a:buNone/>
              <a:defRPr/>
            </a:pPr>
            <a:r>
              <a:rPr lang="en-US" sz="1100" b="1">
                <a:solidFill>
                  <a:srgbClr val="EF476F"/>
                </a:solidFill>
              </a:rPr>
              <a:t>ArduPilot SITL</a:t>
            </a:r>
            <a:endParaRPr lang="en-US" sz="1100"/>
          </a:p>
        </p:txBody>
      </p:sp>
      <p:sp>
        <p:nvSpPr>
          <p:cNvPr id="1147014399" name="Text 40"/>
          <p:cNvSpPr/>
          <p:nvPr/>
        </p:nvSpPr>
        <p:spPr bwMode="auto">
          <a:xfrm>
            <a:off x="1920240" y="3557016"/>
            <a:ext cx="3017519" cy="310896"/>
          </a:xfrm>
          <a:prstGeom prst="rect">
            <a:avLst/>
          </a:prstGeom>
          <a:noFill/>
          <a:ln/>
        </p:spPr>
        <p:txBody>
          <a:bodyPr wrap="square" lIns="0" tIns="0" rIns="0" bIns="0" rtlCol="0" anchor="ctr"/>
          <a:lstStyle/>
          <a:p>
            <a:pPr marL="0" indent="0">
              <a:buNone/>
              <a:defRPr/>
            </a:pPr>
            <a:r>
              <a:rPr lang="en-US" sz="900">
                <a:solidFill>
                  <a:srgbClr val="B8C8DC"/>
                </a:solidFill>
              </a:rPr>
              <a:t>Software-in-the-loop simulation for safe mission validation</a:t>
            </a:r>
            <a:endParaRPr lang="en-US" sz="900"/>
          </a:p>
        </p:txBody>
      </p:sp>
      <p:sp>
        <p:nvSpPr>
          <p:cNvPr id="818369614" name="Shape 41"/>
          <p:cNvSpPr/>
          <p:nvPr/>
        </p:nvSpPr>
        <p:spPr bwMode="auto">
          <a:xfrm>
            <a:off x="5257800" y="3300984"/>
            <a:ext cx="3291840" cy="621792"/>
          </a:xfrm>
          <a:prstGeom prst="rect">
            <a:avLst/>
          </a:prstGeom>
          <a:solidFill>
            <a:srgbClr val="112240"/>
          </a:solidFill>
          <a:ln w="12700">
            <a:solidFill>
              <a:srgbClr val="EF476F"/>
            </a:solidFill>
            <a:prstDash val="solid"/>
          </a:ln>
        </p:spPr>
      </p:sp>
      <p:sp>
        <p:nvSpPr>
          <p:cNvPr id="2124263986" name="Shape 42"/>
          <p:cNvSpPr/>
          <p:nvPr/>
        </p:nvSpPr>
        <p:spPr bwMode="auto">
          <a:xfrm>
            <a:off x="5257800" y="3300984"/>
            <a:ext cx="73152" cy="621792"/>
          </a:xfrm>
          <a:prstGeom prst="rect">
            <a:avLst/>
          </a:prstGeom>
          <a:solidFill>
            <a:srgbClr val="EF476F"/>
          </a:solidFill>
          <a:ln w="12700">
            <a:solidFill>
              <a:srgbClr val="EF476F"/>
            </a:solidFill>
            <a:prstDash val="solid"/>
          </a:ln>
        </p:spPr>
      </p:sp>
      <p:sp>
        <p:nvSpPr>
          <p:cNvPr id="1284437388" name="Text 43"/>
          <p:cNvSpPr/>
          <p:nvPr/>
        </p:nvSpPr>
        <p:spPr bwMode="auto">
          <a:xfrm>
            <a:off x="5394960" y="3328416"/>
            <a:ext cx="3017519" cy="228600"/>
          </a:xfrm>
          <a:prstGeom prst="rect">
            <a:avLst/>
          </a:prstGeom>
          <a:noFill/>
          <a:ln/>
        </p:spPr>
        <p:txBody>
          <a:bodyPr wrap="square" lIns="0" tIns="0" rIns="0" bIns="0" rtlCol="0" anchor="ctr"/>
          <a:lstStyle/>
          <a:p>
            <a:pPr marL="0" indent="0">
              <a:buNone/>
              <a:defRPr/>
            </a:pPr>
            <a:r>
              <a:rPr lang="en-US" sz="1100" b="1">
                <a:solidFill>
                  <a:srgbClr val="EF476F"/>
                </a:solidFill>
              </a:rPr>
              <a:t>Pixhawk 2.4.8</a:t>
            </a:r>
            <a:endParaRPr lang="en-US" sz="1100"/>
          </a:p>
        </p:txBody>
      </p:sp>
      <p:sp>
        <p:nvSpPr>
          <p:cNvPr id="990049630" name="Text 44"/>
          <p:cNvSpPr/>
          <p:nvPr/>
        </p:nvSpPr>
        <p:spPr bwMode="auto">
          <a:xfrm>
            <a:off x="5394960" y="3557016"/>
            <a:ext cx="3017519" cy="310896"/>
          </a:xfrm>
          <a:prstGeom prst="rect">
            <a:avLst/>
          </a:prstGeom>
          <a:noFill/>
          <a:ln/>
        </p:spPr>
        <p:txBody>
          <a:bodyPr wrap="square" lIns="0" tIns="0" rIns="0" bIns="0" rtlCol="0" anchor="ctr"/>
          <a:lstStyle/>
          <a:p>
            <a:pPr marL="0" indent="0">
              <a:buNone/>
              <a:defRPr/>
            </a:pPr>
            <a:r>
              <a:rPr lang="en-US" sz="900">
                <a:solidFill>
                  <a:srgbClr val="B8C8DC"/>
                </a:solidFill>
              </a:rPr>
              <a:t>Real flight controller hardware for physical validation tests</a:t>
            </a:r>
            <a:endParaRPr lang="en-US" sz="900"/>
          </a:p>
        </p:txBody>
      </p:sp>
      <p:sp>
        <p:nvSpPr>
          <p:cNvPr id="2142793130" name="Shape 45"/>
          <p:cNvSpPr/>
          <p:nvPr/>
        </p:nvSpPr>
        <p:spPr bwMode="auto">
          <a:xfrm>
            <a:off x="502920" y="3977640"/>
            <a:ext cx="0" cy="137160"/>
          </a:xfrm>
          <a:prstGeom prst="line">
            <a:avLst/>
          </a:prstGeom>
          <a:noFill/>
          <a:ln w="12700">
            <a:solidFill>
              <a:srgbClr val="B8C8DC"/>
            </a:solidFill>
            <a:prstDash val="dash"/>
          </a:ln>
        </p:spPr>
      </p:sp>
      <p:sp>
        <p:nvSpPr>
          <p:cNvPr id="1332178333" name="Shape 46"/>
          <p:cNvSpPr/>
          <p:nvPr/>
        </p:nvSpPr>
        <p:spPr bwMode="auto">
          <a:xfrm>
            <a:off x="274320" y="4114800"/>
            <a:ext cx="1371600" cy="713232"/>
          </a:xfrm>
          <a:prstGeom prst="rect">
            <a:avLst/>
          </a:prstGeom>
          <a:solidFill>
            <a:srgbClr val="06D6A0">
              <a:alpha val="85000"/>
            </a:srgbClr>
          </a:solidFill>
          <a:ln w="12700">
            <a:solidFill>
              <a:srgbClr val="06D6A0"/>
            </a:solidFill>
            <a:prstDash val="solid"/>
          </a:ln>
        </p:spPr>
      </p:sp>
      <p:sp>
        <p:nvSpPr>
          <p:cNvPr id="2122126687" name="Text 47"/>
          <p:cNvSpPr/>
          <p:nvPr/>
        </p:nvSpPr>
        <p:spPr bwMode="auto">
          <a:xfrm>
            <a:off x="292608" y="4142232"/>
            <a:ext cx="1335024" cy="658368"/>
          </a:xfrm>
          <a:prstGeom prst="rect">
            <a:avLst/>
          </a:prstGeom>
          <a:noFill/>
          <a:ln/>
        </p:spPr>
        <p:txBody>
          <a:bodyPr wrap="square" lIns="0" tIns="0" rIns="0" bIns="0" rtlCol="0" anchor="ctr"/>
          <a:lstStyle/>
          <a:p>
            <a:pPr marL="0" indent="0" algn="ctr">
              <a:buNone/>
              <a:defRPr/>
            </a:pPr>
            <a:r>
              <a:rPr lang="en-US" sz="900" b="1">
                <a:solidFill>
                  <a:srgbClr val="FFFFFF"/>
                </a:solidFill>
              </a:rPr>
              <a:t>Monitoring Layer</a:t>
            </a:r>
            <a:endParaRPr lang="en-US" sz="900"/>
          </a:p>
        </p:txBody>
      </p:sp>
      <p:sp>
        <p:nvSpPr>
          <p:cNvPr id="560810788" name="Shape 48"/>
          <p:cNvSpPr/>
          <p:nvPr/>
        </p:nvSpPr>
        <p:spPr bwMode="auto">
          <a:xfrm>
            <a:off x="1783080" y="4151376"/>
            <a:ext cx="3291840" cy="621792"/>
          </a:xfrm>
          <a:prstGeom prst="rect">
            <a:avLst/>
          </a:prstGeom>
          <a:solidFill>
            <a:srgbClr val="112240"/>
          </a:solidFill>
          <a:ln w="12700">
            <a:solidFill>
              <a:srgbClr val="06D6A0"/>
            </a:solidFill>
            <a:prstDash val="solid"/>
          </a:ln>
        </p:spPr>
      </p:sp>
      <p:sp>
        <p:nvSpPr>
          <p:cNvPr id="766626862" name="Shape 49"/>
          <p:cNvSpPr/>
          <p:nvPr/>
        </p:nvSpPr>
        <p:spPr bwMode="auto">
          <a:xfrm>
            <a:off x="1783080" y="4151376"/>
            <a:ext cx="73152" cy="621792"/>
          </a:xfrm>
          <a:prstGeom prst="rect">
            <a:avLst/>
          </a:prstGeom>
          <a:solidFill>
            <a:srgbClr val="06D6A0"/>
          </a:solidFill>
          <a:ln w="12700">
            <a:solidFill>
              <a:srgbClr val="06D6A0"/>
            </a:solidFill>
            <a:prstDash val="solid"/>
          </a:ln>
        </p:spPr>
      </p:sp>
      <p:sp>
        <p:nvSpPr>
          <p:cNvPr id="1166883241" name="Text 50"/>
          <p:cNvSpPr/>
          <p:nvPr/>
        </p:nvSpPr>
        <p:spPr bwMode="auto">
          <a:xfrm>
            <a:off x="1920240" y="4178808"/>
            <a:ext cx="3017519" cy="228600"/>
          </a:xfrm>
          <a:prstGeom prst="rect">
            <a:avLst/>
          </a:prstGeom>
          <a:noFill/>
          <a:ln/>
        </p:spPr>
        <p:txBody>
          <a:bodyPr wrap="square" lIns="0" tIns="0" rIns="0" bIns="0" rtlCol="0" anchor="ctr"/>
          <a:lstStyle/>
          <a:p>
            <a:pPr marL="0" indent="0">
              <a:buNone/>
              <a:defRPr/>
            </a:pPr>
            <a:r>
              <a:rPr lang="en-US" sz="1100" b="1">
                <a:solidFill>
                  <a:srgbClr val="06D6A0"/>
                </a:solidFill>
              </a:rPr>
              <a:t>QGroundControl</a:t>
            </a:r>
            <a:endParaRPr lang="en-US" sz="1100"/>
          </a:p>
        </p:txBody>
      </p:sp>
      <p:sp>
        <p:nvSpPr>
          <p:cNvPr id="2018663583" name="Text 51"/>
          <p:cNvSpPr/>
          <p:nvPr/>
        </p:nvSpPr>
        <p:spPr bwMode="auto">
          <a:xfrm>
            <a:off x="1920240" y="4407408"/>
            <a:ext cx="3017519" cy="310896"/>
          </a:xfrm>
          <a:prstGeom prst="rect">
            <a:avLst/>
          </a:prstGeom>
          <a:noFill/>
          <a:ln/>
        </p:spPr>
        <p:txBody>
          <a:bodyPr wrap="square" lIns="0" tIns="0" rIns="0" bIns="0" rtlCol="0" anchor="ctr"/>
          <a:lstStyle/>
          <a:p>
            <a:pPr marL="0" indent="0">
              <a:buNone/>
              <a:defRPr/>
            </a:pPr>
            <a:r>
              <a:rPr lang="en-US" sz="900">
                <a:solidFill>
                  <a:srgbClr val="B8C8DC"/>
                </a:solidFill>
              </a:rPr>
              <a:t>Mission map visualization, telemetry display, flight monitoring</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0A1628"/>
        </a:solidFill>
      </p:bgPr>
    </p:bg>
    <p:spTree>
      <p:nvGrpSpPr>
        <p:cNvPr id="1" name=""/>
        <p:cNvGrpSpPr/>
        <p:nvPr/>
      </p:nvGrpSpPr>
      <p:grpSpPr bwMode="auto">
        <a:xfrm>
          <a:off x="0" y="0"/>
          <a:ext cx="0" cy="0"/>
          <a:chOff x="0" y="0"/>
          <a:chExt cx="0" cy="0"/>
        </a:xfrm>
      </p:grpSpPr>
      <p:sp>
        <p:nvSpPr>
          <p:cNvPr id="1420488413" name="Shape 0"/>
          <p:cNvSpPr/>
          <p:nvPr/>
        </p:nvSpPr>
        <p:spPr bwMode="auto">
          <a:xfrm>
            <a:off x="0" y="0"/>
            <a:ext cx="9144000" cy="73152"/>
          </a:xfrm>
          <a:prstGeom prst="rect">
            <a:avLst/>
          </a:prstGeom>
          <a:solidFill>
            <a:srgbClr val="00B4D8"/>
          </a:solidFill>
          <a:ln w="12700">
            <a:solidFill>
              <a:srgbClr val="00B4D8"/>
            </a:solidFill>
            <a:prstDash val="solid"/>
          </a:ln>
        </p:spPr>
        <p:txBody>
          <a:bodyPr anchor="ctr"/>
          <a:p>
            <a:pPr algn="ctr">
              <a:defRPr/>
            </a:pPr>
            <a:endParaRPr sz="2000"/>
          </a:p>
        </p:txBody>
      </p:sp>
      <p:sp>
        <p:nvSpPr>
          <p:cNvPr id="1659600912" name="Text 1"/>
          <p:cNvSpPr/>
          <p:nvPr/>
        </p:nvSpPr>
        <p:spPr bwMode="auto">
          <a:xfrm>
            <a:off x="365760" y="137160"/>
            <a:ext cx="8229600" cy="411480"/>
          </a:xfrm>
          <a:prstGeom prst="rect">
            <a:avLst/>
          </a:prstGeom>
          <a:noFill/>
          <a:ln/>
        </p:spPr>
        <p:txBody>
          <a:bodyPr wrap="square" lIns="0" tIns="0" rIns="0" bIns="0" rtlCol="0" anchor="ctr"/>
          <a:lstStyle/>
          <a:p>
            <a:pPr marL="0" indent="0">
              <a:buNone/>
              <a:defRPr/>
            </a:pPr>
            <a:r>
              <a:rPr lang="en-US" sz="2600" b="1">
                <a:solidFill>
                  <a:srgbClr val="FFFFFF"/>
                </a:solidFill>
              </a:rPr>
              <a:t>Experimental Validation</a:t>
            </a:r>
            <a:endParaRPr lang="en-US" sz="2600"/>
          </a:p>
        </p:txBody>
      </p:sp>
      <p:sp>
        <p:nvSpPr>
          <p:cNvPr id="785695126" name="Shape 2"/>
          <p:cNvSpPr/>
          <p:nvPr/>
        </p:nvSpPr>
        <p:spPr bwMode="auto">
          <a:xfrm>
            <a:off x="274320" y="685800"/>
            <a:ext cx="1965960" cy="2286000"/>
          </a:xfrm>
          <a:prstGeom prst="rect">
            <a:avLst/>
          </a:prstGeom>
          <a:solidFill>
            <a:srgbClr val="112240"/>
          </a:solidFill>
          <a:ln w="19050">
            <a:solidFill>
              <a:srgbClr val="00B4D8"/>
            </a:solidFill>
            <a:prstDash val="solid"/>
          </a:ln>
        </p:spPr>
        <p:txBody>
          <a:bodyPr anchor="ctr"/>
          <a:p>
            <a:pPr algn="ctr">
              <a:defRPr/>
            </a:pPr>
            <a:endParaRPr sz="2000"/>
          </a:p>
        </p:txBody>
      </p:sp>
      <p:sp>
        <p:nvSpPr>
          <p:cNvPr id="1172288836" name="Shape 3"/>
          <p:cNvSpPr/>
          <p:nvPr/>
        </p:nvSpPr>
        <p:spPr bwMode="auto">
          <a:xfrm>
            <a:off x="274320" y="685800"/>
            <a:ext cx="1965960" cy="45720"/>
          </a:xfrm>
          <a:prstGeom prst="rect">
            <a:avLst/>
          </a:prstGeom>
          <a:solidFill>
            <a:srgbClr val="00B4D8"/>
          </a:solidFill>
          <a:ln w="12700">
            <a:solidFill>
              <a:srgbClr val="00B4D8"/>
            </a:solidFill>
            <a:prstDash val="solid"/>
          </a:ln>
        </p:spPr>
        <p:txBody>
          <a:bodyPr anchor="ctr"/>
          <a:p>
            <a:pPr algn="ctr">
              <a:defRPr/>
            </a:pPr>
            <a:endParaRPr sz="2000"/>
          </a:p>
        </p:txBody>
      </p:sp>
      <p:sp>
        <p:nvSpPr>
          <p:cNvPr id="673844950" name="Shape 4"/>
          <p:cNvSpPr/>
          <p:nvPr/>
        </p:nvSpPr>
        <p:spPr bwMode="auto">
          <a:xfrm>
            <a:off x="941832" y="804672"/>
            <a:ext cx="621792" cy="621792"/>
          </a:xfrm>
          <a:prstGeom prst="ellipse">
            <a:avLst/>
          </a:prstGeom>
          <a:solidFill>
            <a:srgbClr val="00B4D8">
              <a:alpha val="80000"/>
            </a:srgbClr>
          </a:solidFill>
          <a:ln w="12700">
            <a:solidFill>
              <a:srgbClr val="00B4D8"/>
            </a:solidFill>
            <a:prstDash val="solid"/>
          </a:ln>
        </p:spPr>
        <p:txBody>
          <a:bodyPr anchor="ctr"/>
          <a:p>
            <a:pPr algn="ctr">
              <a:defRPr/>
            </a:pPr>
            <a:endParaRPr sz="2000"/>
          </a:p>
        </p:txBody>
      </p:sp>
      <p:sp>
        <p:nvSpPr>
          <p:cNvPr id="813053925" name="Text 5"/>
          <p:cNvSpPr/>
          <p:nvPr/>
        </p:nvSpPr>
        <p:spPr bwMode="auto">
          <a:xfrm>
            <a:off x="941832" y="795528"/>
            <a:ext cx="621792" cy="621792"/>
          </a:xfrm>
          <a:prstGeom prst="rect">
            <a:avLst/>
          </a:prstGeom>
          <a:noFill/>
          <a:ln/>
        </p:spPr>
        <p:txBody>
          <a:bodyPr wrap="square" rtlCol="0" anchor="ctr"/>
          <a:lstStyle/>
          <a:p>
            <a:pPr marL="0" indent="0" algn="ctr">
              <a:buNone/>
              <a:defRPr/>
            </a:pPr>
            <a:r>
              <a:rPr lang="en-US" sz="2400">
                <a:solidFill>
                  <a:srgbClr val="000000"/>
                </a:solidFill>
              </a:rPr>
              <a:t>💬</a:t>
            </a:r>
            <a:endParaRPr lang="en-US" sz="2400"/>
          </a:p>
        </p:txBody>
      </p:sp>
      <p:sp>
        <p:nvSpPr>
          <p:cNvPr id="917508278" name="Text 6"/>
          <p:cNvSpPr/>
          <p:nvPr/>
        </p:nvSpPr>
        <p:spPr bwMode="auto">
          <a:xfrm>
            <a:off x="320040" y="1490472"/>
            <a:ext cx="1828800" cy="182880"/>
          </a:xfrm>
          <a:prstGeom prst="rect">
            <a:avLst/>
          </a:prstGeom>
          <a:noFill/>
          <a:ln/>
        </p:spPr>
        <p:txBody>
          <a:bodyPr wrap="square" lIns="0" tIns="0" rIns="0" bIns="0" rtlCol="0" anchor="ctr"/>
          <a:lstStyle/>
          <a:p>
            <a:pPr marL="0" indent="0" algn="ctr">
              <a:buNone/>
              <a:defRPr/>
            </a:pPr>
            <a:r>
              <a:rPr lang="en-US" sz="1100">
                <a:solidFill>
                  <a:srgbClr val="00B4D8"/>
                </a:solidFill>
              </a:rPr>
              <a:t>Phase 1</a:t>
            </a:r>
            <a:endParaRPr lang="en-US" sz="1100"/>
          </a:p>
        </p:txBody>
      </p:sp>
      <p:sp>
        <p:nvSpPr>
          <p:cNvPr id="598518533" name="Text 7"/>
          <p:cNvSpPr/>
          <p:nvPr/>
        </p:nvSpPr>
        <p:spPr bwMode="auto">
          <a:xfrm>
            <a:off x="320040" y="1664208"/>
            <a:ext cx="1828800" cy="228600"/>
          </a:xfrm>
          <a:prstGeom prst="rect">
            <a:avLst/>
          </a:prstGeom>
          <a:noFill/>
          <a:ln/>
        </p:spPr>
        <p:txBody>
          <a:bodyPr wrap="square" lIns="0" tIns="0" rIns="0" bIns="0" rtlCol="0" anchor="ctr"/>
          <a:lstStyle/>
          <a:p>
            <a:pPr marL="0" indent="0" algn="ctr">
              <a:buNone/>
              <a:defRPr/>
            </a:pPr>
            <a:r>
              <a:rPr lang="en-US" sz="1400" b="1">
                <a:solidFill>
                  <a:srgbClr val="FFFFFF"/>
                </a:solidFill>
              </a:rPr>
              <a:t>Prompt Testing</a:t>
            </a:r>
            <a:endParaRPr lang="en-US" sz="1400"/>
          </a:p>
        </p:txBody>
      </p:sp>
      <p:sp>
        <p:nvSpPr>
          <p:cNvPr id="574827866" name="Text 8"/>
          <p:cNvSpPr/>
          <p:nvPr/>
        </p:nvSpPr>
        <p:spPr bwMode="auto">
          <a:xfrm>
            <a:off x="365760" y="1938528"/>
            <a:ext cx="1783080" cy="914400"/>
          </a:xfrm>
          <a:prstGeom prst="rect">
            <a:avLst/>
          </a:prstGeom>
          <a:noFill/>
          <a:ln/>
        </p:spPr>
        <p:txBody>
          <a:bodyPr wrap="square" lIns="0" tIns="0" rIns="0" bIns="0" rtlCol="0" anchor="ctr"/>
          <a:lstStyle/>
          <a:p>
            <a:pPr marL="0" indent="0" algn="ctr">
              <a:buNone/>
              <a:defRPr/>
            </a:pPr>
            <a:r>
              <a:rPr lang="en-US" sz="1200">
                <a:solidFill>
                  <a:srgbClr val="B8C8DC"/>
                </a:solidFill>
              </a:rPr>
              <a:t>Diverse prompts</a:t>
            </a:r>
            <a:endParaRPr lang="en-US" sz="1200"/>
          </a:p>
          <a:p>
            <a:pPr marL="0" indent="0" algn="ctr">
              <a:buNone/>
              <a:defRPr/>
            </a:pPr>
            <a:r>
              <a:rPr lang="en-US" sz="1200">
                <a:solidFill>
                  <a:srgbClr val="B8C8DC"/>
                </a:solidFill>
              </a:rPr>
              <a:t>tested across all</a:t>
            </a:r>
            <a:endParaRPr lang="en-US" sz="1200"/>
          </a:p>
          <a:p>
            <a:pPr marL="0" indent="0" algn="ctr">
              <a:buNone/>
              <a:defRPr/>
            </a:pPr>
            <a:r>
              <a:rPr lang="en-US" sz="1200">
                <a:solidFill>
                  <a:srgbClr val="B8C8DC"/>
                </a:solidFill>
              </a:rPr>
              <a:t>3 mission types</a:t>
            </a:r>
            <a:endParaRPr lang="en-US" sz="1200"/>
          </a:p>
        </p:txBody>
      </p:sp>
      <p:sp>
        <p:nvSpPr>
          <p:cNvPr id="1695217898" name="Shape 9"/>
          <p:cNvSpPr/>
          <p:nvPr/>
        </p:nvSpPr>
        <p:spPr bwMode="auto">
          <a:xfrm>
            <a:off x="2240280" y="1783080"/>
            <a:ext cx="210312" cy="0"/>
          </a:xfrm>
          <a:prstGeom prst="line">
            <a:avLst/>
          </a:prstGeom>
          <a:noFill/>
          <a:ln w="19050">
            <a:solidFill>
              <a:srgbClr val="B8C8DC"/>
            </a:solidFill>
            <a:prstDash val="solid"/>
          </a:ln>
        </p:spPr>
      </p:sp>
      <p:sp>
        <p:nvSpPr>
          <p:cNvPr id="115072222" name="Shape 10"/>
          <p:cNvSpPr/>
          <p:nvPr/>
        </p:nvSpPr>
        <p:spPr bwMode="auto">
          <a:xfrm>
            <a:off x="2450592" y="685800"/>
            <a:ext cx="1965960" cy="2286000"/>
          </a:xfrm>
          <a:prstGeom prst="rect">
            <a:avLst/>
          </a:prstGeom>
          <a:solidFill>
            <a:srgbClr val="112240"/>
          </a:solidFill>
          <a:ln w="19050">
            <a:solidFill>
              <a:srgbClr val="FFB703"/>
            </a:solidFill>
            <a:prstDash val="solid"/>
          </a:ln>
        </p:spPr>
        <p:txBody>
          <a:bodyPr anchor="ctr"/>
          <a:p>
            <a:pPr algn="ctr">
              <a:defRPr/>
            </a:pPr>
            <a:endParaRPr sz="2000"/>
          </a:p>
        </p:txBody>
      </p:sp>
      <p:sp>
        <p:nvSpPr>
          <p:cNvPr id="684739370" name="Shape 11"/>
          <p:cNvSpPr/>
          <p:nvPr/>
        </p:nvSpPr>
        <p:spPr bwMode="auto">
          <a:xfrm>
            <a:off x="2450592" y="685800"/>
            <a:ext cx="1965960" cy="45720"/>
          </a:xfrm>
          <a:prstGeom prst="rect">
            <a:avLst/>
          </a:prstGeom>
          <a:solidFill>
            <a:srgbClr val="FFB703"/>
          </a:solidFill>
          <a:ln w="12700">
            <a:solidFill>
              <a:srgbClr val="FFB703"/>
            </a:solidFill>
            <a:prstDash val="solid"/>
          </a:ln>
        </p:spPr>
        <p:txBody>
          <a:bodyPr anchor="ctr"/>
          <a:p>
            <a:pPr algn="ctr">
              <a:defRPr/>
            </a:pPr>
            <a:endParaRPr sz="2000"/>
          </a:p>
        </p:txBody>
      </p:sp>
      <p:sp>
        <p:nvSpPr>
          <p:cNvPr id="1717769715" name="Shape 12"/>
          <p:cNvSpPr/>
          <p:nvPr/>
        </p:nvSpPr>
        <p:spPr bwMode="auto">
          <a:xfrm>
            <a:off x="3118104" y="804672"/>
            <a:ext cx="621792" cy="621792"/>
          </a:xfrm>
          <a:prstGeom prst="ellipse">
            <a:avLst/>
          </a:prstGeom>
          <a:solidFill>
            <a:srgbClr val="FFB703">
              <a:alpha val="80000"/>
            </a:srgbClr>
          </a:solidFill>
          <a:ln w="12700">
            <a:solidFill>
              <a:srgbClr val="FFB703"/>
            </a:solidFill>
            <a:prstDash val="solid"/>
          </a:ln>
        </p:spPr>
        <p:txBody>
          <a:bodyPr anchor="ctr"/>
          <a:p>
            <a:pPr algn="ctr">
              <a:defRPr/>
            </a:pPr>
            <a:endParaRPr sz="2000"/>
          </a:p>
        </p:txBody>
      </p:sp>
      <p:sp>
        <p:nvSpPr>
          <p:cNvPr id="1186741941" name="Text 13"/>
          <p:cNvSpPr/>
          <p:nvPr/>
        </p:nvSpPr>
        <p:spPr bwMode="auto">
          <a:xfrm>
            <a:off x="3118104" y="795528"/>
            <a:ext cx="621792" cy="621792"/>
          </a:xfrm>
          <a:prstGeom prst="rect">
            <a:avLst/>
          </a:prstGeom>
          <a:noFill/>
          <a:ln/>
        </p:spPr>
        <p:txBody>
          <a:bodyPr wrap="square" rtlCol="0" anchor="ctr"/>
          <a:lstStyle/>
          <a:p>
            <a:pPr marL="0" indent="0" algn="ctr">
              <a:buNone/>
              <a:defRPr/>
            </a:pPr>
            <a:r>
              <a:rPr lang="en-US" sz="2400">
                <a:solidFill>
                  <a:srgbClr val="000000"/>
                </a:solidFill>
              </a:rPr>
              <a:t>✓</a:t>
            </a:r>
            <a:endParaRPr lang="en-US" sz="2400"/>
          </a:p>
        </p:txBody>
      </p:sp>
      <p:sp>
        <p:nvSpPr>
          <p:cNvPr id="745815024" name="Text 14"/>
          <p:cNvSpPr/>
          <p:nvPr/>
        </p:nvSpPr>
        <p:spPr bwMode="auto">
          <a:xfrm>
            <a:off x="2496312" y="1490472"/>
            <a:ext cx="1828800" cy="182880"/>
          </a:xfrm>
          <a:prstGeom prst="rect">
            <a:avLst/>
          </a:prstGeom>
          <a:noFill/>
          <a:ln/>
        </p:spPr>
        <p:txBody>
          <a:bodyPr wrap="square" lIns="0" tIns="0" rIns="0" bIns="0" rtlCol="0" anchor="ctr"/>
          <a:lstStyle/>
          <a:p>
            <a:pPr marL="0" indent="0" algn="ctr">
              <a:buNone/>
              <a:defRPr/>
            </a:pPr>
            <a:r>
              <a:rPr lang="en-US" sz="1100">
                <a:solidFill>
                  <a:srgbClr val="FFB703"/>
                </a:solidFill>
              </a:rPr>
              <a:t>Phase 2</a:t>
            </a:r>
            <a:endParaRPr lang="en-US" sz="1100"/>
          </a:p>
        </p:txBody>
      </p:sp>
      <p:sp>
        <p:nvSpPr>
          <p:cNvPr id="122825528" name="Text 15"/>
          <p:cNvSpPr/>
          <p:nvPr/>
        </p:nvSpPr>
        <p:spPr bwMode="auto">
          <a:xfrm>
            <a:off x="2496312" y="1664208"/>
            <a:ext cx="1828800" cy="228600"/>
          </a:xfrm>
          <a:prstGeom prst="rect">
            <a:avLst/>
          </a:prstGeom>
          <a:noFill/>
          <a:ln/>
        </p:spPr>
        <p:txBody>
          <a:bodyPr wrap="square" lIns="0" tIns="0" rIns="0" bIns="0" rtlCol="0" anchor="ctr"/>
          <a:lstStyle/>
          <a:p>
            <a:pPr marL="0" indent="0" algn="ctr">
              <a:buNone/>
              <a:defRPr/>
            </a:pPr>
            <a:r>
              <a:rPr lang="en-US" sz="1400" b="1">
                <a:solidFill>
                  <a:srgbClr val="FFFFFF"/>
                </a:solidFill>
              </a:rPr>
              <a:t>Schema Validation</a:t>
            </a:r>
            <a:endParaRPr lang="en-US" sz="1400"/>
          </a:p>
        </p:txBody>
      </p:sp>
      <p:sp>
        <p:nvSpPr>
          <p:cNvPr id="829737908" name="Text 16"/>
          <p:cNvSpPr/>
          <p:nvPr/>
        </p:nvSpPr>
        <p:spPr bwMode="auto">
          <a:xfrm>
            <a:off x="2542032" y="1938528"/>
            <a:ext cx="1783080" cy="914400"/>
          </a:xfrm>
          <a:prstGeom prst="rect">
            <a:avLst/>
          </a:prstGeom>
          <a:noFill/>
          <a:ln/>
        </p:spPr>
        <p:txBody>
          <a:bodyPr wrap="square" lIns="0" tIns="0" rIns="0" bIns="0" rtlCol="0" anchor="ctr"/>
          <a:lstStyle/>
          <a:p>
            <a:pPr marL="0" indent="0" algn="ctr">
              <a:buNone/>
              <a:defRPr/>
            </a:pPr>
            <a:r>
              <a:rPr lang="en-US" sz="1200">
                <a:solidFill>
                  <a:srgbClr val="B8C8DC"/>
                </a:solidFill>
              </a:rPr>
              <a:t>JSON extraction</a:t>
            </a:r>
            <a:endParaRPr lang="en-US" sz="1200"/>
          </a:p>
          <a:p>
            <a:pPr marL="0" indent="0" algn="ctr">
              <a:buNone/>
              <a:defRPr/>
            </a:pPr>
            <a:r>
              <a:rPr lang="en-US" sz="1200">
                <a:solidFill>
                  <a:srgbClr val="B8C8DC"/>
                </a:solidFill>
              </a:rPr>
              <a:t>accuracy measured</a:t>
            </a:r>
            <a:endParaRPr lang="en-US" sz="1200"/>
          </a:p>
          <a:p>
            <a:pPr marL="0" indent="0" algn="ctr">
              <a:buNone/>
              <a:defRPr/>
            </a:pPr>
            <a:r>
              <a:rPr lang="en-US" sz="1200">
                <a:solidFill>
                  <a:srgbClr val="B8C8DC"/>
                </a:solidFill>
              </a:rPr>
              <a:t>against ground truth</a:t>
            </a:r>
            <a:endParaRPr lang="en-US" sz="1200"/>
          </a:p>
        </p:txBody>
      </p:sp>
      <p:sp>
        <p:nvSpPr>
          <p:cNvPr id="2144271483" name="Shape 17"/>
          <p:cNvSpPr/>
          <p:nvPr/>
        </p:nvSpPr>
        <p:spPr bwMode="auto">
          <a:xfrm>
            <a:off x="4416552" y="1783080"/>
            <a:ext cx="210312" cy="0"/>
          </a:xfrm>
          <a:prstGeom prst="line">
            <a:avLst/>
          </a:prstGeom>
          <a:noFill/>
          <a:ln w="19050">
            <a:solidFill>
              <a:srgbClr val="B8C8DC"/>
            </a:solidFill>
            <a:prstDash val="solid"/>
          </a:ln>
        </p:spPr>
      </p:sp>
      <p:sp>
        <p:nvSpPr>
          <p:cNvPr id="1033337078" name="Shape 18"/>
          <p:cNvSpPr/>
          <p:nvPr/>
        </p:nvSpPr>
        <p:spPr bwMode="auto">
          <a:xfrm>
            <a:off x="4626864" y="685800"/>
            <a:ext cx="1965960" cy="2286000"/>
          </a:xfrm>
          <a:prstGeom prst="rect">
            <a:avLst/>
          </a:prstGeom>
          <a:solidFill>
            <a:srgbClr val="112240"/>
          </a:solidFill>
          <a:ln w="19050">
            <a:solidFill>
              <a:srgbClr val="7B2FBE"/>
            </a:solidFill>
            <a:prstDash val="solid"/>
          </a:ln>
        </p:spPr>
        <p:txBody>
          <a:bodyPr anchor="ctr"/>
          <a:p>
            <a:pPr algn="ctr">
              <a:defRPr/>
            </a:pPr>
            <a:endParaRPr sz="2000"/>
          </a:p>
        </p:txBody>
      </p:sp>
      <p:sp>
        <p:nvSpPr>
          <p:cNvPr id="1595240955" name="Shape 19"/>
          <p:cNvSpPr/>
          <p:nvPr/>
        </p:nvSpPr>
        <p:spPr bwMode="auto">
          <a:xfrm>
            <a:off x="4626864" y="685800"/>
            <a:ext cx="1965960" cy="45720"/>
          </a:xfrm>
          <a:prstGeom prst="rect">
            <a:avLst/>
          </a:prstGeom>
          <a:solidFill>
            <a:srgbClr val="7B2FBE"/>
          </a:solidFill>
          <a:ln w="12700">
            <a:solidFill>
              <a:srgbClr val="7B2FBE"/>
            </a:solidFill>
            <a:prstDash val="solid"/>
          </a:ln>
        </p:spPr>
        <p:txBody>
          <a:bodyPr anchor="ctr"/>
          <a:p>
            <a:pPr algn="ctr">
              <a:defRPr/>
            </a:pPr>
            <a:endParaRPr sz="2000"/>
          </a:p>
        </p:txBody>
      </p:sp>
      <p:sp>
        <p:nvSpPr>
          <p:cNvPr id="1152047853" name="Shape 20"/>
          <p:cNvSpPr/>
          <p:nvPr/>
        </p:nvSpPr>
        <p:spPr bwMode="auto">
          <a:xfrm>
            <a:off x="5294376" y="804672"/>
            <a:ext cx="621792" cy="621792"/>
          </a:xfrm>
          <a:prstGeom prst="ellipse">
            <a:avLst/>
          </a:prstGeom>
          <a:solidFill>
            <a:srgbClr val="7B2FBE">
              <a:alpha val="80000"/>
            </a:srgbClr>
          </a:solidFill>
          <a:ln w="12700">
            <a:solidFill>
              <a:srgbClr val="7B2FBE"/>
            </a:solidFill>
            <a:prstDash val="solid"/>
          </a:ln>
        </p:spPr>
        <p:txBody>
          <a:bodyPr anchor="ctr"/>
          <a:p>
            <a:pPr algn="ctr">
              <a:defRPr/>
            </a:pPr>
            <a:endParaRPr sz="2000"/>
          </a:p>
        </p:txBody>
      </p:sp>
      <p:sp>
        <p:nvSpPr>
          <p:cNvPr id="110876029" name="Text 21"/>
          <p:cNvSpPr/>
          <p:nvPr/>
        </p:nvSpPr>
        <p:spPr bwMode="auto">
          <a:xfrm>
            <a:off x="5294376" y="795528"/>
            <a:ext cx="621792" cy="621792"/>
          </a:xfrm>
          <a:prstGeom prst="rect">
            <a:avLst/>
          </a:prstGeom>
          <a:noFill/>
          <a:ln/>
        </p:spPr>
        <p:txBody>
          <a:bodyPr wrap="square" rtlCol="0" anchor="ctr"/>
          <a:lstStyle/>
          <a:p>
            <a:pPr marL="0" indent="0" algn="ctr">
              <a:buNone/>
              <a:defRPr/>
            </a:pPr>
            <a:r>
              <a:rPr lang="en-US" sz="2400">
                <a:solidFill>
                  <a:srgbClr val="000000"/>
                </a:solidFill>
              </a:rPr>
              <a:t>🖥</a:t>
            </a:r>
            <a:endParaRPr lang="en-US" sz="2400"/>
          </a:p>
        </p:txBody>
      </p:sp>
      <p:sp>
        <p:nvSpPr>
          <p:cNvPr id="20334182" name="Text 22"/>
          <p:cNvSpPr/>
          <p:nvPr/>
        </p:nvSpPr>
        <p:spPr bwMode="auto">
          <a:xfrm>
            <a:off x="4672584" y="1490472"/>
            <a:ext cx="1828800" cy="182880"/>
          </a:xfrm>
          <a:prstGeom prst="rect">
            <a:avLst/>
          </a:prstGeom>
          <a:noFill/>
          <a:ln/>
        </p:spPr>
        <p:txBody>
          <a:bodyPr wrap="square" lIns="0" tIns="0" rIns="0" bIns="0" rtlCol="0" anchor="ctr"/>
          <a:lstStyle/>
          <a:p>
            <a:pPr marL="0" indent="0" algn="ctr">
              <a:buNone/>
              <a:defRPr/>
            </a:pPr>
            <a:r>
              <a:rPr lang="en-US" sz="1100">
                <a:solidFill>
                  <a:srgbClr val="7B2FBE"/>
                </a:solidFill>
              </a:rPr>
              <a:t>Phase 3</a:t>
            </a:r>
            <a:endParaRPr lang="en-US" sz="1100"/>
          </a:p>
        </p:txBody>
      </p:sp>
      <p:sp>
        <p:nvSpPr>
          <p:cNvPr id="217001757" name="Text 23"/>
          <p:cNvSpPr/>
          <p:nvPr/>
        </p:nvSpPr>
        <p:spPr bwMode="auto">
          <a:xfrm>
            <a:off x="4672584" y="1664208"/>
            <a:ext cx="1828800" cy="228600"/>
          </a:xfrm>
          <a:prstGeom prst="rect">
            <a:avLst/>
          </a:prstGeom>
          <a:noFill/>
          <a:ln/>
        </p:spPr>
        <p:txBody>
          <a:bodyPr wrap="square" lIns="0" tIns="0" rIns="0" bIns="0" rtlCol="0" anchor="ctr"/>
          <a:lstStyle/>
          <a:p>
            <a:pPr marL="0" indent="0" algn="ctr">
              <a:buNone/>
              <a:defRPr/>
            </a:pPr>
            <a:r>
              <a:rPr lang="en-US" sz="1400" b="1">
                <a:solidFill>
                  <a:srgbClr val="FFFFFF"/>
                </a:solidFill>
              </a:rPr>
              <a:t>SITL Simulation</a:t>
            </a:r>
            <a:endParaRPr lang="en-US" sz="1400"/>
          </a:p>
        </p:txBody>
      </p:sp>
      <p:sp>
        <p:nvSpPr>
          <p:cNvPr id="1047539604" name="Text 24"/>
          <p:cNvSpPr/>
          <p:nvPr/>
        </p:nvSpPr>
        <p:spPr bwMode="auto">
          <a:xfrm>
            <a:off x="4718304" y="1938528"/>
            <a:ext cx="1783080" cy="914400"/>
          </a:xfrm>
          <a:prstGeom prst="rect">
            <a:avLst/>
          </a:prstGeom>
          <a:noFill/>
          <a:ln/>
        </p:spPr>
        <p:txBody>
          <a:bodyPr wrap="square" lIns="0" tIns="0" rIns="0" bIns="0" rtlCol="0" anchor="ctr"/>
          <a:lstStyle/>
          <a:p>
            <a:pPr marL="0" indent="0" algn="ctr">
              <a:buNone/>
              <a:defRPr/>
            </a:pPr>
            <a:r>
              <a:rPr lang="en-US" sz="1200">
                <a:solidFill>
                  <a:srgbClr val="B8C8DC"/>
                </a:solidFill>
              </a:rPr>
              <a:t>Full ArduPilot SITL</a:t>
            </a:r>
            <a:endParaRPr lang="en-US" sz="1200"/>
          </a:p>
          <a:p>
            <a:pPr marL="0" indent="0" algn="ctr">
              <a:buNone/>
              <a:defRPr/>
            </a:pPr>
            <a:r>
              <a:rPr lang="en-US" sz="1200">
                <a:solidFill>
                  <a:srgbClr val="B8C8DC"/>
                </a:solidFill>
              </a:rPr>
              <a:t>virtual flight with</a:t>
            </a:r>
            <a:endParaRPr lang="en-US" sz="1200"/>
          </a:p>
          <a:p>
            <a:pPr marL="0" indent="0" algn="ctr">
              <a:buNone/>
              <a:defRPr/>
            </a:pPr>
            <a:r>
              <a:rPr lang="en-US" sz="1200">
                <a:solidFill>
                  <a:srgbClr val="B8C8DC"/>
                </a:solidFill>
              </a:rPr>
              <a:t>telemetry monitoring</a:t>
            </a:r>
            <a:endParaRPr lang="en-US" sz="1200"/>
          </a:p>
        </p:txBody>
      </p:sp>
      <p:sp>
        <p:nvSpPr>
          <p:cNvPr id="425578659" name="Shape 25"/>
          <p:cNvSpPr/>
          <p:nvPr/>
        </p:nvSpPr>
        <p:spPr bwMode="auto">
          <a:xfrm>
            <a:off x="6592823" y="1783080"/>
            <a:ext cx="210312" cy="0"/>
          </a:xfrm>
          <a:prstGeom prst="line">
            <a:avLst/>
          </a:prstGeom>
          <a:noFill/>
          <a:ln w="19050">
            <a:solidFill>
              <a:srgbClr val="B8C8DC"/>
            </a:solidFill>
            <a:prstDash val="solid"/>
          </a:ln>
        </p:spPr>
      </p:sp>
      <p:sp>
        <p:nvSpPr>
          <p:cNvPr id="1247949268" name="Shape 26"/>
          <p:cNvSpPr/>
          <p:nvPr/>
        </p:nvSpPr>
        <p:spPr bwMode="auto">
          <a:xfrm>
            <a:off x="6803136" y="685800"/>
            <a:ext cx="1965960" cy="2286000"/>
          </a:xfrm>
          <a:prstGeom prst="rect">
            <a:avLst/>
          </a:prstGeom>
          <a:solidFill>
            <a:srgbClr val="112240"/>
          </a:solidFill>
          <a:ln w="19050">
            <a:solidFill>
              <a:srgbClr val="EF476F"/>
            </a:solidFill>
            <a:prstDash val="solid"/>
          </a:ln>
        </p:spPr>
        <p:txBody>
          <a:bodyPr anchor="ctr"/>
          <a:p>
            <a:pPr algn="ctr">
              <a:defRPr/>
            </a:pPr>
            <a:endParaRPr sz="2000"/>
          </a:p>
        </p:txBody>
      </p:sp>
      <p:sp>
        <p:nvSpPr>
          <p:cNvPr id="134177496" name="Shape 27"/>
          <p:cNvSpPr/>
          <p:nvPr/>
        </p:nvSpPr>
        <p:spPr bwMode="auto">
          <a:xfrm>
            <a:off x="6803136" y="685800"/>
            <a:ext cx="1965960" cy="45720"/>
          </a:xfrm>
          <a:prstGeom prst="rect">
            <a:avLst/>
          </a:prstGeom>
          <a:solidFill>
            <a:srgbClr val="EF476F"/>
          </a:solidFill>
          <a:ln w="12700">
            <a:solidFill>
              <a:srgbClr val="EF476F"/>
            </a:solidFill>
            <a:prstDash val="solid"/>
          </a:ln>
        </p:spPr>
        <p:txBody>
          <a:bodyPr anchor="ctr"/>
          <a:p>
            <a:pPr algn="ctr">
              <a:defRPr/>
            </a:pPr>
            <a:endParaRPr sz="2000"/>
          </a:p>
        </p:txBody>
      </p:sp>
      <p:sp>
        <p:nvSpPr>
          <p:cNvPr id="346513802" name="Shape 28"/>
          <p:cNvSpPr/>
          <p:nvPr/>
        </p:nvSpPr>
        <p:spPr bwMode="auto">
          <a:xfrm>
            <a:off x="7470648" y="804672"/>
            <a:ext cx="621792" cy="621792"/>
          </a:xfrm>
          <a:prstGeom prst="ellipse">
            <a:avLst/>
          </a:prstGeom>
          <a:solidFill>
            <a:srgbClr val="EF476F">
              <a:alpha val="80000"/>
            </a:srgbClr>
          </a:solidFill>
          <a:ln w="12700">
            <a:solidFill>
              <a:srgbClr val="EF476F"/>
            </a:solidFill>
            <a:prstDash val="solid"/>
          </a:ln>
        </p:spPr>
        <p:txBody>
          <a:bodyPr anchor="ctr"/>
          <a:p>
            <a:pPr algn="ctr">
              <a:defRPr/>
            </a:pPr>
            <a:endParaRPr sz="2000"/>
          </a:p>
        </p:txBody>
      </p:sp>
      <p:sp>
        <p:nvSpPr>
          <p:cNvPr id="2121291005" name="Text 29"/>
          <p:cNvSpPr/>
          <p:nvPr/>
        </p:nvSpPr>
        <p:spPr bwMode="auto">
          <a:xfrm>
            <a:off x="7470648" y="795528"/>
            <a:ext cx="621792" cy="621792"/>
          </a:xfrm>
          <a:prstGeom prst="rect">
            <a:avLst/>
          </a:prstGeom>
          <a:noFill/>
          <a:ln/>
        </p:spPr>
        <p:txBody>
          <a:bodyPr wrap="square" rtlCol="0" anchor="ctr"/>
          <a:lstStyle/>
          <a:p>
            <a:pPr marL="0" indent="0" algn="ctr">
              <a:buNone/>
              <a:defRPr/>
            </a:pPr>
            <a:r>
              <a:rPr lang="en-US" sz="2400">
                <a:solidFill>
                  <a:srgbClr val="000000"/>
                </a:solidFill>
              </a:rPr>
              <a:t>🚁</a:t>
            </a:r>
            <a:endParaRPr lang="en-US" sz="2400"/>
          </a:p>
        </p:txBody>
      </p:sp>
      <p:sp>
        <p:nvSpPr>
          <p:cNvPr id="244959447" name="Text 30"/>
          <p:cNvSpPr/>
          <p:nvPr/>
        </p:nvSpPr>
        <p:spPr bwMode="auto">
          <a:xfrm>
            <a:off x="6848856" y="1490472"/>
            <a:ext cx="1828800" cy="182880"/>
          </a:xfrm>
          <a:prstGeom prst="rect">
            <a:avLst/>
          </a:prstGeom>
          <a:noFill/>
          <a:ln/>
        </p:spPr>
        <p:txBody>
          <a:bodyPr wrap="square" lIns="0" tIns="0" rIns="0" bIns="0" rtlCol="0" anchor="ctr"/>
          <a:lstStyle/>
          <a:p>
            <a:pPr marL="0" indent="0" algn="ctr">
              <a:buNone/>
              <a:defRPr/>
            </a:pPr>
            <a:r>
              <a:rPr lang="en-US" sz="1100">
                <a:solidFill>
                  <a:srgbClr val="EF476F"/>
                </a:solidFill>
              </a:rPr>
              <a:t>Phase 4</a:t>
            </a:r>
            <a:endParaRPr lang="en-US" sz="1100"/>
          </a:p>
        </p:txBody>
      </p:sp>
      <p:sp>
        <p:nvSpPr>
          <p:cNvPr id="848241883" name="Text 31"/>
          <p:cNvSpPr/>
          <p:nvPr/>
        </p:nvSpPr>
        <p:spPr bwMode="auto">
          <a:xfrm>
            <a:off x="6848856" y="1664208"/>
            <a:ext cx="1828800" cy="228600"/>
          </a:xfrm>
          <a:prstGeom prst="rect">
            <a:avLst/>
          </a:prstGeom>
          <a:noFill/>
          <a:ln/>
        </p:spPr>
        <p:txBody>
          <a:bodyPr wrap="square" lIns="0" tIns="0" rIns="0" bIns="0" rtlCol="0" anchor="ctr"/>
          <a:lstStyle/>
          <a:p>
            <a:pPr marL="0" indent="0" algn="ctr">
              <a:buNone/>
              <a:defRPr/>
            </a:pPr>
            <a:r>
              <a:rPr lang="en-US" sz="1400" b="1">
                <a:solidFill>
                  <a:srgbClr val="FFFFFF"/>
                </a:solidFill>
              </a:rPr>
              <a:t>Hardware Testing</a:t>
            </a:r>
            <a:endParaRPr lang="en-US" sz="1400"/>
          </a:p>
        </p:txBody>
      </p:sp>
      <p:sp>
        <p:nvSpPr>
          <p:cNvPr id="441994860" name="Text 32"/>
          <p:cNvSpPr/>
          <p:nvPr/>
        </p:nvSpPr>
        <p:spPr bwMode="auto">
          <a:xfrm>
            <a:off x="6894576" y="1938528"/>
            <a:ext cx="1783080" cy="914400"/>
          </a:xfrm>
          <a:prstGeom prst="rect">
            <a:avLst/>
          </a:prstGeom>
          <a:noFill/>
          <a:ln/>
        </p:spPr>
        <p:txBody>
          <a:bodyPr wrap="square" lIns="0" tIns="0" rIns="0" bIns="0" rtlCol="0" anchor="ctr"/>
          <a:lstStyle/>
          <a:p>
            <a:pPr marL="0" indent="0" algn="ctr">
              <a:buNone/>
              <a:defRPr/>
            </a:pPr>
            <a:r>
              <a:rPr lang="en-US" sz="1200">
                <a:solidFill>
                  <a:srgbClr val="B8C8DC"/>
                </a:solidFill>
              </a:rPr>
              <a:t>Real Pixhawk 2.4.8</a:t>
            </a:r>
            <a:endParaRPr lang="en-US" sz="1200"/>
          </a:p>
          <a:p>
            <a:pPr marL="0" indent="0" algn="ctr">
              <a:buNone/>
              <a:defRPr/>
            </a:pPr>
            <a:r>
              <a:rPr lang="en-US" sz="1200">
                <a:solidFill>
                  <a:srgbClr val="B8C8DC"/>
                </a:solidFill>
              </a:rPr>
              <a:t>mission upload and</a:t>
            </a:r>
            <a:endParaRPr lang="en-US" sz="1200"/>
          </a:p>
          <a:p>
            <a:pPr marL="0" indent="0" algn="ctr">
              <a:buNone/>
              <a:defRPr/>
            </a:pPr>
            <a:r>
              <a:rPr lang="en-US" sz="1200">
                <a:solidFill>
                  <a:srgbClr val="B8C8DC"/>
                </a:solidFill>
              </a:rPr>
              <a:t>autonomous flight</a:t>
            </a:r>
            <a:endParaRPr lang="en-US" sz="1200"/>
          </a:p>
        </p:txBody>
      </p:sp>
      <p:sp>
        <p:nvSpPr>
          <p:cNvPr id="1485835446" name="Shape 33"/>
          <p:cNvSpPr/>
          <p:nvPr/>
        </p:nvSpPr>
        <p:spPr bwMode="auto">
          <a:xfrm>
            <a:off x="274320" y="3127248"/>
            <a:ext cx="8595360" cy="292608"/>
          </a:xfrm>
          <a:prstGeom prst="rect">
            <a:avLst/>
          </a:prstGeom>
          <a:solidFill>
            <a:srgbClr val="0077B6"/>
          </a:solidFill>
          <a:ln w="12700">
            <a:solidFill>
              <a:srgbClr val="0077B6"/>
            </a:solidFill>
            <a:prstDash val="solid"/>
          </a:ln>
        </p:spPr>
        <p:txBody>
          <a:bodyPr anchor="ctr"/>
          <a:p>
            <a:pPr algn="ctr">
              <a:defRPr/>
            </a:pPr>
            <a:endParaRPr sz="2000"/>
          </a:p>
        </p:txBody>
      </p:sp>
      <p:sp>
        <p:nvSpPr>
          <p:cNvPr id="1555248659" name="Text 34"/>
          <p:cNvSpPr/>
          <p:nvPr/>
        </p:nvSpPr>
        <p:spPr bwMode="auto">
          <a:xfrm>
            <a:off x="342355" y="3145536"/>
            <a:ext cx="8138160" cy="256032"/>
          </a:xfrm>
          <a:prstGeom prst="rect">
            <a:avLst/>
          </a:prstGeom>
          <a:noFill/>
          <a:ln/>
        </p:spPr>
        <p:txBody>
          <a:bodyPr wrap="square" lIns="0" tIns="0" rIns="0" bIns="0" rtlCol="0" anchor="ctr"/>
          <a:lstStyle/>
          <a:p>
            <a:pPr marL="0" indent="0">
              <a:buNone/>
              <a:defRPr/>
            </a:pPr>
            <a:r>
              <a:rPr lang="en-US" sz="1200" b="1">
                <a:solidFill>
                  <a:srgbClr val="FFFFFF"/>
                </a:solidFill>
              </a:rPr>
              <a:t>Validation Results Summary</a:t>
            </a:r>
            <a:endParaRPr lang="en-US" sz="1200"/>
          </a:p>
        </p:txBody>
      </p:sp>
      <p:graphicFrame>
        <p:nvGraphicFramePr>
          <p:cNvPr id="1698733902" name="Table 0"/>
          <p:cNvGraphicFramePr>
            <a:graphicFrameLocks xmlns:a="http://schemas.openxmlformats.org/drawingml/2006/main" noGrp="1"/>
          </p:cNvGraphicFramePr>
          <p:nvPr/>
        </p:nvGraphicFramePr>
        <p:xfrm rot="0">
          <a:off x="274320" y="3419856"/>
          <a:ext cx="8595360" cy="1481328"/>
        </p:xfrm>
        <a:graphic>
          <a:graphicData uri="http://schemas.openxmlformats.org/drawingml/2006/table">
            <a:tbl>
              <a:tblPr firstRow="0" firstCol="0" lastRow="0" lastCol="0" bandRow="0" bandCol="0"/>
              <a:tblGrid>
                <a:gridCol w="2560320"/>
                <a:gridCol w="2743200"/>
                <a:gridCol w="2103120"/>
                <a:gridCol w="1188720"/>
              </a:tblGrid>
              <a:tr h="347472">
                <a:tc>
                  <a:txBody>
                    <a:bodyPr/>
                    <a:p>
                      <a:pPr marL="0" indent="0">
                        <a:buNone/>
                        <a:defRPr/>
                      </a:pPr>
                      <a:r>
                        <a:rPr lang="en-US" sz="1200" b="1">
                          <a:solidFill>
                            <a:srgbClr val="FFFFFF"/>
                          </a:solidFill>
                        </a:rPr>
                        <a:t>Test Category</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F2547"/>
                    </a:solidFill>
                  </a:tcPr>
                </a:tc>
                <a:tc>
                  <a:txBody>
                    <a:bodyPr/>
                    <a:p>
                      <a:pPr marL="0" indent="0">
                        <a:buNone/>
                        <a:defRPr/>
                      </a:pPr>
                      <a:r>
                        <a:rPr lang="en-US" sz="1200" b="1">
                          <a:solidFill>
                            <a:srgbClr val="FFFFFF"/>
                          </a:solidFill>
                        </a:rPr>
                        <a:t>Metric</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F2547"/>
                    </a:solidFill>
                  </a:tcPr>
                </a:tc>
                <a:tc>
                  <a:txBody>
                    <a:bodyPr/>
                    <a:p>
                      <a:pPr marL="0" indent="0">
                        <a:buNone/>
                        <a:defRPr/>
                      </a:pPr>
                      <a:r>
                        <a:rPr lang="en-US" sz="1200" b="1">
                          <a:solidFill>
                            <a:srgbClr val="FFFFFF"/>
                          </a:solidFill>
                        </a:rPr>
                        <a:t>Result</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F2547"/>
                    </a:solidFill>
                  </a:tcPr>
                </a:tc>
                <a:tc>
                  <a:txBody>
                    <a:bodyPr/>
                    <a:p>
                      <a:pPr marL="0" indent="0">
                        <a:buNone/>
                        <a:defRPr/>
                      </a:pPr>
                      <a:r>
                        <a:rPr lang="en-US" sz="1200" b="1">
                          <a:solidFill>
                            <a:srgbClr val="FFFFFF"/>
                          </a:solidFill>
                        </a:rPr>
                        <a:t>Status</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F2547"/>
                    </a:solidFill>
                  </a:tcPr>
                </a:tc>
              </a:tr>
              <a:tr h="347472">
                <a:tc>
                  <a:txBody>
                    <a:bodyPr/>
                    <a:p>
                      <a:pPr marL="0" indent="0">
                        <a:buNone/>
                        <a:defRPr/>
                      </a:pPr>
                      <a:r>
                        <a:rPr lang="en-US" sz="1200">
                          <a:solidFill>
                            <a:srgbClr val="B8C8DC"/>
                          </a:solidFill>
                        </a:rPr>
                        <a:t>Grid Mission Generation</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buNone/>
                        <a:defRPr/>
                      </a:pPr>
                      <a:r>
                        <a:rPr lang="en-US" sz="1200">
                          <a:solidFill>
                            <a:srgbClr val="B8C8DC"/>
                          </a:solidFill>
                        </a:rPr>
                        <a:t>Correct waypoint count</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buNone/>
                        <a:defRPr/>
                      </a:pPr>
                      <a:r>
                        <a:rPr lang="en-US" sz="1200" b="1">
                          <a:solidFill>
                            <a:srgbClr val="06D6A0"/>
                          </a:solidFill>
                        </a:rPr>
                        <a:t>100% (20/20 tests)</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buNone/>
                        <a:defRPr/>
                      </a:pPr>
                      <a:r>
                        <a:rPr lang="en-US" sz="1200" b="1">
                          <a:solidFill>
                            <a:srgbClr val="06D6A0"/>
                          </a:solidFill>
                        </a:rPr>
                        <a:t>✓ PASS</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r>
              <a:tr h="347472">
                <a:tc>
                  <a:txBody>
                    <a:bodyPr/>
                    <a:p>
                      <a:pPr marL="0" indent="0">
                        <a:buNone/>
                        <a:defRPr/>
                      </a:pPr>
                      <a:r>
                        <a:rPr lang="en-US" sz="1200">
                          <a:solidFill>
                            <a:srgbClr val="B8C8DC"/>
                          </a:solidFill>
                        </a:rPr>
                        <a:t>MAVLink Upload</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1B35"/>
                    </a:solidFill>
                  </a:tcPr>
                </a:tc>
                <a:tc>
                  <a:txBody>
                    <a:bodyPr/>
                    <a:p>
                      <a:pPr marL="0" indent="0">
                        <a:buNone/>
                        <a:defRPr/>
                      </a:pPr>
                      <a:r>
                        <a:rPr lang="en-US" sz="1200">
                          <a:solidFill>
                            <a:srgbClr val="B8C8DC"/>
                          </a:solidFill>
                        </a:rPr>
                        <a:t>Successful mission ACK</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1B35"/>
                    </a:solidFill>
                  </a:tcPr>
                </a:tc>
                <a:tc>
                  <a:txBody>
                    <a:bodyPr/>
                    <a:p>
                      <a:pPr marL="0" indent="0">
                        <a:buNone/>
                        <a:defRPr/>
                      </a:pPr>
                      <a:r>
                        <a:rPr lang="en-US" sz="1200" b="1">
                          <a:solidFill>
                            <a:srgbClr val="06D6A0"/>
                          </a:solidFill>
                        </a:rPr>
                        <a:t>95% SITL (18/19 tests)</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1B35"/>
                    </a:solidFill>
                  </a:tcPr>
                </a:tc>
                <a:tc>
                  <a:txBody>
                    <a:bodyPr/>
                    <a:p>
                      <a:pPr marL="0" indent="0">
                        <a:buNone/>
                        <a:defRPr/>
                      </a:pPr>
                      <a:r>
                        <a:rPr lang="en-US" sz="1200" b="1">
                          <a:solidFill>
                            <a:srgbClr val="06D6A0"/>
                          </a:solidFill>
                        </a:rPr>
                        <a:t>✓ PASS</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1B35"/>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rgbClr val="0A1628"/>
        </a:solidFill>
      </p:bgPr>
    </p:bg>
    <p:spTree>
      <p:nvGrpSpPr>
        <p:cNvPr id="1" name=""/>
        <p:cNvGrpSpPr/>
        <p:nvPr/>
      </p:nvGrpSpPr>
      <p:grpSpPr bwMode="auto">
        <a:xfrm>
          <a:off x="0" y="0"/>
          <a:ext cx="0" cy="0"/>
          <a:chOff x="0" y="0"/>
          <a:chExt cx="0" cy="0"/>
        </a:xfrm>
      </p:grpSpPr>
      <p:sp>
        <p:nvSpPr>
          <p:cNvPr id="1093094417" name="Shape 0"/>
          <p:cNvSpPr/>
          <p:nvPr/>
        </p:nvSpPr>
        <p:spPr bwMode="auto">
          <a:xfrm>
            <a:off x="0" y="0"/>
            <a:ext cx="9144000" cy="73152"/>
          </a:xfrm>
          <a:prstGeom prst="rect">
            <a:avLst/>
          </a:prstGeom>
          <a:solidFill>
            <a:srgbClr val="00B4D8"/>
          </a:solidFill>
          <a:ln w="12700">
            <a:solidFill>
              <a:srgbClr val="00B4D8"/>
            </a:solidFill>
            <a:prstDash val="solid"/>
          </a:ln>
        </p:spPr>
      </p:sp>
      <p:sp>
        <p:nvSpPr>
          <p:cNvPr id="410023285" name="Text 1"/>
          <p:cNvSpPr/>
          <p:nvPr/>
        </p:nvSpPr>
        <p:spPr bwMode="auto">
          <a:xfrm>
            <a:off x="365760" y="137160"/>
            <a:ext cx="8229600" cy="411480"/>
          </a:xfrm>
          <a:prstGeom prst="rect">
            <a:avLst/>
          </a:prstGeom>
          <a:noFill/>
          <a:ln/>
        </p:spPr>
        <p:txBody>
          <a:bodyPr wrap="square" lIns="0" tIns="0" rIns="0" bIns="0" rtlCol="0" anchor="ctr"/>
          <a:lstStyle/>
          <a:p>
            <a:pPr marL="0" indent="0">
              <a:buNone/>
              <a:defRPr/>
            </a:pPr>
            <a:r>
              <a:rPr lang="en-US" sz="2200" b="1">
                <a:solidFill>
                  <a:srgbClr val="FFFFFF"/>
                </a:solidFill>
              </a:rPr>
              <a:t>Comparison with Existing Approaches</a:t>
            </a:r>
            <a:endParaRPr lang="en-US" sz="2200"/>
          </a:p>
        </p:txBody>
      </p:sp>
      <p:graphicFrame>
        <p:nvGraphicFramePr>
          <p:cNvPr id="959904443" name="Table 0"/>
          <p:cNvGraphicFramePr>
            <a:graphicFrameLocks xmlns:a="http://schemas.openxmlformats.org/drawingml/2006/main" noGrp="1"/>
          </p:cNvGraphicFramePr>
          <p:nvPr/>
        </p:nvGraphicFramePr>
        <p:xfrm rot="0">
          <a:off x="179069" y="712796"/>
          <a:ext cx="8915400" cy="2423160"/>
        </p:xfrm>
        <a:graphic>
          <a:graphicData uri="http://schemas.openxmlformats.org/drawingml/2006/table">
            <a:tbl>
              <a:tblPr firstRow="0" firstCol="0" lastRow="0" lastCol="0" bandRow="0" bandCol="0"/>
              <a:tblGrid>
                <a:gridCol w="2103120"/>
                <a:gridCol w="1097280"/>
                <a:gridCol w="1097280"/>
                <a:gridCol w="1097280"/>
                <a:gridCol w="1097280"/>
                <a:gridCol w="1188720"/>
                <a:gridCol w="1234440"/>
              </a:tblGrid>
              <a:tr h="484632">
                <a:tc>
                  <a:txBody>
                    <a:bodyPr/>
                    <a:p>
                      <a:pPr marL="0" indent="0" algn="ctr">
                        <a:buNone/>
                        <a:defRPr/>
                      </a:pPr>
                      <a:r>
                        <a:rPr lang="en-US" sz="1200" b="1">
                          <a:solidFill>
                            <a:srgbClr val="FFFFFF"/>
                          </a:solidFill>
                        </a:rPr>
                        <a:t>System</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2A5E"/>
                    </a:solidFill>
                  </a:tcPr>
                </a:tc>
                <a:tc>
                  <a:txBody>
                    <a:bodyPr/>
                    <a:p>
                      <a:pPr marL="0" indent="0" algn="ctr">
                        <a:buNone/>
                        <a:defRPr/>
                      </a:pPr>
                      <a:r>
                        <a:rPr lang="en-US" sz="1200" b="1">
                          <a:solidFill>
                            <a:srgbClr val="FFFFFF"/>
                          </a:solidFill>
                        </a:rPr>
                        <a:t>NL Interface</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2A5E"/>
                    </a:solidFill>
                  </a:tcPr>
                </a:tc>
                <a:tc>
                  <a:txBody>
                    <a:bodyPr/>
                    <a:p>
                      <a:pPr marL="0" indent="0" algn="ctr">
                        <a:buNone/>
                        <a:defRPr/>
                      </a:pPr>
                      <a:r>
                        <a:rPr lang="en-US" sz="1200" b="1">
                          <a:solidFill>
                            <a:srgbClr val="FFFFFF"/>
                          </a:solidFill>
                        </a:rPr>
                        <a:t>Local LLM</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2A5E"/>
                    </a:solidFill>
                  </a:tcPr>
                </a:tc>
                <a:tc>
                  <a:txBody>
                    <a:bodyPr/>
                    <a:p>
                      <a:pPr marL="0" indent="0" algn="ctr">
                        <a:buNone/>
                        <a:defRPr/>
                      </a:pPr>
                      <a:r>
                        <a:rPr lang="en-US" sz="1200" b="1">
                          <a:solidFill>
                            <a:srgbClr val="FFFFFF"/>
                          </a:solidFill>
                        </a:rPr>
                        <a:t>Offline Op.</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2A5E"/>
                    </a:solidFill>
                  </a:tcPr>
                </a:tc>
                <a:tc>
                  <a:txBody>
                    <a:bodyPr/>
                    <a:p>
                      <a:pPr marL="0" indent="0" algn="ctr">
                        <a:buNone/>
                        <a:defRPr/>
                      </a:pPr>
                      <a:r>
                        <a:rPr lang="en-US" sz="1200" b="1">
                          <a:solidFill>
                            <a:srgbClr val="FFFFFF"/>
                          </a:solidFill>
                        </a:rPr>
                        <a:t>MAVLink Upload</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2A5E"/>
                    </a:solidFill>
                  </a:tcPr>
                </a:tc>
                <a:tc>
                  <a:txBody>
                    <a:bodyPr/>
                    <a:p>
                      <a:pPr marL="0" indent="0" algn="ctr">
                        <a:buNone/>
                        <a:defRPr/>
                      </a:pPr>
                      <a:r>
                        <a:rPr lang="en-US" sz="1200" b="1">
                          <a:solidFill>
                            <a:srgbClr val="FFFFFF"/>
                          </a:solidFill>
                        </a:rPr>
                        <a:t>Real Flights</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2A5E"/>
                    </a:solidFill>
                  </a:tcPr>
                </a:tc>
                <a:tc>
                  <a:txBody>
                    <a:bodyPr/>
                    <a:p>
                      <a:pPr marL="0" indent="0" algn="ctr">
                        <a:buNone/>
                        <a:defRPr/>
                      </a:pPr>
                      <a:r>
                        <a:rPr lang="en-US" sz="1200" b="1">
                          <a:solidFill>
                            <a:srgbClr val="FFFFFF"/>
                          </a:solidFill>
                        </a:rPr>
                        <a:t>Struct. Schema</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2A5E"/>
                    </a:solidFill>
                  </a:tcPr>
                </a:tc>
              </a:tr>
              <a:tr h="484632">
                <a:tc>
                  <a:txBody>
                    <a:bodyPr/>
                    <a:p>
                      <a:pPr marL="0" indent="0" algn="l">
                        <a:buNone/>
                        <a:defRPr/>
                      </a:pPr>
                      <a:r>
                        <a:rPr lang="en-US" sz="1200">
                          <a:solidFill>
                            <a:srgbClr val="B8C8DC"/>
                          </a:solidFill>
                        </a:rPr>
                        <a:t>Chandarana et al. (2021)</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600">
                          <a:solidFill>
                            <a:srgbClr val="06D6A0"/>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600">
                          <a:solidFill>
                            <a:srgbClr val="EF476F"/>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600">
                          <a:solidFill>
                            <a:srgbClr val="EF476F"/>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600">
                          <a:solidFill>
                            <a:srgbClr val="EF476F"/>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600">
                          <a:solidFill>
                            <a:srgbClr val="EF476F"/>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600">
                          <a:solidFill>
                            <a:srgbClr val="FFB703"/>
                          </a:solidFill>
                        </a:rPr>
                        <a:t>Partial</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r>
              <a:tr h="484632">
                <a:tc>
                  <a:txBody>
                    <a:bodyPr/>
                    <a:p>
                      <a:pPr marL="0" indent="0" algn="l">
                        <a:buNone/>
                        <a:defRPr/>
                      </a:pPr>
                      <a:r>
                        <a:rPr lang="en-US" sz="1200">
                          <a:solidFill>
                            <a:srgbClr val="B8C8DC"/>
                          </a:solidFill>
                        </a:rPr>
                        <a:t>LLM-UAV (GPT-4)</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1B35"/>
                    </a:solidFill>
                  </a:tcPr>
                </a:tc>
                <a:tc>
                  <a:txBody>
                    <a:bodyPr/>
                    <a:p>
                      <a:pPr marL="0" indent="0" algn="ctr">
                        <a:buNone/>
                        <a:defRPr/>
                      </a:pPr>
                      <a:r>
                        <a:rPr lang="en-US" sz="1600">
                          <a:solidFill>
                            <a:srgbClr val="06D6A0"/>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1B35"/>
                    </a:solidFill>
                  </a:tcPr>
                </a:tc>
                <a:tc>
                  <a:txBody>
                    <a:bodyPr/>
                    <a:p>
                      <a:pPr marL="0" indent="0" algn="ctr">
                        <a:buNone/>
                        <a:defRPr/>
                      </a:pPr>
                      <a:r>
                        <a:rPr lang="en-US" sz="1600">
                          <a:solidFill>
                            <a:srgbClr val="EF476F"/>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1B35"/>
                    </a:solidFill>
                  </a:tcPr>
                </a:tc>
                <a:tc>
                  <a:txBody>
                    <a:bodyPr/>
                    <a:p>
                      <a:pPr marL="0" indent="0" algn="ctr">
                        <a:buNone/>
                        <a:defRPr/>
                      </a:pPr>
                      <a:r>
                        <a:rPr lang="en-US" sz="1600">
                          <a:solidFill>
                            <a:srgbClr val="EF476F"/>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1B35"/>
                    </a:solidFill>
                  </a:tcPr>
                </a:tc>
                <a:tc>
                  <a:txBody>
                    <a:bodyPr/>
                    <a:p>
                      <a:pPr marL="0" indent="0" algn="ctr">
                        <a:buNone/>
                        <a:defRPr/>
                      </a:pPr>
                      <a:r>
                        <a:rPr lang="en-US" sz="1600">
                          <a:solidFill>
                            <a:srgbClr val="FFB703"/>
                          </a:solidFill>
                        </a:rPr>
                        <a:t>Partial</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1B35"/>
                    </a:solidFill>
                  </a:tcPr>
                </a:tc>
                <a:tc>
                  <a:txBody>
                    <a:bodyPr/>
                    <a:p>
                      <a:pPr marL="0" indent="0" algn="ctr">
                        <a:buNone/>
                        <a:defRPr/>
                      </a:pPr>
                      <a:r>
                        <a:rPr lang="en-US" sz="1600">
                          <a:solidFill>
                            <a:srgbClr val="EF476F"/>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1B35"/>
                    </a:solidFill>
                  </a:tcPr>
                </a:tc>
                <a:tc>
                  <a:txBody>
                    <a:bodyPr/>
                    <a:p>
                      <a:pPr marL="0" indent="0" algn="ctr">
                        <a:buNone/>
                        <a:defRPr/>
                      </a:pPr>
                      <a:r>
                        <a:rPr lang="en-US" sz="1600">
                          <a:solidFill>
                            <a:srgbClr val="EF476F"/>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1B35"/>
                    </a:solidFill>
                  </a:tcPr>
                </a:tc>
              </a:tr>
              <a:tr h="484632">
                <a:tc>
                  <a:txBody>
                    <a:bodyPr/>
                    <a:p>
                      <a:pPr marL="0" indent="0" algn="l">
                        <a:buNone/>
                        <a:defRPr/>
                      </a:pPr>
                      <a:r>
                        <a:rPr lang="en-US" sz="1200">
                          <a:solidFill>
                            <a:srgbClr val="B8C8DC"/>
                          </a:solidFill>
                        </a:rPr>
                        <a:t>Mission Planner (QGC)</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600">
                          <a:solidFill>
                            <a:srgbClr val="EF476F"/>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600">
                          <a:solidFill>
                            <a:srgbClr val="B8C8DC"/>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600">
                          <a:solidFill>
                            <a:srgbClr val="06D6A0"/>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600">
                          <a:solidFill>
                            <a:srgbClr val="06D6A0"/>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600">
                          <a:solidFill>
                            <a:srgbClr val="06D6A0"/>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c>
                  <a:txBody>
                    <a:bodyPr/>
                    <a:p>
                      <a:pPr marL="0" indent="0" algn="ctr">
                        <a:buNone/>
                        <a:defRPr/>
                      </a:pPr>
                      <a:r>
                        <a:rPr lang="en-US" sz="1600">
                          <a:solidFill>
                            <a:srgbClr val="EF476F"/>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112240"/>
                    </a:solidFill>
                  </a:tcPr>
                </a:tc>
              </a:tr>
              <a:tr h="484632">
                <a:tc>
                  <a:txBody>
                    <a:bodyPr/>
                    <a:p>
                      <a:pPr marL="0" indent="0" algn="l">
                        <a:buNone/>
                        <a:defRPr/>
                      </a:pPr>
                      <a:r>
                        <a:rPr lang="en-US" sz="1200" b="1">
                          <a:solidFill>
                            <a:srgbClr val="B8C8DC"/>
                          </a:solidFill>
                        </a:rPr>
                        <a:t>PRANAVA (Ours) ★</a:t>
                      </a:r>
                      <a:endParaRPr lang="en-US" sz="12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2A5E"/>
                    </a:solidFill>
                  </a:tcPr>
                </a:tc>
                <a:tc>
                  <a:txBody>
                    <a:bodyPr/>
                    <a:p>
                      <a:pPr marL="0" indent="0" algn="ctr">
                        <a:buNone/>
                        <a:defRPr/>
                      </a:pPr>
                      <a:r>
                        <a:rPr lang="en-US" sz="1600" b="1">
                          <a:solidFill>
                            <a:srgbClr val="06D6A0"/>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2A5E"/>
                    </a:solidFill>
                  </a:tcPr>
                </a:tc>
                <a:tc>
                  <a:txBody>
                    <a:bodyPr/>
                    <a:p>
                      <a:pPr marL="0" indent="0" algn="ctr">
                        <a:buNone/>
                        <a:defRPr/>
                      </a:pPr>
                      <a:r>
                        <a:rPr lang="en-US" sz="1600" b="1">
                          <a:solidFill>
                            <a:srgbClr val="06D6A0"/>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2A5E"/>
                    </a:solidFill>
                  </a:tcPr>
                </a:tc>
                <a:tc>
                  <a:txBody>
                    <a:bodyPr/>
                    <a:p>
                      <a:pPr marL="0" indent="0" algn="ctr">
                        <a:buNone/>
                        <a:defRPr/>
                      </a:pPr>
                      <a:r>
                        <a:rPr lang="en-US" sz="1600" b="1">
                          <a:solidFill>
                            <a:srgbClr val="06D6A0"/>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2A5E"/>
                    </a:solidFill>
                  </a:tcPr>
                </a:tc>
                <a:tc>
                  <a:txBody>
                    <a:bodyPr/>
                    <a:p>
                      <a:pPr marL="0" indent="0" algn="ctr">
                        <a:buNone/>
                        <a:defRPr/>
                      </a:pPr>
                      <a:r>
                        <a:rPr lang="en-US" sz="1600" b="1">
                          <a:solidFill>
                            <a:srgbClr val="06D6A0"/>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2A5E"/>
                    </a:solidFill>
                  </a:tcPr>
                </a:tc>
                <a:tc>
                  <a:txBody>
                    <a:bodyPr/>
                    <a:p>
                      <a:pPr marL="0" indent="0" algn="ctr">
                        <a:buNone/>
                        <a:defRPr/>
                      </a:pPr>
                      <a:r>
                        <a:rPr lang="en-US" sz="1600" b="1">
                          <a:solidFill>
                            <a:srgbClr val="06D6A0"/>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2A5E"/>
                    </a:solidFill>
                  </a:tcPr>
                </a:tc>
                <a:tc>
                  <a:txBody>
                    <a:bodyPr/>
                    <a:p>
                      <a:pPr marL="0" indent="0" algn="ctr">
                        <a:buNone/>
                        <a:defRPr/>
                      </a:pPr>
                      <a:r>
                        <a:rPr lang="en-US" sz="1600" b="1">
                          <a:solidFill>
                            <a:srgbClr val="06D6A0"/>
                          </a:solidFill>
                        </a:rPr>
                        <a:t>✓</a:t>
                      </a:r>
                      <a:endParaRPr lang="en-US" sz="1600"/>
                    </a:p>
                  </a:txBody>
                  <a:tcPr marL="91440" marR="91440" marT="45720" marB="45720">
                    <a:lnL w="6350" algn="ctr">
                      <a:solidFill>
                        <a:srgbClr val="0077B6"/>
                      </a:solidFill>
                    </a:lnL>
                    <a:lnR w="6350" algn="ctr">
                      <a:solidFill>
                        <a:srgbClr val="0077B6"/>
                      </a:solidFill>
                    </a:lnR>
                    <a:lnT w="6350" algn="ctr">
                      <a:solidFill>
                        <a:srgbClr val="0077B6"/>
                      </a:solidFill>
                    </a:lnT>
                    <a:lnB w="6350" algn="ctr">
                      <a:solidFill>
                        <a:srgbClr val="0077B6"/>
                      </a:solidFill>
                    </a:lnB>
                    <a:solidFill>
                      <a:srgbClr val="0D2A5E"/>
                    </a:solidFill>
                  </a:tcPr>
                </a:tc>
              </a:tr>
            </a:tbl>
          </a:graphicData>
        </a:graphic>
      </p:graphicFrame>
      <p:sp>
        <p:nvSpPr>
          <p:cNvPr id="441943939" name="Text 2"/>
          <p:cNvSpPr/>
          <p:nvPr/>
        </p:nvSpPr>
        <p:spPr bwMode="auto">
          <a:xfrm>
            <a:off x="274320" y="3447288"/>
            <a:ext cx="8595360" cy="256032"/>
          </a:xfrm>
          <a:prstGeom prst="rect">
            <a:avLst/>
          </a:prstGeom>
          <a:noFill/>
          <a:ln/>
        </p:spPr>
        <p:txBody>
          <a:bodyPr wrap="square" lIns="0" tIns="0" rIns="0" bIns="0" rtlCol="0" anchor="ctr"/>
          <a:lstStyle/>
          <a:p>
            <a:pPr marL="0" indent="0">
              <a:buNone/>
              <a:defRPr/>
            </a:pPr>
            <a:r>
              <a:rPr lang="en-US" sz="1400" b="1">
                <a:solidFill>
                  <a:srgbClr val="00B4D8"/>
                </a:solidFill>
              </a:rPr>
              <a:t>PRANAVA's Unique Contributions:</a:t>
            </a:r>
            <a:endParaRPr lang="en-US" sz="1400"/>
          </a:p>
        </p:txBody>
      </p:sp>
      <p:sp>
        <p:nvSpPr>
          <p:cNvPr id="537217125" name="Shape 3"/>
          <p:cNvSpPr/>
          <p:nvPr/>
        </p:nvSpPr>
        <p:spPr bwMode="auto">
          <a:xfrm>
            <a:off x="256031" y="3837540"/>
            <a:ext cx="2743200" cy="868680"/>
          </a:xfrm>
          <a:prstGeom prst="rect">
            <a:avLst/>
          </a:prstGeom>
          <a:solidFill>
            <a:srgbClr val="112240"/>
          </a:solidFill>
          <a:ln w="19050">
            <a:solidFill>
              <a:srgbClr val="06D6A0"/>
            </a:solidFill>
            <a:prstDash val="solid"/>
          </a:ln>
        </p:spPr>
      </p:sp>
      <p:sp>
        <p:nvSpPr>
          <p:cNvPr id="586247859" name="Text 4"/>
          <p:cNvSpPr/>
          <p:nvPr/>
        </p:nvSpPr>
        <p:spPr bwMode="auto">
          <a:xfrm>
            <a:off x="365759" y="3910692"/>
            <a:ext cx="2523744" cy="722376"/>
          </a:xfrm>
          <a:prstGeom prst="rect">
            <a:avLst/>
          </a:prstGeom>
          <a:noFill/>
          <a:ln/>
        </p:spPr>
        <p:txBody>
          <a:bodyPr wrap="square" lIns="0" tIns="0" rIns="0" bIns="0" rtlCol="0" anchor="ctr"/>
          <a:lstStyle/>
          <a:p>
            <a:pPr marL="0" indent="0">
              <a:buNone/>
              <a:defRPr/>
            </a:pPr>
            <a:r>
              <a:rPr lang="en-US" sz="1200">
                <a:solidFill>
                  <a:srgbClr val="B8C8DC"/>
                </a:solidFill>
              </a:rPr>
              <a:t>System with Local LLM + MAVLink in one integrated pipeline</a:t>
            </a:r>
            <a:endParaRPr lang="en-US" sz="1200"/>
          </a:p>
        </p:txBody>
      </p:sp>
      <p:sp>
        <p:nvSpPr>
          <p:cNvPr id="822940632" name="Shape 5"/>
          <p:cNvSpPr/>
          <p:nvPr/>
        </p:nvSpPr>
        <p:spPr bwMode="auto">
          <a:xfrm>
            <a:off x="3163823" y="3837540"/>
            <a:ext cx="2743200" cy="868680"/>
          </a:xfrm>
          <a:prstGeom prst="rect">
            <a:avLst/>
          </a:prstGeom>
          <a:solidFill>
            <a:srgbClr val="112240"/>
          </a:solidFill>
          <a:ln w="19050">
            <a:solidFill>
              <a:srgbClr val="FFB703"/>
            </a:solidFill>
            <a:prstDash val="solid"/>
          </a:ln>
        </p:spPr>
      </p:sp>
      <p:sp>
        <p:nvSpPr>
          <p:cNvPr id="12002876" name="Text 6"/>
          <p:cNvSpPr/>
          <p:nvPr/>
        </p:nvSpPr>
        <p:spPr bwMode="auto">
          <a:xfrm>
            <a:off x="3273551" y="3910692"/>
            <a:ext cx="2523744" cy="722376"/>
          </a:xfrm>
          <a:prstGeom prst="rect">
            <a:avLst/>
          </a:prstGeom>
          <a:noFill/>
          <a:ln/>
        </p:spPr>
        <p:txBody>
          <a:bodyPr wrap="square" lIns="0" tIns="0" rIns="0" bIns="0" rtlCol="0" anchor="ctr"/>
          <a:lstStyle/>
          <a:p>
            <a:pPr marL="0" indent="0">
              <a:buNone/>
              <a:defRPr/>
            </a:pPr>
            <a:r>
              <a:rPr lang="en-US" sz="1200">
                <a:solidFill>
                  <a:srgbClr val="B8C8DC"/>
                </a:solidFill>
              </a:rPr>
              <a:t>Validated on real Pixhawk hardware with autonomous flights</a:t>
            </a:r>
            <a:endParaRPr lang="en-US" sz="1200"/>
          </a:p>
        </p:txBody>
      </p:sp>
      <p:sp>
        <p:nvSpPr>
          <p:cNvPr id="840698655" name="Shape 7"/>
          <p:cNvSpPr/>
          <p:nvPr/>
        </p:nvSpPr>
        <p:spPr bwMode="auto">
          <a:xfrm>
            <a:off x="6071615" y="3837540"/>
            <a:ext cx="2743200" cy="868680"/>
          </a:xfrm>
          <a:prstGeom prst="rect">
            <a:avLst/>
          </a:prstGeom>
          <a:solidFill>
            <a:srgbClr val="112240"/>
          </a:solidFill>
          <a:ln w="19050">
            <a:solidFill>
              <a:srgbClr val="00B4D8"/>
            </a:solidFill>
            <a:prstDash val="solid"/>
          </a:ln>
        </p:spPr>
      </p:sp>
      <p:sp>
        <p:nvSpPr>
          <p:cNvPr id="678821805" name="Text 8"/>
          <p:cNvSpPr/>
          <p:nvPr/>
        </p:nvSpPr>
        <p:spPr bwMode="auto">
          <a:xfrm>
            <a:off x="6181343" y="3910692"/>
            <a:ext cx="2523744" cy="722376"/>
          </a:xfrm>
          <a:prstGeom prst="rect">
            <a:avLst/>
          </a:prstGeom>
          <a:noFill/>
          <a:ln/>
        </p:spPr>
        <p:txBody>
          <a:bodyPr wrap="square" lIns="0" tIns="0" rIns="0" bIns="0" rtlCol="0" anchor="ctr"/>
          <a:lstStyle/>
          <a:p>
            <a:pPr marL="0" indent="0">
              <a:buNone/>
              <a:defRPr/>
            </a:pPr>
            <a:r>
              <a:rPr lang="en-US" sz="1200">
                <a:solidFill>
                  <a:srgbClr val="B8C8DC"/>
                </a:solidFill>
              </a:rPr>
              <a:t>Introduces deterministic JSON schema eliminating LLM hallucination in mission params</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bg>
      <p:bgPr shadeToTitle="0">
        <a:solidFill>
          <a:srgbClr val="0A1628"/>
        </a:solidFill>
      </p:bgPr>
    </p:bg>
    <p:spTree>
      <p:nvGrpSpPr>
        <p:cNvPr id="1" name=""/>
        <p:cNvGrpSpPr/>
        <p:nvPr/>
      </p:nvGrpSpPr>
      <p:grpSpPr bwMode="auto">
        <a:xfrm>
          <a:off x="0" y="0"/>
          <a:ext cx="0" cy="0"/>
          <a:chOff x="0" y="0"/>
          <a:chExt cx="0" cy="0"/>
        </a:xfrm>
      </p:grpSpPr>
      <p:sp>
        <p:nvSpPr>
          <p:cNvPr id="1122448962" name="Shape 0"/>
          <p:cNvSpPr/>
          <p:nvPr/>
        </p:nvSpPr>
        <p:spPr bwMode="auto">
          <a:xfrm>
            <a:off x="0" y="0"/>
            <a:ext cx="9144000" cy="73152"/>
          </a:xfrm>
          <a:prstGeom prst="rect">
            <a:avLst/>
          </a:prstGeom>
          <a:solidFill>
            <a:srgbClr val="00B4D8"/>
          </a:solidFill>
          <a:ln w="12700">
            <a:solidFill>
              <a:srgbClr val="00B4D8"/>
            </a:solidFill>
            <a:prstDash val="solid"/>
          </a:ln>
        </p:spPr>
      </p:sp>
      <p:sp>
        <p:nvSpPr>
          <p:cNvPr id="1244563756" name="Text 1"/>
          <p:cNvSpPr/>
          <p:nvPr/>
        </p:nvSpPr>
        <p:spPr bwMode="auto">
          <a:xfrm>
            <a:off x="365760" y="137160"/>
            <a:ext cx="8229600" cy="411480"/>
          </a:xfrm>
          <a:prstGeom prst="rect">
            <a:avLst/>
          </a:prstGeom>
          <a:noFill/>
          <a:ln/>
        </p:spPr>
        <p:txBody>
          <a:bodyPr wrap="square" lIns="0" tIns="0" rIns="0" bIns="0" rtlCol="0" anchor="ctr"/>
          <a:lstStyle/>
          <a:p>
            <a:pPr marL="0" indent="0">
              <a:buNone/>
              <a:defRPr/>
            </a:pPr>
            <a:r>
              <a:rPr lang="en-US" sz="2400" b="1">
                <a:solidFill>
                  <a:srgbClr val="FFFFFF"/>
                </a:solidFill>
              </a:rPr>
              <a:t>Results &amp; Performance Metrics</a:t>
            </a:r>
            <a:endParaRPr lang="en-US" sz="2400"/>
          </a:p>
        </p:txBody>
      </p:sp>
      <p:sp>
        <p:nvSpPr>
          <p:cNvPr id="1089522615" name="Shape 2"/>
          <p:cNvSpPr/>
          <p:nvPr/>
        </p:nvSpPr>
        <p:spPr bwMode="auto">
          <a:xfrm>
            <a:off x="2514600" y="658368"/>
            <a:ext cx="1965960" cy="1600200"/>
          </a:xfrm>
          <a:prstGeom prst="rect">
            <a:avLst/>
          </a:prstGeom>
          <a:solidFill>
            <a:srgbClr val="112240"/>
          </a:solidFill>
          <a:ln w="19050">
            <a:solidFill>
              <a:srgbClr val="06D6A0"/>
            </a:solidFill>
            <a:prstDash val="solid"/>
          </a:ln>
        </p:spPr>
        <p:txBody>
          <a:bodyPr anchor="ctr"/>
          <a:p>
            <a:pPr algn="ctr">
              <a:defRPr/>
            </a:pPr>
            <a:endParaRPr/>
          </a:p>
        </p:txBody>
      </p:sp>
      <p:sp>
        <p:nvSpPr>
          <p:cNvPr id="538508770" name="Shape 3"/>
          <p:cNvSpPr/>
          <p:nvPr/>
        </p:nvSpPr>
        <p:spPr bwMode="auto">
          <a:xfrm>
            <a:off x="2514600" y="635508"/>
            <a:ext cx="1965960" cy="45720"/>
          </a:xfrm>
          <a:prstGeom prst="rect">
            <a:avLst/>
          </a:prstGeom>
          <a:solidFill>
            <a:srgbClr val="06D6A0"/>
          </a:solidFill>
          <a:ln w="12700">
            <a:solidFill>
              <a:srgbClr val="06D6A0"/>
            </a:solidFill>
            <a:prstDash val="solid"/>
          </a:ln>
        </p:spPr>
      </p:sp>
      <p:sp>
        <p:nvSpPr>
          <p:cNvPr id="2094845825" name="Text 4"/>
          <p:cNvSpPr/>
          <p:nvPr/>
        </p:nvSpPr>
        <p:spPr bwMode="auto">
          <a:xfrm>
            <a:off x="2606040" y="726948"/>
            <a:ext cx="1965960" cy="731520"/>
          </a:xfrm>
          <a:prstGeom prst="rect">
            <a:avLst/>
          </a:prstGeom>
          <a:noFill/>
          <a:ln/>
        </p:spPr>
        <p:txBody>
          <a:bodyPr wrap="square" lIns="0" tIns="0" rIns="0" bIns="0" rtlCol="0" anchor="ctr"/>
          <a:lstStyle/>
          <a:p>
            <a:pPr marL="0" indent="0" algn="ctr">
              <a:buNone/>
              <a:defRPr/>
            </a:pPr>
            <a:r>
              <a:rPr lang="en-US" sz="4400" b="1">
                <a:solidFill>
                  <a:srgbClr val="06D6A0"/>
                </a:solidFill>
              </a:rPr>
              <a:t>59%</a:t>
            </a:r>
            <a:endParaRPr lang="en-US" sz="4400"/>
          </a:p>
        </p:txBody>
      </p:sp>
      <p:sp>
        <p:nvSpPr>
          <p:cNvPr id="1781411856" name="Text 5"/>
          <p:cNvSpPr/>
          <p:nvPr/>
        </p:nvSpPr>
        <p:spPr bwMode="auto">
          <a:xfrm>
            <a:off x="2697480" y="1458468"/>
            <a:ext cx="1783080" cy="457200"/>
          </a:xfrm>
          <a:prstGeom prst="rect">
            <a:avLst/>
          </a:prstGeom>
          <a:noFill/>
          <a:ln/>
        </p:spPr>
        <p:txBody>
          <a:bodyPr wrap="square" lIns="0" tIns="0" rIns="0" bIns="0" rtlCol="0" anchor="ctr"/>
          <a:lstStyle/>
          <a:p>
            <a:pPr marL="0" indent="0" algn="ctr">
              <a:buNone/>
              <a:defRPr/>
            </a:pPr>
            <a:r>
              <a:rPr lang="en-US" sz="1000" b="1">
                <a:solidFill>
                  <a:srgbClr val="FFFFFF"/>
                </a:solidFill>
              </a:rPr>
              <a:t>Reduction in Mission</a:t>
            </a:r>
            <a:endParaRPr lang="en-US" sz="1000"/>
          </a:p>
          <a:p>
            <a:pPr marL="0" indent="0" algn="ctr">
              <a:buNone/>
              <a:defRPr/>
            </a:pPr>
            <a:r>
              <a:rPr lang="en-US" sz="1000" b="1">
                <a:solidFill>
                  <a:srgbClr val="FFFFFF"/>
                </a:solidFill>
              </a:rPr>
              <a:t>Planning Time</a:t>
            </a:r>
            <a:endParaRPr lang="en-US" sz="1000"/>
          </a:p>
        </p:txBody>
      </p:sp>
      <p:sp>
        <p:nvSpPr>
          <p:cNvPr id="894246283" name="Text 6"/>
          <p:cNvSpPr/>
          <p:nvPr/>
        </p:nvSpPr>
        <p:spPr bwMode="auto">
          <a:xfrm>
            <a:off x="2697480" y="1915668"/>
            <a:ext cx="1783080" cy="274320"/>
          </a:xfrm>
          <a:prstGeom prst="rect">
            <a:avLst/>
          </a:prstGeom>
          <a:noFill/>
          <a:ln/>
        </p:spPr>
        <p:txBody>
          <a:bodyPr wrap="square" lIns="0" tIns="0" rIns="0" bIns="0" rtlCol="0" anchor="ctr"/>
          <a:lstStyle/>
          <a:p>
            <a:pPr marL="0" indent="0" algn="ctr">
              <a:buNone/>
              <a:defRPr/>
            </a:pPr>
            <a:r>
              <a:rPr lang="en-US" sz="850">
                <a:solidFill>
                  <a:srgbClr val="B8C8DC"/>
                </a:solidFill>
              </a:rPr>
              <a:t>vs. manual QGC workflow</a:t>
            </a:r>
            <a:endParaRPr lang="en-US" sz="850"/>
          </a:p>
        </p:txBody>
      </p:sp>
      <p:sp>
        <p:nvSpPr>
          <p:cNvPr id="1405498551" name="Shape 7"/>
          <p:cNvSpPr/>
          <p:nvPr/>
        </p:nvSpPr>
        <p:spPr bwMode="auto">
          <a:xfrm>
            <a:off x="5988448" y="636051"/>
            <a:ext cx="1965960" cy="1600200"/>
          </a:xfrm>
          <a:prstGeom prst="rect">
            <a:avLst/>
          </a:prstGeom>
          <a:solidFill>
            <a:srgbClr val="112240"/>
          </a:solidFill>
          <a:ln w="19050">
            <a:solidFill>
              <a:srgbClr val="00B4D8"/>
            </a:solidFill>
            <a:prstDash val="solid"/>
          </a:ln>
        </p:spPr>
        <p:txBody>
          <a:bodyPr anchor="ctr"/>
          <a:p>
            <a:pPr algn="ctr">
              <a:defRPr/>
            </a:pPr>
            <a:endParaRPr/>
          </a:p>
        </p:txBody>
      </p:sp>
      <p:sp>
        <p:nvSpPr>
          <p:cNvPr id="316197057" name="Shape 8"/>
          <p:cNvSpPr/>
          <p:nvPr/>
        </p:nvSpPr>
        <p:spPr bwMode="auto">
          <a:xfrm>
            <a:off x="5978651" y="612648"/>
            <a:ext cx="1965960" cy="45720"/>
          </a:xfrm>
          <a:prstGeom prst="rect">
            <a:avLst/>
          </a:prstGeom>
          <a:solidFill>
            <a:srgbClr val="00B4D8"/>
          </a:solidFill>
          <a:ln w="12700">
            <a:solidFill>
              <a:srgbClr val="00B4D8"/>
            </a:solidFill>
            <a:prstDash val="solid"/>
          </a:ln>
        </p:spPr>
      </p:sp>
      <p:sp>
        <p:nvSpPr>
          <p:cNvPr id="271476934" name="Text 9"/>
          <p:cNvSpPr/>
          <p:nvPr/>
        </p:nvSpPr>
        <p:spPr bwMode="auto">
          <a:xfrm>
            <a:off x="5988448" y="726948"/>
            <a:ext cx="1965960" cy="731520"/>
          </a:xfrm>
          <a:prstGeom prst="rect">
            <a:avLst/>
          </a:prstGeom>
          <a:noFill/>
          <a:ln/>
        </p:spPr>
        <p:txBody>
          <a:bodyPr wrap="square" lIns="0" tIns="0" rIns="0" bIns="0" rtlCol="0" anchor="ctr"/>
          <a:lstStyle/>
          <a:p>
            <a:pPr marL="0" indent="0" algn="ctr">
              <a:buNone/>
              <a:defRPr/>
            </a:pPr>
            <a:r>
              <a:rPr lang="en-US" sz="4400" b="1">
                <a:solidFill>
                  <a:srgbClr val="00B4D8"/>
                </a:solidFill>
              </a:rPr>
              <a:t>95%</a:t>
            </a:r>
            <a:endParaRPr lang="en-US" sz="4400"/>
          </a:p>
        </p:txBody>
      </p:sp>
      <p:sp>
        <p:nvSpPr>
          <p:cNvPr id="610569348" name="Text 10"/>
          <p:cNvSpPr/>
          <p:nvPr/>
        </p:nvSpPr>
        <p:spPr bwMode="auto">
          <a:xfrm>
            <a:off x="6079888" y="1458468"/>
            <a:ext cx="1783080" cy="457200"/>
          </a:xfrm>
          <a:prstGeom prst="rect">
            <a:avLst/>
          </a:prstGeom>
          <a:noFill/>
          <a:ln/>
        </p:spPr>
        <p:txBody>
          <a:bodyPr wrap="square" lIns="0" tIns="0" rIns="0" bIns="0" rtlCol="0" anchor="ctr"/>
          <a:lstStyle/>
          <a:p>
            <a:pPr marL="0" indent="0" algn="ctr">
              <a:buNone/>
              <a:defRPr/>
            </a:pPr>
            <a:r>
              <a:rPr lang="en-US" sz="1000" b="1">
                <a:solidFill>
                  <a:srgbClr val="FFFFFF"/>
                </a:solidFill>
              </a:rPr>
              <a:t>MAVLink Mission</a:t>
            </a:r>
            <a:endParaRPr lang="en-US" sz="1000"/>
          </a:p>
          <a:p>
            <a:pPr marL="0" indent="0" algn="ctr">
              <a:buNone/>
              <a:defRPr/>
            </a:pPr>
            <a:r>
              <a:rPr lang="en-US" sz="1000" b="1">
                <a:solidFill>
                  <a:srgbClr val="FFFFFF"/>
                </a:solidFill>
              </a:rPr>
              <a:t>Upload Success</a:t>
            </a:r>
            <a:endParaRPr lang="en-US" sz="1000"/>
          </a:p>
        </p:txBody>
      </p:sp>
      <p:sp>
        <p:nvSpPr>
          <p:cNvPr id="1573004109" name="Text 11"/>
          <p:cNvSpPr/>
          <p:nvPr/>
        </p:nvSpPr>
        <p:spPr bwMode="auto">
          <a:xfrm>
            <a:off x="6079888" y="1915668"/>
            <a:ext cx="1783080" cy="274320"/>
          </a:xfrm>
          <a:prstGeom prst="rect">
            <a:avLst/>
          </a:prstGeom>
          <a:noFill/>
          <a:ln/>
        </p:spPr>
        <p:txBody>
          <a:bodyPr wrap="square" lIns="0" tIns="0" rIns="0" bIns="0" rtlCol="0" anchor="ctr"/>
          <a:lstStyle/>
          <a:p>
            <a:pPr marL="0" indent="0" algn="ctr">
              <a:buNone/>
              <a:defRPr/>
            </a:pPr>
            <a:r>
              <a:rPr lang="en-US" sz="850">
                <a:solidFill>
                  <a:srgbClr val="B8C8DC"/>
                </a:solidFill>
              </a:rPr>
              <a:t>SITL + Hardware tests</a:t>
            </a:r>
            <a:endParaRPr lang="en-US" sz="850"/>
          </a:p>
        </p:txBody>
      </p:sp>
      <p:graphicFrame>
        <p:nvGraphicFramePr>
          <p:cNvPr id="1474137720" name=""/>
          <p:cNvGraphicFramePr>
            <a:graphicFrameLocks xmlns:a="http://schemas.openxmlformats.org/drawingml/2006/main"/>
          </p:cNvGraphicFramePr>
          <p:nvPr/>
        </p:nvGraphicFramePr>
        <p:xfrm rot="0">
          <a:off x="274320" y="2468880"/>
          <a:ext cx="4114800" cy="2468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11395925" name="Chart 1" descr=""/>
          <p:cNvGraphicFramePr>
            <a:graphicFrameLocks xmlns:a="http://schemas.openxmlformats.org/drawingml/2006/main"/>
          </p:cNvGraphicFramePr>
          <p:nvPr/>
        </p:nvGraphicFramePr>
        <p:xfrm rot="0">
          <a:off x="4754880" y="2468880"/>
          <a:ext cx="4114800" cy="24688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Slide 15">
    <p:bg>
      <p:bgPr shadeToTitle="0">
        <a:solidFill>
          <a:srgbClr val="0A1628"/>
        </a:solidFill>
      </p:bgPr>
    </p:bg>
    <p:spTree>
      <p:nvGrpSpPr>
        <p:cNvPr id="1" name=""/>
        <p:cNvGrpSpPr/>
        <p:nvPr/>
      </p:nvGrpSpPr>
      <p:grpSpPr bwMode="auto">
        <a:xfrm>
          <a:off x="0" y="0"/>
          <a:ext cx="0" cy="0"/>
          <a:chOff x="0" y="0"/>
          <a:chExt cx="0" cy="0"/>
        </a:xfrm>
      </p:grpSpPr>
      <p:sp>
        <p:nvSpPr>
          <p:cNvPr id="1544793564" name="Shape 0"/>
          <p:cNvSpPr/>
          <p:nvPr/>
        </p:nvSpPr>
        <p:spPr bwMode="auto">
          <a:xfrm>
            <a:off x="0" y="0"/>
            <a:ext cx="9144000" cy="73152"/>
          </a:xfrm>
          <a:prstGeom prst="rect">
            <a:avLst/>
          </a:prstGeom>
          <a:solidFill>
            <a:srgbClr val="00B4D8"/>
          </a:solidFill>
          <a:ln w="12700">
            <a:solidFill>
              <a:srgbClr val="00B4D8"/>
            </a:solidFill>
            <a:prstDash val="solid"/>
          </a:ln>
        </p:spPr>
      </p:sp>
      <p:sp>
        <p:nvSpPr>
          <p:cNvPr id="1864898255" name="Text 1"/>
          <p:cNvSpPr/>
          <p:nvPr/>
        </p:nvSpPr>
        <p:spPr bwMode="auto">
          <a:xfrm>
            <a:off x="365760" y="137160"/>
            <a:ext cx="8229600" cy="411480"/>
          </a:xfrm>
          <a:prstGeom prst="rect">
            <a:avLst/>
          </a:prstGeom>
          <a:noFill/>
          <a:ln/>
        </p:spPr>
        <p:txBody>
          <a:bodyPr wrap="square" lIns="0" tIns="0" rIns="0" bIns="0" rtlCol="0" anchor="ctr"/>
          <a:lstStyle/>
          <a:p>
            <a:pPr marL="0" indent="0">
              <a:buNone/>
              <a:defRPr/>
            </a:pPr>
            <a:r>
              <a:rPr lang="en-US" sz="2400" b="1">
                <a:solidFill>
                  <a:srgbClr val="FFFFFF"/>
                </a:solidFill>
              </a:rPr>
              <a:t>Conclusion &amp; Future Work</a:t>
            </a:r>
            <a:endParaRPr lang="en-US" sz="2400"/>
          </a:p>
        </p:txBody>
      </p:sp>
      <p:sp>
        <p:nvSpPr>
          <p:cNvPr id="1610441336" name="Text 2"/>
          <p:cNvSpPr/>
          <p:nvPr/>
        </p:nvSpPr>
        <p:spPr bwMode="auto">
          <a:xfrm>
            <a:off x="365760" y="658368"/>
            <a:ext cx="3840480" cy="274320"/>
          </a:xfrm>
          <a:prstGeom prst="rect">
            <a:avLst/>
          </a:prstGeom>
          <a:noFill/>
          <a:ln/>
        </p:spPr>
        <p:txBody>
          <a:bodyPr wrap="square" lIns="0" tIns="0" rIns="0" bIns="0" rtlCol="0" anchor="ctr"/>
          <a:lstStyle/>
          <a:p>
            <a:pPr marL="0" indent="0">
              <a:buNone/>
              <a:defRPr/>
            </a:pPr>
            <a:r>
              <a:rPr lang="en-US" sz="1400" b="1">
                <a:solidFill>
                  <a:srgbClr val="06D6A0"/>
                </a:solidFill>
              </a:rPr>
              <a:t>Conclusions</a:t>
            </a:r>
            <a:endParaRPr lang="en-US" sz="1400"/>
          </a:p>
        </p:txBody>
      </p:sp>
      <p:sp>
        <p:nvSpPr>
          <p:cNvPr id="1258239540" name="Shape 3"/>
          <p:cNvSpPr/>
          <p:nvPr/>
        </p:nvSpPr>
        <p:spPr bwMode="auto">
          <a:xfrm>
            <a:off x="365760" y="630936"/>
            <a:ext cx="54864" cy="329184"/>
          </a:xfrm>
          <a:prstGeom prst="rect">
            <a:avLst/>
          </a:prstGeom>
          <a:solidFill>
            <a:srgbClr val="06D6A0"/>
          </a:solidFill>
          <a:ln w="12700">
            <a:solidFill>
              <a:srgbClr val="06D6A0"/>
            </a:solidFill>
            <a:prstDash val="solid"/>
          </a:ln>
        </p:spPr>
      </p:sp>
      <p:sp>
        <p:nvSpPr>
          <p:cNvPr id="36009374" name="Shape 4"/>
          <p:cNvSpPr/>
          <p:nvPr/>
        </p:nvSpPr>
        <p:spPr bwMode="auto">
          <a:xfrm>
            <a:off x="365760" y="1051560"/>
            <a:ext cx="164592" cy="164592"/>
          </a:xfrm>
          <a:prstGeom prst="ellipse">
            <a:avLst/>
          </a:prstGeom>
          <a:solidFill>
            <a:srgbClr val="06D6A0"/>
          </a:solidFill>
          <a:ln w="12700">
            <a:solidFill>
              <a:srgbClr val="06D6A0"/>
            </a:solidFill>
            <a:prstDash val="solid"/>
          </a:ln>
        </p:spPr>
      </p:sp>
      <p:sp>
        <p:nvSpPr>
          <p:cNvPr id="1922272223" name="Text 5"/>
          <p:cNvSpPr/>
          <p:nvPr/>
        </p:nvSpPr>
        <p:spPr bwMode="auto">
          <a:xfrm>
            <a:off x="621792" y="1024128"/>
            <a:ext cx="3657600" cy="384048"/>
          </a:xfrm>
          <a:prstGeom prst="rect">
            <a:avLst/>
          </a:prstGeom>
          <a:noFill/>
          <a:ln/>
        </p:spPr>
        <p:txBody>
          <a:bodyPr wrap="square" lIns="0" tIns="0" rIns="0" bIns="0" rtlCol="0" anchor="ctr"/>
          <a:lstStyle/>
          <a:p>
            <a:pPr marL="0" indent="0">
              <a:buNone/>
              <a:defRPr/>
            </a:pPr>
            <a:r>
              <a:rPr lang="en-US" sz="1000">
                <a:solidFill>
                  <a:srgbClr val="B8C8DC"/>
                </a:solidFill>
              </a:rPr>
              <a:t>Demonstrated prompt-driven UAV mission planning using a fully local AI pipeline — no cloud dependency</a:t>
            </a:r>
            <a:endParaRPr lang="en-US" sz="1000"/>
          </a:p>
        </p:txBody>
      </p:sp>
      <p:sp>
        <p:nvSpPr>
          <p:cNvPr id="1382608213" name="Shape 6"/>
          <p:cNvSpPr/>
          <p:nvPr/>
        </p:nvSpPr>
        <p:spPr bwMode="auto">
          <a:xfrm>
            <a:off x="365760" y="1527048"/>
            <a:ext cx="164592" cy="164592"/>
          </a:xfrm>
          <a:prstGeom prst="ellipse">
            <a:avLst/>
          </a:prstGeom>
          <a:solidFill>
            <a:srgbClr val="06D6A0"/>
          </a:solidFill>
          <a:ln w="12700">
            <a:solidFill>
              <a:srgbClr val="06D6A0"/>
            </a:solidFill>
            <a:prstDash val="solid"/>
          </a:ln>
        </p:spPr>
      </p:sp>
      <p:sp>
        <p:nvSpPr>
          <p:cNvPr id="1778564672" name="Text 7"/>
          <p:cNvSpPr/>
          <p:nvPr/>
        </p:nvSpPr>
        <p:spPr bwMode="auto">
          <a:xfrm>
            <a:off x="621792" y="1499616"/>
            <a:ext cx="3657600" cy="384048"/>
          </a:xfrm>
          <a:prstGeom prst="rect">
            <a:avLst/>
          </a:prstGeom>
          <a:noFill/>
          <a:ln/>
        </p:spPr>
        <p:txBody>
          <a:bodyPr wrap="square" lIns="0" tIns="0" rIns="0" bIns="0" rtlCol="0" anchor="ctr"/>
          <a:lstStyle/>
          <a:p>
            <a:pPr marL="0" indent="0">
              <a:buNone/>
              <a:defRPr/>
            </a:pPr>
            <a:r>
              <a:rPr lang="en-US" sz="1000">
                <a:solidFill>
                  <a:srgbClr val="B8C8DC"/>
                </a:solidFill>
              </a:rPr>
              <a:t>Mistral 7B via Ollama successfully generates structured mission schemas from natural language with 97%+ accuracy</a:t>
            </a:r>
            <a:endParaRPr lang="en-US" sz="1000"/>
          </a:p>
        </p:txBody>
      </p:sp>
      <p:sp>
        <p:nvSpPr>
          <p:cNvPr id="2089502624" name="Shape 8"/>
          <p:cNvSpPr/>
          <p:nvPr/>
        </p:nvSpPr>
        <p:spPr bwMode="auto">
          <a:xfrm>
            <a:off x="365760" y="2002536"/>
            <a:ext cx="164592" cy="164592"/>
          </a:xfrm>
          <a:prstGeom prst="ellipse">
            <a:avLst/>
          </a:prstGeom>
          <a:solidFill>
            <a:srgbClr val="06D6A0"/>
          </a:solidFill>
          <a:ln w="12700">
            <a:solidFill>
              <a:srgbClr val="06D6A0"/>
            </a:solidFill>
            <a:prstDash val="solid"/>
          </a:ln>
        </p:spPr>
      </p:sp>
      <p:sp>
        <p:nvSpPr>
          <p:cNvPr id="1258597649" name="Text 9"/>
          <p:cNvSpPr/>
          <p:nvPr/>
        </p:nvSpPr>
        <p:spPr bwMode="auto">
          <a:xfrm>
            <a:off x="621792" y="1975104"/>
            <a:ext cx="3657600" cy="384048"/>
          </a:xfrm>
          <a:prstGeom prst="rect">
            <a:avLst/>
          </a:prstGeom>
          <a:noFill/>
          <a:ln/>
        </p:spPr>
        <p:txBody>
          <a:bodyPr wrap="square" lIns="0" tIns="0" rIns="0" bIns="0" rtlCol="0" anchor="ctr"/>
          <a:lstStyle/>
          <a:p>
            <a:pPr marL="0" indent="0">
              <a:buNone/>
              <a:defRPr/>
            </a:pPr>
            <a:r>
              <a:rPr lang="en-US" sz="1000">
                <a:solidFill>
                  <a:srgbClr val="B8C8DC"/>
                </a:solidFill>
              </a:rPr>
              <a:t>All three mission planners (Grid, Spiral, Waypoint) produce MAVLink-compatible missions validated in flight</a:t>
            </a:r>
            <a:endParaRPr lang="en-US" sz="1000"/>
          </a:p>
        </p:txBody>
      </p:sp>
      <p:sp>
        <p:nvSpPr>
          <p:cNvPr id="1863785610" name="Shape 10"/>
          <p:cNvSpPr/>
          <p:nvPr/>
        </p:nvSpPr>
        <p:spPr bwMode="auto">
          <a:xfrm>
            <a:off x="365760" y="2478024"/>
            <a:ext cx="164592" cy="164592"/>
          </a:xfrm>
          <a:prstGeom prst="ellipse">
            <a:avLst/>
          </a:prstGeom>
          <a:solidFill>
            <a:srgbClr val="06D6A0"/>
          </a:solidFill>
          <a:ln w="12700">
            <a:solidFill>
              <a:srgbClr val="06D6A0"/>
            </a:solidFill>
            <a:prstDash val="solid"/>
          </a:ln>
        </p:spPr>
      </p:sp>
      <p:sp>
        <p:nvSpPr>
          <p:cNvPr id="1748903696" name="Text 11"/>
          <p:cNvSpPr/>
          <p:nvPr/>
        </p:nvSpPr>
        <p:spPr bwMode="auto">
          <a:xfrm>
            <a:off x="621792" y="2450592"/>
            <a:ext cx="3657600" cy="384048"/>
          </a:xfrm>
          <a:prstGeom prst="rect">
            <a:avLst/>
          </a:prstGeom>
          <a:noFill/>
          <a:ln/>
        </p:spPr>
        <p:txBody>
          <a:bodyPr wrap="square" lIns="0" tIns="0" rIns="0" bIns="0" rtlCol="0" anchor="ctr"/>
          <a:lstStyle/>
          <a:p>
            <a:pPr marL="0" indent="0">
              <a:buNone/>
              <a:defRPr/>
            </a:pPr>
            <a:r>
              <a:rPr lang="en-US" sz="1000">
                <a:solidFill>
                  <a:srgbClr val="B8C8DC"/>
                </a:solidFill>
              </a:rPr>
              <a:t>59% reduction in mission planning time over traditional manual methods</a:t>
            </a:r>
            <a:endParaRPr lang="en-US" sz="1000"/>
          </a:p>
        </p:txBody>
      </p:sp>
      <p:sp>
        <p:nvSpPr>
          <p:cNvPr id="1972314251" name="Shape 12"/>
          <p:cNvSpPr/>
          <p:nvPr/>
        </p:nvSpPr>
        <p:spPr bwMode="auto">
          <a:xfrm>
            <a:off x="365760" y="2953512"/>
            <a:ext cx="164592" cy="164592"/>
          </a:xfrm>
          <a:prstGeom prst="ellipse">
            <a:avLst/>
          </a:prstGeom>
          <a:solidFill>
            <a:srgbClr val="06D6A0"/>
          </a:solidFill>
          <a:ln w="12700">
            <a:solidFill>
              <a:srgbClr val="06D6A0"/>
            </a:solidFill>
            <a:prstDash val="solid"/>
          </a:ln>
        </p:spPr>
      </p:sp>
      <p:sp>
        <p:nvSpPr>
          <p:cNvPr id="1409121286" name="Text 13"/>
          <p:cNvSpPr/>
          <p:nvPr/>
        </p:nvSpPr>
        <p:spPr bwMode="auto">
          <a:xfrm>
            <a:off x="621792" y="2926080"/>
            <a:ext cx="3657600" cy="384048"/>
          </a:xfrm>
          <a:prstGeom prst="rect">
            <a:avLst/>
          </a:prstGeom>
          <a:noFill/>
          <a:ln/>
        </p:spPr>
        <p:txBody>
          <a:bodyPr wrap="square" lIns="0" tIns="0" rIns="0" bIns="0" rtlCol="0" anchor="ctr"/>
          <a:lstStyle/>
          <a:p>
            <a:pPr marL="0" indent="0">
              <a:buNone/>
              <a:defRPr/>
            </a:pPr>
            <a:r>
              <a:rPr lang="en-US" sz="1000">
                <a:solidFill>
                  <a:srgbClr val="B8C8DC"/>
                </a:solidFill>
              </a:rPr>
              <a:t>Real hardware validation on Pixhawk 2.4.8 confirms system reliability for actual UAV deployment</a:t>
            </a:r>
            <a:endParaRPr lang="en-US" sz="1000"/>
          </a:p>
        </p:txBody>
      </p:sp>
      <p:sp>
        <p:nvSpPr>
          <p:cNvPr id="147488460" name="Text 14"/>
          <p:cNvSpPr/>
          <p:nvPr/>
        </p:nvSpPr>
        <p:spPr bwMode="auto">
          <a:xfrm>
            <a:off x="4937760" y="658368"/>
            <a:ext cx="3840480" cy="274320"/>
          </a:xfrm>
          <a:prstGeom prst="rect">
            <a:avLst/>
          </a:prstGeom>
          <a:noFill/>
          <a:ln/>
        </p:spPr>
        <p:txBody>
          <a:bodyPr wrap="square" lIns="0" tIns="0" rIns="0" bIns="0" rtlCol="0" anchor="ctr"/>
          <a:lstStyle/>
          <a:p>
            <a:pPr marL="0" indent="0">
              <a:buNone/>
              <a:defRPr/>
            </a:pPr>
            <a:r>
              <a:rPr lang="en-US" sz="1400" b="1">
                <a:solidFill>
                  <a:srgbClr val="FFB703"/>
                </a:solidFill>
              </a:rPr>
              <a:t>Future Work</a:t>
            </a:r>
            <a:endParaRPr lang="en-US" sz="1400"/>
          </a:p>
        </p:txBody>
      </p:sp>
      <p:sp>
        <p:nvSpPr>
          <p:cNvPr id="752566431" name="Shape 15"/>
          <p:cNvSpPr/>
          <p:nvPr/>
        </p:nvSpPr>
        <p:spPr bwMode="auto">
          <a:xfrm>
            <a:off x="4892039" y="630936"/>
            <a:ext cx="54864" cy="329184"/>
          </a:xfrm>
          <a:prstGeom prst="rect">
            <a:avLst/>
          </a:prstGeom>
          <a:solidFill>
            <a:srgbClr val="FFB703"/>
          </a:solidFill>
          <a:ln w="12700">
            <a:solidFill>
              <a:srgbClr val="FFB703"/>
            </a:solidFill>
            <a:prstDash val="solid"/>
          </a:ln>
        </p:spPr>
      </p:sp>
      <p:sp>
        <p:nvSpPr>
          <p:cNvPr id="953684751" name="Shape 16"/>
          <p:cNvSpPr/>
          <p:nvPr/>
        </p:nvSpPr>
        <p:spPr bwMode="auto">
          <a:xfrm>
            <a:off x="4892039" y="1024128"/>
            <a:ext cx="3931920" cy="429768"/>
          </a:xfrm>
          <a:prstGeom prst="rect">
            <a:avLst/>
          </a:prstGeom>
          <a:solidFill>
            <a:srgbClr val="112240"/>
          </a:solidFill>
          <a:ln w="10160">
            <a:solidFill>
              <a:srgbClr val="FFB703"/>
            </a:solidFill>
            <a:prstDash val="solid"/>
          </a:ln>
        </p:spPr>
      </p:sp>
      <p:sp>
        <p:nvSpPr>
          <p:cNvPr id="1082455094" name="Text 17"/>
          <p:cNvSpPr/>
          <p:nvPr/>
        </p:nvSpPr>
        <p:spPr bwMode="auto">
          <a:xfrm>
            <a:off x="4919471" y="1024128"/>
            <a:ext cx="457200" cy="429768"/>
          </a:xfrm>
          <a:prstGeom prst="rect">
            <a:avLst/>
          </a:prstGeom>
          <a:noFill/>
          <a:ln/>
        </p:spPr>
        <p:txBody>
          <a:bodyPr wrap="square" rtlCol="0" anchor="ctr"/>
          <a:lstStyle/>
          <a:p>
            <a:pPr marL="0" indent="0" algn="ctr">
              <a:buNone/>
              <a:defRPr/>
            </a:pPr>
            <a:r>
              <a:rPr lang="en-US" sz="1600">
                <a:solidFill>
                  <a:srgbClr val="000000"/>
                </a:solidFill>
              </a:rPr>
              <a:t>📡</a:t>
            </a:r>
            <a:endParaRPr lang="en-US" sz="1600"/>
          </a:p>
        </p:txBody>
      </p:sp>
      <p:sp>
        <p:nvSpPr>
          <p:cNvPr id="1226507430" name="Text 18"/>
          <p:cNvSpPr/>
          <p:nvPr/>
        </p:nvSpPr>
        <p:spPr bwMode="auto">
          <a:xfrm>
            <a:off x="5413248" y="1051560"/>
            <a:ext cx="1371600" cy="182880"/>
          </a:xfrm>
          <a:prstGeom prst="rect">
            <a:avLst/>
          </a:prstGeom>
          <a:noFill/>
          <a:ln/>
        </p:spPr>
        <p:txBody>
          <a:bodyPr wrap="square" lIns="0" tIns="0" rIns="0" bIns="0" rtlCol="0" anchor="ctr"/>
          <a:lstStyle/>
          <a:p>
            <a:pPr marL="0" indent="0">
              <a:buNone/>
              <a:defRPr/>
            </a:pPr>
            <a:r>
              <a:rPr lang="en-US" sz="1000" b="1">
                <a:solidFill>
                  <a:srgbClr val="FFB703"/>
                </a:solidFill>
              </a:rPr>
              <a:t>Real-time Telemetry:</a:t>
            </a:r>
            <a:endParaRPr lang="en-US" sz="1000"/>
          </a:p>
        </p:txBody>
      </p:sp>
      <p:sp>
        <p:nvSpPr>
          <p:cNvPr id="1152331332" name="Text 19"/>
          <p:cNvSpPr/>
          <p:nvPr/>
        </p:nvSpPr>
        <p:spPr bwMode="auto">
          <a:xfrm>
            <a:off x="5413248" y="1243584"/>
            <a:ext cx="3291840" cy="182880"/>
          </a:xfrm>
          <a:prstGeom prst="rect">
            <a:avLst/>
          </a:prstGeom>
          <a:noFill/>
          <a:ln/>
        </p:spPr>
        <p:txBody>
          <a:bodyPr wrap="square" lIns="0" tIns="0" rIns="0" bIns="0" rtlCol="0" anchor="ctr"/>
          <a:lstStyle/>
          <a:p>
            <a:pPr marL="0" indent="0">
              <a:buNone/>
              <a:defRPr/>
            </a:pPr>
            <a:r>
              <a:rPr lang="en-US" sz="950">
                <a:solidFill>
                  <a:srgbClr val="B8C8DC"/>
                </a:solidFill>
              </a:rPr>
              <a:t>Live mission progress monitoring with LLM-based status interpretation</a:t>
            </a:r>
            <a:endParaRPr lang="en-US" sz="950"/>
          </a:p>
        </p:txBody>
      </p:sp>
      <p:sp>
        <p:nvSpPr>
          <p:cNvPr id="738013285" name="Shape 20"/>
          <p:cNvSpPr/>
          <p:nvPr/>
        </p:nvSpPr>
        <p:spPr bwMode="auto">
          <a:xfrm>
            <a:off x="4892039" y="1527048"/>
            <a:ext cx="3931920" cy="429768"/>
          </a:xfrm>
          <a:prstGeom prst="rect">
            <a:avLst/>
          </a:prstGeom>
          <a:solidFill>
            <a:srgbClr val="112240"/>
          </a:solidFill>
          <a:ln w="10160">
            <a:solidFill>
              <a:srgbClr val="FFB703"/>
            </a:solidFill>
            <a:prstDash val="solid"/>
          </a:ln>
        </p:spPr>
      </p:sp>
      <p:sp>
        <p:nvSpPr>
          <p:cNvPr id="1443937321" name="Text 21"/>
          <p:cNvSpPr/>
          <p:nvPr/>
        </p:nvSpPr>
        <p:spPr bwMode="auto">
          <a:xfrm>
            <a:off x="4919471" y="1527048"/>
            <a:ext cx="457200" cy="429768"/>
          </a:xfrm>
          <a:prstGeom prst="rect">
            <a:avLst/>
          </a:prstGeom>
          <a:noFill/>
          <a:ln/>
        </p:spPr>
        <p:txBody>
          <a:bodyPr wrap="square" rtlCol="0" anchor="ctr"/>
          <a:lstStyle/>
          <a:p>
            <a:pPr marL="0" indent="0" algn="ctr">
              <a:buNone/>
              <a:defRPr/>
            </a:pPr>
            <a:r>
              <a:rPr lang="en-US" sz="1600">
                <a:solidFill>
                  <a:srgbClr val="000000"/>
                </a:solidFill>
              </a:rPr>
              <a:t>🔍</a:t>
            </a:r>
            <a:endParaRPr lang="en-US" sz="1600"/>
          </a:p>
        </p:txBody>
      </p:sp>
      <p:sp>
        <p:nvSpPr>
          <p:cNvPr id="1614368332" name="Text 22"/>
          <p:cNvSpPr/>
          <p:nvPr/>
        </p:nvSpPr>
        <p:spPr bwMode="auto">
          <a:xfrm>
            <a:off x="5413248" y="1554480"/>
            <a:ext cx="1371600" cy="182880"/>
          </a:xfrm>
          <a:prstGeom prst="rect">
            <a:avLst/>
          </a:prstGeom>
          <a:noFill/>
          <a:ln/>
        </p:spPr>
        <p:txBody>
          <a:bodyPr wrap="square" lIns="0" tIns="0" rIns="0" bIns="0" rtlCol="0" anchor="ctr"/>
          <a:lstStyle/>
          <a:p>
            <a:pPr marL="0" indent="0">
              <a:buNone/>
              <a:defRPr/>
            </a:pPr>
            <a:r>
              <a:rPr lang="en-US" sz="1000" b="1">
                <a:solidFill>
                  <a:srgbClr val="FFB703"/>
                </a:solidFill>
              </a:rPr>
              <a:t>Deviation Detection:</a:t>
            </a:r>
            <a:endParaRPr lang="en-US" sz="1000"/>
          </a:p>
        </p:txBody>
      </p:sp>
      <p:sp>
        <p:nvSpPr>
          <p:cNvPr id="1634555910" name="Text 23"/>
          <p:cNvSpPr/>
          <p:nvPr/>
        </p:nvSpPr>
        <p:spPr bwMode="auto">
          <a:xfrm>
            <a:off x="5413248" y="1746504"/>
            <a:ext cx="3291840" cy="182880"/>
          </a:xfrm>
          <a:prstGeom prst="rect">
            <a:avLst/>
          </a:prstGeom>
          <a:noFill/>
          <a:ln/>
        </p:spPr>
        <p:txBody>
          <a:bodyPr wrap="square" lIns="0" tIns="0" rIns="0" bIns="0" rtlCol="0" anchor="ctr"/>
          <a:lstStyle/>
          <a:p>
            <a:pPr marL="0" indent="0">
              <a:buNone/>
              <a:defRPr/>
            </a:pPr>
            <a:r>
              <a:rPr lang="en-US" sz="950">
                <a:solidFill>
                  <a:srgbClr val="B8C8DC"/>
                </a:solidFill>
              </a:rPr>
              <a:t>Autonomous detection of GPS drift, obstacle avoidance alerts</a:t>
            </a:r>
            <a:endParaRPr lang="en-US" sz="950"/>
          </a:p>
        </p:txBody>
      </p:sp>
      <p:sp>
        <p:nvSpPr>
          <p:cNvPr id="708897426" name="Shape 24"/>
          <p:cNvSpPr/>
          <p:nvPr/>
        </p:nvSpPr>
        <p:spPr bwMode="auto">
          <a:xfrm>
            <a:off x="4892039" y="2029968"/>
            <a:ext cx="3931920" cy="429768"/>
          </a:xfrm>
          <a:prstGeom prst="rect">
            <a:avLst/>
          </a:prstGeom>
          <a:solidFill>
            <a:srgbClr val="112240"/>
          </a:solidFill>
          <a:ln w="10160">
            <a:solidFill>
              <a:srgbClr val="FFB703"/>
            </a:solidFill>
            <a:prstDash val="solid"/>
          </a:ln>
        </p:spPr>
      </p:sp>
      <p:sp>
        <p:nvSpPr>
          <p:cNvPr id="1828717725" name="Text 25"/>
          <p:cNvSpPr/>
          <p:nvPr/>
        </p:nvSpPr>
        <p:spPr bwMode="auto">
          <a:xfrm>
            <a:off x="4919471" y="2029968"/>
            <a:ext cx="457200" cy="429768"/>
          </a:xfrm>
          <a:prstGeom prst="rect">
            <a:avLst/>
          </a:prstGeom>
          <a:noFill/>
          <a:ln/>
        </p:spPr>
        <p:txBody>
          <a:bodyPr wrap="square" rtlCol="0" anchor="ctr"/>
          <a:lstStyle/>
          <a:p>
            <a:pPr marL="0" indent="0" algn="ctr">
              <a:buNone/>
              <a:defRPr/>
            </a:pPr>
            <a:r>
              <a:rPr lang="en-US" sz="1600">
                <a:solidFill>
                  <a:srgbClr val="000000"/>
                </a:solidFill>
              </a:rPr>
              <a:t>🔄</a:t>
            </a:r>
            <a:endParaRPr lang="en-US" sz="1600"/>
          </a:p>
        </p:txBody>
      </p:sp>
      <p:sp>
        <p:nvSpPr>
          <p:cNvPr id="1683590085" name="Text 26"/>
          <p:cNvSpPr/>
          <p:nvPr/>
        </p:nvSpPr>
        <p:spPr bwMode="auto">
          <a:xfrm>
            <a:off x="5413248" y="2057400"/>
            <a:ext cx="1371600" cy="182880"/>
          </a:xfrm>
          <a:prstGeom prst="rect">
            <a:avLst/>
          </a:prstGeom>
          <a:noFill/>
          <a:ln/>
        </p:spPr>
        <p:txBody>
          <a:bodyPr wrap="square" lIns="0" tIns="0" rIns="0" bIns="0" rtlCol="0" anchor="ctr"/>
          <a:lstStyle/>
          <a:p>
            <a:pPr marL="0" indent="0">
              <a:buNone/>
              <a:defRPr/>
            </a:pPr>
            <a:r>
              <a:rPr lang="en-US" sz="1000" b="1">
                <a:solidFill>
                  <a:srgbClr val="FFB703"/>
                </a:solidFill>
              </a:rPr>
              <a:t>Dynamic Replanning:</a:t>
            </a:r>
            <a:endParaRPr lang="en-US" sz="1000"/>
          </a:p>
        </p:txBody>
      </p:sp>
      <p:sp>
        <p:nvSpPr>
          <p:cNvPr id="1773574296" name="Text 27"/>
          <p:cNvSpPr/>
          <p:nvPr/>
        </p:nvSpPr>
        <p:spPr bwMode="auto">
          <a:xfrm>
            <a:off x="5413248" y="2249424"/>
            <a:ext cx="3291840" cy="182880"/>
          </a:xfrm>
          <a:prstGeom prst="rect">
            <a:avLst/>
          </a:prstGeom>
          <a:noFill/>
          <a:ln/>
        </p:spPr>
        <p:txBody>
          <a:bodyPr wrap="square" lIns="0" tIns="0" rIns="0" bIns="0" rtlCol="0" anchor="ctr"/>
          <a:lstStyle/>
          <a:p>
            <a:pPr marL="0" indent="0">
              <a:buNone/>
              <a:defRPr/>
            </a:pPr>
            <a:r>
              <a:rPr lang="en-US" sz="950">
                <a:solidFill>
                  <a:srgbClr val="B8C8DC"/>
                </a:solidFill>
              </a:rPr>
              <a:t>Mid-mission prompt-driven replanning based on telemetry conditions</a:t>
            </a:r>
            <a:endParaRPr lang="en-US" sz="950"/>
          </a:p>
        </p:txBody>
      </p:sp>
      <p:sp>
        <p:nvSpPr>
          <p:cNvPr id="2086258398" name="Shape 28"/>
          <p:cNvSpPr/>
          <p:nvPr/>
        </p:nvSpPr>
        <p:spPr bwMode="auto">
          <a:xfrm>
            <a:off x="4892039" y="2532888"/>
            <a:ext cx="3931920" cy="429768"/>
          </a:xfrm>
          <a:prstGeom prst="rect">
            <a:avLst/>
          </a:prstGeom>
          <a:solidFill>
            <a:srgbClr val="112240"/>
          </a:solidFill>
          <a:ln w="10160">
            <a:solidFill>
              <a:srgbClr val="FFB703"/>
            </a:solidFill>
            <a:prstDash val="solid"/>
          </a:ln>
        </p:spPr>
      </p:sp>
      <p:sp>
        <p:nvSpPr>
          <p:cNvPr id="1562802809" name="Text 29"/>
          <p:cNvSpPr/>
          <p:nvPr/>
        </p:nvSpPr>
        <p:spPr bwMode="auto">
          <a:xfrm>
            <a:off x="4919471" y="2532888"/>
            <a:ext cx="457200" cy="429768"/>
          </a:xfrm>
          <a:prstGeom prst="rect">
            <a:avLst/>
          </a:prstGeom>
          <a:noFill/>
          <a:ln/>
        </p:spPr>
        <p:txBody>
          <a:bodyPr wrap="square" rtlCol="0" anchor="ctr"/>
          <a:lstStyle/>
          <a:p>
            <a:pPr marL="0" indent="0" algn="ctr">
              <a:buNone/>
              <a:defRPr/>
            </a:pPr>
            <a:r>
              <a:rPr lang="en-US" sz="1600">
                <a:solidFill>
                  <a:srgbClr val="000000"/>
                </a:solidFill>
              </a:rPr>
              <a:t>🚁🚁</a:t>
            </a:r>
            <a:endParaRPr lang="en-US" sz="1600"/>
          </a:p>
        </p:txBody>
      </p:sp>
      <p:sp>
        <p:nvSpPr>
          <p:cNvPr id="633114729" name="Text 30"/>
          <p:cNvSpPr/>
          <p:nvPr/>
        </p:nvSpPr>
        <p:spPr bwMode="auto">
          <a:xfrm>
            <a:off x="5413248" y="2560320"/>
            <a:ext cx="1371600" cy="182880"/>
          </a:xfrm>
          <a:prstGeom prst="rect">
            <a:avLst/>
          </a:prstGeom>
          <a:noFill/>
          <a:ln/>
        </p:spPr>
        <p:txBody>
          <a:bodyPr wrap="square" lIns="0" tIns="0" rIns="0" bIns="0" rtlCol="0" anchor="ctr"/>
          <a:lstStyle/>
          <a:p>
            <a:pPr marL="0" indent="0">
              <a:buNone/>
              <a:defRPr/>
            </a:pPr>
            <a:r>
              <a:rPr lang="en-US" sz="1000" b="1">
                <a:solidFill>
                  <a:srgbClr val="FFB703"/>
                </a:solidFill>
              </a:rPr>
              <a:t>Multi-UAV Support:</a:t>
            </a:r>
            <a:endParaRPr lang="en-US" sz="1000"/>
          </a:p>
        </p:txBody>
      </p:sp>
      <p:sp>
        <p:nvSpPr>
          <p:cNvPr id="1992835294" name="Text 31"/>
          <p:cNvSpPr/>
          <p:nvPr/>
        </p:nvSpPr>
        <p:spPr bwMode="auto">
          <a:xfrm>
            <a:off x="5413248" y="2752343"/>
            <a:ext cx="3291840" cy="182880"/>
          </a:xfrm>
          <a:prstGeom prst="rect">
            <a:avLst/>
          </a:prstGeom>
          <a:noFill/>
          <a:ln/>
        </p:spPr>
        <p:txBody>
          <a:bodyPr wrap="square" lIns="0" tIns="0" rIns="0" bIns="0" rtlCol="0" anchor="ctr"/>
          <a:lstStyle/>
          <a:p>
            <a:pPr marL="0" indent="0">
              <a:buNone/>
              <a:defRPr/>
            </a:pPr>
            <a:r>
              <a:rPr lang="en-US" sz="950">
                <a:solidFill>
                  <a:srgbClr val="B8C8DC"/>
                </a:solidFill>
              </a:rPr>
              <a:t>Coordinated swarm mission generation from single high-level prompt</a:t>
            </a:r>
            <a:endParaRPr lang="en-US" sz="950"/>
          </a:p>
        </p:txBody>
      </p:sp>
      <p:sp>
        <p:nvSpPr>
          <p:cNvPr id="1561432076" name="Shape 32"/>
          <p:cNvSpPr/>
          <p:nvPr/>
        </p:nvSpPr>
        <p:spPr bwMode="auto">
          <a:xfrm>
            <a:off x="4892039" y="3035808"/>
            <a:ext cx="3931920" cy="429768"/>
          </a:xfrm>
          <a:prstGeom prst="rect">
            <a:avLst/>
          </a:prstGeom>
          <a:solidFill>
            <a:srgbClr val="112240"/>
          </a:solidFill>
          <a:ln w="10160">
            <a:solidFill>
              <a:srgbClr val="FFB703"/>
            </a:solidFill>
            <a:prstDash val="solid"/>
          </a:ln>
        </p:spPr>
      </p:sp>
      <p:sp>
        <p:nvSpPr>
          <p:cNvPr id="559536501" name="Text 33"/>
          <p:cNvSpPr/>
          <p:nvPr/>
        </p:nvSpPr>
        <p:spPr bwMode="auto">
          <a:xfrm>
            <a:off x="4919471" y="3035808"/>
            <a:ext cx="457200" cy="429768"/>
          </a:xfrm>
          <a:prstGeom prst="rect">
            <a:avLst/>
          </a:prstGeom>
          <a:noFill/>
          <a:ln/>
        </p:spPr>
        <p:txBody>
          <a:bodyPr wrap="square" rtlCol="0" anchor="ctr"/>
          <a:lstStyle/>
          <a:p>
            <a:pPr marL="0" indent="0" algn="ctr">
              <a:buNone/>
              <a:defRPr/>
            </a:pPr>
            <a:r>
              <a:rPr lang="en-US" sz="1600">
                <a:solidFill>
                  <a:srgbClr val="000000"/>
                </a:solidFill>
              </a:rPr>
              <a:t>🤖</a:t>
            </a:r>
            <a:endParaRPr lang="en-US" sz="1600"/>
          </a:p>
        </p:txBody>
      </p:sp>
      <p:sp>
        <p:nvSpPr>
          <p:cNvPr id="611294714" name="Text 34"/>
          <p:cNvSpPr/>
          <p:nvPr/>
        </p:nvSpPr>
        <p:spPr bwMode="auto">
          <a:xfrm>
            <a:off x="5413248" y="3063240"/>
            <a:ext cx="1371600" cy="182880"/>
          </a:xfrm>
          <a:prstGeom prst="rect">
            <a:avLst/>
          </a:prstGeom>
          <a:noFill/>
          <a:ln/>
        </p:spPr>
        <p:txBody>
          <a:bodyPr wrap="square" lIns="0" tIns="0" rIns="0" bIns="0" rtlCol="0" anchor="ctr"/>
          <a:lstStyle/>
          <a:p>
            <a:pPr marL="0" indent="0">
              <a:buNone/>
              <a:defRPr/>
            </a:pPr>
            <a:r>
              <a:rPr lang="en-US" sz="1000" b="1">
                <a:solidFill>
                  <a:srgbClr val="FFB703"/>
                </a:solidFill>
              </a:rPr>
              <a:t>AI Supervisory Control:</a:t>
            </a:r>
            <a:endParaRPr lang="en-US" sz="1000"/>
          </a:p>
        </p:txBody>
      </p:sp>
      <p:sp>
        <p:nvSpPr>
          <p:cNvPr id="114912359" name="Text 35"/>
          <p:cNvSpPr/>
          <p:nvPr/>
        </p:nvSpPr>
        <p:spPr bwMode="auto">
          <a:xfrm>
            <a:off x="5413248" y="3255264"/>
            <a:ext cx="3291840" cy="182880"/>
          </a:xfrm>
          <a:prstGeom prst="rect">
            <a:avLst/>
          </a:prstGeom>
          <a:noFill/>
          <a:ln/>
        </p:spPr>
        <p:txBody>
          <a:bodyPr wrap="square" lIns="0" tIns="0" rIns="0" bIns="0" rtlCol="0" anchor="ctr"/>
          <a:lstStyle/>
          <a:p>
            <a:pPr marL="0" indent="0">
              <a:buNone/>
              <a:defRPr/>
            </a:pPr>
            <a:r>
              <a:rPr lang="en-US" sz="950">
                <a:solidFill>
                  <a:srgbClr val="B8C8DC"/>
                </a:solidFill>
              </a:rPr>
              <a:t>LLM-based real-time decision making for adaptive autonomous behavior</a:t>
            </a:r>
            <a:endParaRPr lang="en-US" sz="9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bg>
      <p:bgPr shadeToTitle="0">
        <a:solidFill>
          <a:srgbClr val="0A1628"/>
        </a:solidFill>
      </p:bgPr>
    </p:bg>
    <p:spTree>
      <p:nvGrpSpPr>
        <p:cNvPr id="1" name=""/>
        <p:cNvGrpSpPr/>
        <p:nvPr/>
      </p:nvGrpSpPr>
      <p:grpSpPr bwMode="auto">
        <a:xfrm>
          <a:off x="0" y="0"/>
          <a:ext cx="0" cy="0"/>
          <a:chOff x="0" y="0"/>
          <a:chExt cx="0" cy="0"/>
        </a:xfrm>
      </p:grpSpPr>
      <p:sp>
        <p:nvSpPr>
          <p:cNvPr id="97753166" name="Shape 0"/>
          <p:cNvSpPr/>
          <p:nvPr/>
        </p:nvSpPr>
        <p:spPr bwMode="auto">
          <a:xfrm>
            <a:off x="0" y="0"/>
            <a:ext cx="9144000" cy="73152"/>
          </a:xfrm>
          <a:prstGeom prst="rect">
            <a:avLst/>
          </a:prstGeom>
          <a:solidFill>
            <a:srgbClr val="00B4D8"/>
          </a:solidFill>
          <a:ln w="12700">
            <a:solidFill>
              <a:srgbClr val="00B4D8"/>
            </a:solidFill>
            <a:prstDash val="solid"/>
          </a:ln>
        </p:spPr>
      </p:sp>
      <p:sp>
        <p:nvSpPr>
          <p:cNvPr id="1441734722" name="Text 1"/>
          <p:cNvSpPr/>
          <p:nvPr/>
        </p:nvSpPr>
        <p:spPr bwMode="auto">
          <a:xfrm>
            <a:off x="365760" y="137160"/>
            <a:ext cx="8229600" cy="411480"/>
          </a:xfrm>
          <a:prstGeom prst="rect">
            <a:avLst/>
          </a:prstGeom>
          <a:noFill/>
          <a:ln/>
        </p:spPr>
        <p:txBody>
          <a:bodyPr wrap="square" lIns="0" tIns="0" rIns="0" bIns="0" rtlCol="0" anchor="ctr"/>
          <a:lstStyle/>
          <a:p>
            <a:pPr marL="0" indent="0">
              <a:buNone/>
              <a:defRPr/>
            </a:pPr>
            <a:r>
              <a:rPr lang="en-US" sz="2400" b="1">
                <a:solidFill>
                  <a:srgbClr val="FFFFFF"/>
                </a:solidFill>
              </a:rPr>
              <a:t>References</a:t>
            </a:r>
            <a:endParaRPr lang="en-US" sz="2400"/>
          </a:p>
        </p:txBody>
      </p:sp>
      <p:sp>
        <p:nvSpPr>
          <p:cNvPr id="1128808656" name=""/>
          <p:cNvSpPr txBox="1"/>
          <p:nvPr/>
        </p:nvSpPr>
        <p:spPr bwMode="auto">
          <a:xfrm rot="0" flipH="0" flipV="0">
            <a:off x="314356" y="693963"/>
            <a:ext cx="8415191" cy="4298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200" b="0" i="0" u="none">
                <a:solidFill>
                  <a:schemeClr val="bg1"/>
                </a:solidFill>
                <a:latin typeface="Liberation Sans"/>
                <a:ea typeface="Liberation Sans"/>
                <a:cs typeface="Liberation Sans"/>
              </a:rPr>
              <a:t>[1] Phadke, A., et al. (2025). "Integrating Large Language Models for UAV Control in Simulated Environments: A Modular Interaction Approach." Preprint.</a:t>
            </a:r>
            <a:endParaRPr>
              <a:solidFill>
                <a:schemeClr val="bg1"/>
              </a:solidFill>
            </a:endParaRPr>
          </a:p>
          <a:p>
            <a:pPr>
              <a:defRPr/>
            </a:pPr>
            <a:r>
              <a:rPr sz="1200" b="0" i="0" u="none">
                <a:solidFill>
                  <a:schemeClr val="bg1"/>
                </a:solidFill>
                <a:latin typeface="Liberation Sans"/>
                <a:ea typeface="Liberation Sans"/>
                <a:cs typeface="Liberation Sans"/>
              </a:rPr>
              <a:t>[2] Yuan, L., et al. (2025). "Next-Generation LLM for UAV: From Natural Language to Autonomous Flight." arXiv preprint arXiv:2510.21739. </a:t>
            </a:r>
            <a:r>
              <a:rPr sz="1200" b="0" i="0" u="sng">
                <a:solidFill>
                  <a:schemeClr val="bg1"/>
                </a:solidFill>
                <a:latin typeface="Liberation Sans"/>
                <a:ea typeface="Liberation Sans"/>
                <a:cs typeface="Liberation Sans"/>
                <a:hlinkClick r:id="rId3" tooltip=""/>
              </a:rPr>
              <a:t>https://arxiv.org/abs/2510.21739</a:t>
            </a:r>
            <a:endParaRPr>
              <a:solidFill>
                <a:schemeClr val="bg1"/>
              </a:solidFill>
            </a:endParaRPr>
          </a:p>
          <a:p>
            <a:pPr>
              <a:defRPr/>
            </a:pPr>
            <a:r>
              <a:rPr sz="1200" b="0" i="0" u="none">
                <a:solidFill>
                  <a:schemeClr val="bg1"/>
                </a:solidFill>
                <a:latin typeface="Liberation Sans"/>
                <a:ea typeface="Liberation Sans"/>
                <a:cs typeface="Liberation Sans"/>
              </a:rPr>
              <a:t>[3] MAVLink Developer Guide. "Mission Protocol." </a:t>
            </a:r>
            <a:r>
              <a:rPr sz="1200" b="0" i="0" u="sng">
                <a:solidFill>
                  <a:schemeClr val="bg1"/>
                </a:solidFill>
                <a:latin typeface="Liberation Sans"/>
                <a:ea typeface="Liberation Sans"/>
                <a:cs typeface="Liberation Sans"/>
                <a:hlinkClick r:id="rId4" tooltip=""/>
              </a:rPr>
              <a:t>https://mavlink.io/en/services/mission.html</a:t>
            </a:r>
            <a:endParaRPr>
              <a:solidFill>
                <a:schemeClr val="bg1"/>
              </a:solidFill>
            </a:endParaRPr>
          </a:p>
          <a:p>
            <a:pPr>
              <a:defRPr/>
            </a:pPr>
            <a:r>
              <a:rPr sz="1200" b="0" i="0" u="none">
                <a:solidFill>
                  <a:schemeClr val="bg1"/>
                </a:solidFill>
                <a:latin typeface="Liberation Sans"/>
                <a:ea typeface="Liberation Sans"/>
                <a:cs typeface="Liberation Sans"/>
              </a:rPr>
              <a:t>[4] Chandarana, M., et al. (2017). "Fly Like This: Natural Language Interfaces for UAV Mission Planning." Robotics Institute, Carnegie Mellon University, Proc. ACHI. </a:t>
            </a:r>
            <a:r>
              <a:rPr sz="1200" b="0" i="0" u="sng">
                <a:solidFill>
                  <a:schemeClr val="bg1"/>
                </a:solidFill>
                <a:latin typeface="Liberation Sans"/>
                <a:ea typeface="Liberation Sans"/>
                <a:cs typeface="Liberation Sans"/>
                <a:hlinkClick r:id="rId5" tooltip=""/>
              </a:rPr>
              <a:t>https://www.ri.cmu.edu/publications/fly-like-this-natural-language-interfaces-for-uav-mission-planning/</a:t>
            </a:r>
            <a:endParaRPr>
              <a:solidFill>
                <a:schemeClr val="bg1"/>
              </a:solidFill>
            </a:endParaRPr>
          </a:p>
          <a:p>
            <a:pPr>
              <a:defRPr/>
            </a:pPr>
            <a:r>
              <a:rPr sz="1200" b="0" i="0" u="none">
                <a:solidFill>
                  <a:schemeClr val="bg1"/>
                </a:solidFill>
                <a:latin typeface="Liberation Sans"/>
                <a:ea typeface="Liberation Sans"/>
                <a:cs typeface="Liberation Sans"/>
              </a:rPr>
              <a:t>[5] ArduPilot Dev Documentation. "Mission Upload / Download." </a:t>
            </a:r>
            <a:r>
              <a:rPr sz="1200" b="0" i="0" u="sng">
                <a:solidFill>
                  <a:schemeClr val="bg1"/>
                </a:solidFill>
                <a:latin typeface="Liberation Sans"/>
                <a:ea typeface="Liberation Sans"/>
                <a:cs typeface="Liberation Sans"/>
                <a:hlinkClick r:id="rId6" tooltip=""/>
              </a:rPr>
              <a:t>https://ardupilot.org/dev/docs/mavlink-mission-upload-download.html</a:t>
            </a:r>
            <a:endParaRPr>
              <a:solidFill>
                <a:schemeClr val="bg1"/>
              </a:solidFill>
            </a:endParaRPr>
          </a:p>
          <a:p>
            <a:pPr>
              <a:defRPr/>
            </a:pPr>
            <a:r>
              <a:rPr sz="1200" b="0" i="0" u="none">
                <a:solidFill>
                  <a:schemeClr val="bg1"/>
                </a:solidFill>
                <a:latin typeface="Liberation Sans"/>
                <a:ea typeface="Liberation Sans"/>
                <a:cs typeface="Liberation Sans"/>
              </a:rPr>
              <a:t>[6] ArduPilot Documentation. "MAVLink Mission Command Messages." </a:t>
            </a:r>
            <a:r>
              <a:rPr sz="1200" b="0" i="0" u="sng">
                <a:solidFill>
                  <a:schemeClr val="bg1"/>
                </a:solidFill>
                <a:latin typeface="Liberation Sans"/>
                <a:ea typeface="Liberation Sans"/>
                <a:cs typeface="Liberation Sans"/>
                <a:hlinkClick r:id="rId7" tooltip=""/>
              </a:rPr>
              <a:t>https://ardupilot.org/planner/docs/common-mavlink-mission-command-messages-mav_cmd.html</a:t>
            </a:r>
            <a:endParaRPr>
              <a:solidFill>
                <a:schemeClr val="bg1"/>
              </a:solidFill>
            </a:endParaRPr>
          </a:p>
          <a:p>
            <a:pPr>
              <a:defRPr/>
            </a:pPr>
            <a:r>
              <a:rPr sz="1200" b="0" i="0" u="none">
                <a:solidFill>
                  <a:schemeClr val="bg1"/>
                </a:solidFill>
                <a:latin typeface="Liberation Sans"/>
                <a:ea typeface="Liberation Sans"/>
                <a:cs typeface="Liberation Sans"/>
              </a:rPr>
              <a:t>[7] ArduPilot Dev Documentation. "Copter Commands in Guided Mode." </a:t>
            </a:r>
            <a:r>
              <a:rPr sz="1200" b="0" i="0" u="sng">
                <a:solidFill>
                  <a:schemeClr val="bg1"/>
                </a:solidFill>
                <a:latin typeface="Liberation Sans"/>
                <a:ea typeface="Liberation Sans"/>
                <a:cs typeface="Liberation Sans"/>
                <a:hlinkClick r:id="rId8" tooltip=""/>
              </a:rPr>
              <a:t>https://ardupilot.org/dev/docs/copter-commands-in-guided-mode.html</a:t>
            </a:r>
            <a:endParaRPr>
              <a:solidFill>
                <a:schemeClr val="bg1"/>
              </a:solidFill>
            </a:endParaRPr>
          </a:p>
          <a:p>
            <a:pPr>
              <a:defRPr/>
            </a:pPr>
            <a:r>
              <a:rPr sz="1200" b="0" i="0" u="none">
                <a:solidFill>
                  <a:schemeClr val="bg1"/>
                </a:solidFill>
                <a:latin typeface="Liberation Sans"/>
                <a:ea typeface="Liberation Sans"/>
                <a:cs typeface="Liberation Sans"/>
              </a:rPr>
              <a:t>[8] QGroundControl GitHub Repository. </a:t>
            </a:r>
            <a:r>
              <a:rPr sz="1200" b="0" i="0" u="sng">
                <a:solidFill>
                  <a:schemeClr val="bg1"/>
                </a:solidFill>
                <a:latin typeface="Liberation Sans"/>
                <a:ea typeface="Liberation Sans"/>
                <a:cs typeface="Liberation Sans"/>
                <a:hlinkClick r:id="rId9" tooltip=""/>
              </a:rPr>
              <a:t>https://github.com/mavlink/qgroundcontrol</a:t>
            </a:r>
            <a:endParaRPr>
              <a:solidFill>
                <a:schemeClr val="bg1"/>
              </a:solidFill>
            </a:endParaRPr>
          </a:p>
          <a:p>
            <a:pPr>
              <a:defRPr/>
            </a:pPr>
            <a:r>
              <a:rPr sz="1200" b="0" i="0" u="none">
                <a:solidFill>
                  <a:schemeClr val="bg1"/>
                </a:solidFill>
                <a:latin typeface="Liberation Sans"/>
                <a:ea typeface="Liberation Sans"/>
                <a:cs typeface="Liberation Sans"/>
              </a:rPr>
              <a:t>[9] QGroundControl Developer Documentation. "MAVLink Integration Guide." </a:t>
            </a:r>
            <a:r>
              <a:rPr sz="1200" b="0" i="0" u="sng">
                <a:solidFill>
                  <a:schemeClr val="bg1"/>
                </a:solidFill>
                <a:latin typeface="Liberation Sans"/>
                <a:ea typeface="Liberation Sans"/>
                <a:cs typeface="Liberation Sans"/>
                <a:hlinkClick r:id="rId10" tooltip=""/>
              </a:rPr>
              <a:t>https://docs.qgroundcontrol.com/master/en/qgc-dev-guide/custom_build/mavlink.html</a:t>
            </a:r>
            <a:endParaRPr>
              <a:solidFill>
                <a:schemeClr val="bg1"/>
              </a:solidFill>
            </a:endParaRPr>
          </a:p>
          <a:p>
            <a:pPr>
              <a:defRPr/>
            </a:pPr>
            <a:r>
              <a:rPr sz="1200" b="0" i="0" u="none">
                <a:solidFill>
                  <a:schemeClr val="bg1"/>
                </a:solidFill>
                <a:latin typeface="Liberation Sans"/>
                <a:ea typeface="Liberation Sans"/>
                <a:cs typeface="Liberation Sans"/>
              </a:rPr>
              <a:t>[10] Wang, Z., Li, Y., &amp; Zhang, H. (2024). "Large Language Models for Robotics: Opportunities, Challenges and Future Directions." IEEE Access, vol. 12, pp. 21567-21589.</a:t>
            </a:r>
            <a:endParaRPr>
              <a:solidFill>
                <a:schemeClr val="bg1"/>
              </a:solidFill>
            </a:endParaRPr>
          </a:p>
          <a:p>
            <a:pPr>
              <a:defRPr/>
            </a:pPr>
            <a:r>
              <a:rPr sz="1200" b="0" i="0" u="none">
                <a:solidFill>
                  <a:schemeClr val="bg1"/>
                </a:solidFill>
                <a:latin typeface="Liberation Sans"/>
                <a:ea typeface="Liberation Sans"/>
                <a:cs typeface="Liberation Sans"/>
              </a:rPr>
              <a:t>[11] Huang, W., Xia, F., Wang, T., et al. (2023). "Inner Monologue: Embodied Reasoning through Planning with Language Models." In Proceedings of the Conference on Robot Learning (CoRL).</a:t>
            </a:r>
            <a:endParaRPr>
              <a:solidFill>
                <a:schemeClr val="bg1"/>
              </a:solidFill>
            </a:endParaRPr>
          </a:p>
          <a:p>
            <a:pPr>
              <a:defRPr/>
            </a:pPr>
            <a:r>
              <a:rPr sz="1200" b="0" i="0" u="none">
                <a:solidFill>
                  <a:schemeClr val="bg1"/>
                </a:solidFill>
                <a:latin typeface="Liberation Sans"/>
                <a:ea typeface="Liberation Sans"/>
                <a:cs typeface="Liberation Sans"/>
              </a:rPr>
              <a:t>[12] Driess, D., Xia, F., Sajjadi, M., et al. (2023). "PaLM-E: An Embodied Multimodal Language Model." In Proceedings of the IEEE/CVF Conference on Computer Vision and Pattern Recognition (CVPR).</a:t>
            </a:r>
            <a:endParaRPr>
              <a:solidFill>
                <a:schemeClr val="bg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bg>
      <p:bgPr shadeToTitle="0">
        <a:solidFill>
          <a:srgbClr val="0A1628"/>
        </a:solidFill>
      </p:bgPr>
    </p:bg>
    <p:spTree>
      <p:nvGrpSpPr>
        <p:cNvPr id="1" name=""/>
        <p:cNvGrpSpPr/>
        <p:nvPr/>
      </p:nvGrpSpPr>
      <p:grpSpPr bwMode="auto">
        <a:xfrm>
          <a:off x="0" y="0"/>
          <a:ext cx="0" cy="0"/>
          <a:chOff x="0" y="0"/>
          <a:chExt cx="0" cy="0"/>
        </a:xfrm>
      </p:grpSpPr>
      <p:sp>
        <p:nvSpPr>
          <p:cNvPr id="947160498" name="Shape 0"/>
          <p:cNvSpPr/>
          <p:nvPr/>
        </p:nvSpPr>
        <p:spPr bwMode="auto">
          <a:xfrm>
            <a:off x="0" y="0"/>
            <a:ext cx="9144000" cy="73152"/>
          </a:xfrm>
          <a:prstGeom prst="rect">
            <a:avLst/>
          </a:prstGeom>
          <a:solidFill>
            <a:srgbClr val="00B4D8"/>
          </a:solidFill>
          <a:ln w="12700">
            <a:solidFill>
              <a:srgbClr val="00B4D8"/>
            </a:solidFill>
            <a:prstDash val="solid"/>
          </a:ln>
        </p:spPr>
      </p:sp>
      <p:sp>
        <p:nvSpPr>
          <p:cNvPr id="448009261" name="Shape 1"/>
          <p:cNvSpPr/>
          <p:nvPr/>
        </p:nvSpPr>
        <p:spPr bwMode="auto">
          <a:xfrm>
            <a:off x="0" y="5070348"/>
            <a:ext cx="9144000" cy="73152"/>
          </a:xfrm>
          <a:prstGeom prst="rect">
            <a:avLst/>
          </a:prstGeom>
          <a:solidFill>
            <a:srgbClr val="00B4D8"/>
          </a:solidFill>
          <a:ln w="12700">
            <a:solidFill>
              <a:srgbClr val="00B4D8"/>
            </a:solidFill>
            <a:prstDash val="solid"/>
          </a:ln>
        </p:spPr>
      </p:sp>
      <p:sp>
        <p:nvSpPr>
          <p:cNvPr id="142646511" name="Shape 2"/>
          <p:cNvSpPr/>
          <p:nvPr/>
        </p:nvSpPr>
        <p:spPr bwMode="auto">
          <a:xfrm>
            <a:off x="0" y="73152"/>
            <a:ext cx="54864" cy="4997196"/>
          </a:xfrm>
          <a:prstGeom prst="rect">
            <a:avLst/>
          </a:prstGeom>
          <a:solidFill>
            <a:srgbClr val="0077B6"/>
          </a:solidFill>
          <a:ln w="12700">
            <a:solidFill>
              <a:srgbClr val="0077B6"/>
            </a:solidFill>
            <a:prstDash val="solid"/>
          </a:ln>
        </p:spPr>
      </p:sp>
      <p:sp>
        <p:nvSpPr>
          <p:cNvPr id="954109312" name="Text 3"/>
          <p:cNvSpPr/>
          <p:nvPr/>
        </p:nvSpPr>
        <p:spPr bwMode="auto">
          <a:xfrm>
            <a:off x="525235" y="1885950"/>
            <a:ext cx="8229600" cy="1371600"/>
          </a:xfrm>
          <a:prstGeom prst="rect">
            <a:avLst/>
          </a:prstGeom>
          <a:noFill/>
          <a:ln/>
        </p:spPr>
        <p:txBody>
          <a:bodyPr wrap="square" lIns="0" tIns="0" rIns="0" bIns="0" rtlCol="0" anchor="ctr"/>
          <a:lstStyle/>
          <a:p>
            <a:pPr marL="0" indent="0" algn="ctr">
              <a:buNone/>
              <a:defRPr/>
            </a:pPr>
            <a:r>
              <a:rPr lang="en-US" sz="7200" b="1" spc="800">
                <a:solidFill>
                  <a:srgbClr val="00B4D8"/>
                </a:solidFill>
                <a:latin typeface="Calibri"/>
                <a:ea typeface="Calibri"/>
                <a:cs typeface="Calibri"/>
              </a:rPr>
              <a:t>Thank You</a:t>
            </a:r>
            <a:endParaRPr lang="en-US" sz="7200"/>
          </a:p>
        </p:txBody>
      </p:sp>
      <p:sp>
        <p:nvSpPr>
          <p:cNvPr id="618264392" name="Shape 4"/>
          <p:cNvSpPr/>
          <p:nvPr/>
        </p:nvSpPr>
        <p:spPr bwMode="auto">
          <a:xfrm>
            <a:off x="2286000" y="3326673"/>
            <a:ext cx="4572000" cy="36576"/>
          </a:xfrm>
          <a:prstGeom prst="rect">
            <a:avLst/>
          </a:prstGeom>
          <a:solidFill>
            <a:srgbClr val="FFB703"/>
          </a:solidFill>
          <a:ln w="12700">
            <a:solidFill>
              <a:srgbClr val="FFB703"/>
            </a:solidFill>
            <a:prstDash val="solid"/>
          </a:ln>
        </p:spPr>
        <p:txBody>
          <a:bodyPr anchor="ctr"/>
          <a:p>
            <a:pPr algn="ct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17</Slides>
  <Notes>17</Notes>
  <HiddenSlides>0</HiddenSlides>
  <MMClips>2</MMClips>
  <ScaleCrop>0</ScaleCrop>
  <HeadingPairs>
    <vt:vector size="4" baseType="variant">
      <vt:variant>
        <vt:lpstr>Theme</vt:lpstr>
      </vt:variant>
      <vt:variant>
        <vt:i4>1</vt:i4>
      </vt:variant>
      <vt:variant>
        <vt:lpstr>Slide Titles</vt:lpstr>
      </vt:variant>
      <vt:variant>
        <vt:i4>17</vt:i4>
      </vt:variant>
    </vt:vector>
  </HeadingPairs>
  <TitlesOfParts>
    <vt:vector size="1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PRANAVA: Prompt-driven Route Generation for Autonomous Navigation of Aerial Vehicles</dc:title>
  <dc:subject>PptxGenJS Presentation</dc:subject>
  <dc:creator>PRANAVA Research Team</dc:creator>
  <cp:lastModifiedBy/>
  <cp:revision>5</cp:revision>
  <dcterms:created xsi:type="dcterms:W3CDTF">2026-06-03T06:41:18Z</dcterms:created>
  <dcterms:modified xsi:type="dcterms:W3CDTF">2026-06-05T05:22:30Z</dcterms:modified>
</cp:coreProperties>
</file>