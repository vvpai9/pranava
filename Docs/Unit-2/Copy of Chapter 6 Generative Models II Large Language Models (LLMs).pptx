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y="6858000" cx="12192000"/>
  <p:notesSz cx="6858000" cy="9144000"/>
  <p:embeddedFontLst>
    <p:embeddedFont>
      <p:font typeface="Century Gothic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9" roundtripDataSignature="AMtx7mhd8tLc6jozwW4hEdoqHAfTU4N/a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8216E64-9310-4E35-9BA2-403B4F88881A}">
  <a:tblStyle styleId="{68216E64-9310-4E35-9BA2-403B4F88881A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>
          <a:top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</a:tcBdr>
      </a:tcStyle>
    </a:band1H>
    <a:band2H>
      <a:tcTxStyle b="off" i="off"/>
    </a:band2H>
    <a:band1V>
      <a:tcTxStyle b="off" i="off"/>
      <a:tcStyle>
        <a:tcBdr>
          <a:left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</a:tcBdr>
      </a:tcStyle>
    </a:band1V>
    <a:band2V>
      <a:tcTxStyle b="off" i="off"/>
      <a:tcStyle>
        <a:tcBdr>
          <a:left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</a:tcBdr>
      </a:tcStyle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508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</a:tcBdr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dk1"/>
          </a:solidFill>
        </a:fill>
      </a:tcStyle>
    </a:firstRow>
    <a:neCell>
      <a:tcTxStyle b="off" i="off"/>
    </a:neCell>
    <a:nwCell>
      <a:tcTxStyle b="off" i="off"/>
    </a:nwCell>
  </a:tblStyle>
  <a:tblStyle styleId="{EDF44525-5623-43D3-BB71-CFA6DA7D64E6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fill>
          <a:solidFill>
            <a:schemeClr val="dk1">
              <a:alpha val="20000"/>
            </a:schemeClr>
          </a:solidFill>
        </a:fill>
      </a:tcStyle>
    </a:band1H>
    <a:band2H>
      <a:tcTxStyle b="off" i="off"/>
    </a:band2H>
    <a:band1V>
      <a:tcTxStyle b="off" i="off"/>
      <a:tcStyle>
        <a:fill>
          <a:solidFill>
            <a:schemeClr val="dk1">
              <a:alpha val="20000"/>
            </a:schemeClr>
          </a:solidFill>
        </a:fill>
      </a:tcStyle>
    </a:band1V>
    <a:band2V>
      <a:tcTxStyle b="off" i="off"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508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</a:seCell>
    <a:swCell>
      <a:tcTxStyle b="off" i="off"/>
    </a:swCell>
    <a:firstRow>
      <a:tcTxStyle b="on" i="off"/>
      <a:tcStyle>
        <a:tcBdr>
          <a:bottom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CenturyGothic-regular.fntdata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font" Target="fonts/CenturyGothic-italic.fntdata"/><Relationship Id="rId14" Type="http://schemas.openxmlformats.org/officeDocument/2006/relationships/slide" Target="slides/slide9.xml"/><Relationship Id="rId36" Type="http://schemas.openxmlformats.org/officeDocument/2006/relationships/font" Target="fonts/CenturyGothic-bold.fntdata"/><Relationship Id="rId17" Type="http://schemas.openxmlformats.org/officeDocument/2006/relationships/slide" Target="slides/slide12.xml"/><Relationship Id="rId39" Type="http://customschemas.google.com/relationships/presentationmetadata" Target="metadata"/><Relationship Id="rId16" Type="http://schemas.openxmlformats.org/officeDocument/2006/relationships/slide" Target="slides/slide11.xml"/><Relationship Id="rId38" Type="http://schemas.openxmlformats.org/officeDocument/2006/relationships/font" Target="fonts/CenturyGothic-bold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I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2" name="Google Shape;10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0" name="Google Shape;11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7" name="Google Shape;11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5" name="Google Shape;12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3" name="Google Shape;13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1" name="Google Shape;14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8" name="Google Shape;14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1" name="Google Shape;16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0" name="Google Shape;17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7" name="Google Shape;17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4" name="Google Shape;18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2" name="Google Shape;192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0" name="Google Shape;200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6" name="Google Shape;206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3" name="Google Shape;213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0" name="Google Shape;220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6" name="Google Shape;226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3" name="Google Shape;233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9" name="Google Shape;239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6" name="Google Shape;246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e94cf08f74_1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2" name="Google Shape;252;g3e94cf08f74_1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3" name="Google Shape;253;g3e94cf08f74_1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7" name="Google Shape;257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3" name="Google Shape;263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0" name="Google Shape;270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6" name="Google Shape;276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2" name="Google Shape;282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8" name="Google Shape;288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9" name="Google Shape;289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0"/>
          <p:cNvPicPr preferRelativeResize="0"/>
          <p:nvPr/>
        </p:nvPicPr>
        <p:blipFill rotWithShape="1">
          <a:blip r:embed="rId2">
            <a:alphaModFix/>
          </a:blip>
          <a:srcRect b="67413" l="1317" r="93237" t="22522"/>
          <a:stretch/>
        </p:blipFill>
        <p:spPr>
          <a:xfrm>
            <a:off x="11391255" y="39223"/>
            <a:ext cx="800746" cy="83235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" name="Google Shape;17;p30"/>
          <p:cNvCxnSpPr/>
          <p:nvPr/>
        </p:nvCxnSpPr>
        <p:spPr>
          <a:xfrm>
            <a:off x="0" y="806924"/>
            <a:ext cx="12192000" cy="0"/>
          </a:xfrm>
          <a:prstGeom prst="straightConnector1">
            <a:avLst/>
          </a:prstGeom>
          <a:noFill/>
          <a:ln cap="flat" cmpd="sng" w="254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18" name="Google Shape;18;p30"/>
          <p:cNvGrpSpPr/>
          <p:nvPr/>
        </p:nvGrpSpPr>
        <p:grpSpPr>
          <a:xfrm>
            <a:off x="0" y="6557961"/>
            <a:ext cx="12192000" cy="300039"/>
            <a:chOff x="0" y="6557961"/>
            <a:chExt cx="12192000" cy="300039"/>
          </a:xfrm>
        </p:grpSpPr>
        <p:sp>
          <p:nvSpPr>
            <p:cNvPr id="19" name="Google Shape;19;p30"/>
            <p:cNvSpPr/>
            <p:nvPr/>
          </p:nvSpPr>
          <p:spPr>
            <a:xfrm>
              <a:off x="0" y="6557961"/>
              <a:ext cx="1757363" cy="300038"/>
            </a:xfrm>
            <a:prstGeom prst="round1Rect">
              <a:avLst>
                <a:gd fmla="val 16667" name="adj"/>
              </a:avLst>
            </a:prstGeom>
            <a:solidFill>
              <a:schemeClr val="dk1"/>
            </a:solidFill>
            <a:ln cap="flat" cmpd="sng" w="9525">
              <a:solidFill>
                <a:srgbClr val="7F7F7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-IN" sz="16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KLE Tech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30"/>
            <p:cNvSpPr/>
            <p:nvPr/>
          </p:nvSpPr>
          <p:spPr>
            <a:xfrm>
              <a:off x="11658599" y="6557962"/>
              <a:ext cx="533401" cy="300038"/>
            </a:xfrm>
            <a:prstGeom prst="round1Rect">
              <a:avLst>
                <a:gd fmla="val 16667" name="adj"/>
              </a:avLst>
            </a:prstGeom>
            <a:solidFill>
              <a:schemeClr val="dk1"/>
            </a:solidFill>
            <a:ln cap="flat" cmpd="sng" w="9525">
              <a:solidFill>
                <a:srgbClr val="BFBFB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" name="Google Shape;21;p30"/>
          <p:cNvSpPr/>
          <p:nvPr/>
        </p:nvSpPr>
        <p:spPr>
          <a:xfrm>
            <a:off x="1757362" y="6557962"/>
            <a:ext cx="9901237" cy="300038"/>
          </a:xfrm>
          <a:prstGeom prst="round1Rect">
            <a:avLst>
              <a:gd fmla="val 16667" name="adj"/>
            </a:avLst>
          </a:prstGeom>
          <a:gradFill>
            <a:gsLst>
              <a:gs pos="0">
                <a:srgbClr val="770000"/>
              </a:gs>
              <a:gs pos="50000">
                <a:srgbClr val="AC0000"/>
              </a:gs>
              <a:gs pos="100000">
                <a:srgbClr val="CE0000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IN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KLE Technological University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32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3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3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3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3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3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3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2" name="Google Shape;62;p3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3" name="Google Shape;63;p3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3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3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3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3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3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3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4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4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4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4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 txBox="1"/>
          <p:nvPr/>
        </p:nvSpPr>
        <p:spPr>
          <a:xfrm>
            <a:off x="113655" y="2153400"/>
            <a:ext cx="217234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Core Course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113652" y="2613300"/>
            <a:ext cx="6813621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IN" sz="36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Generative AI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IN" sz="2400" u="none" cap="none" strike="noStrike">
                <a:solidFill>
                  <a:srgbClr val="37415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VI</a:t>
            </a:r>
            <a:r>
              <a:rPr b="0" baseline="30000" i="0" lang="en-IN" sz="2400" u="none" cap="none" strike="noStrike">
                <a:solidFill>
                  <a:srgbClr val="37415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</a:t>
            </a:r>
            <a:r>
              <a:rPr b="0" i="0" lang="en-IN" sz="2400" u="none" cap="none" strike="noStrike">
                <a:solidFill>
                  <a:srgbClr val="37415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Semester AY 2024-25</a:t>
            </a:r>
            <a:endParaRPr b="1" i="0" sz="2400" u="none" cap="none" strike="noStrike">
              <a:solidFill>
                <a:srgbClr val="26262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113652" y="3580564"/>
            <a:ext cx="669924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(2-0-1)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6927273" y="3118899"/>
            <a:ext cx="5264727" cy="1261884"/>
          </a:xfrm>
          <a:prstGeom prst="rect">
            <a:avLst/>
          </a:prstGeom>
          <a:solidFill>
            <a:srgbClr val="AC0204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Chapter-6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IN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Generative Models II: Large Language Models (LLMs)</a:t>
            </a:r>
            <a:endParaRPr b="1" i="0" sz="14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/>
          <p:cNvSpPr txBox="1"/>
          <p:nvPr/>
        </p:nvSpPr>
        <p:spPr>
          <a:xfrm>
            <a:off x="253075" y="5"/>
            <a:ext cx="44187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Large Language Models (LLMs)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"/>
          <p:cNvSpPr txBox="1"/>
          <p:nvPr/>
        </p:nvSpPr>
        <p:spPr>
          <a:xfrm>
            <a:off x="471900" y="960126"/>
            <a:ext cx="11641800" cy="55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I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1" i="0" lang="en-I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Large Language Model (LLM)</a:t>
            </a:r>
            <a:r>
              <a:rPr b="0" i="0" lang="en-I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a type of artificial intelligence model </a:t>
            </a:r>
            <a:r>
              <a:rPr b="0" i="0" lang="en-IN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designed to understand, generate, and manipulate</a:t>
            </a:r>
            <a:r>
              <a:rPr b="0" i="0" lang="en-I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human-like text. These models are based on deep learning architectures, primarily transformers, and are </a:t>
            </a:r>
            <a:r>
              <a:rPr b="0" i="0" lang="en-IN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trained on massive datasets</a:t>
            </a:r>
            <a:r>
              <a:rPr b="0" i="0" lang="en-I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 predict and generate text.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I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LLMs are widely used in applications like chatbots, content creation, translation, and more.</a:t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i="0" lang="en-I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Large</a:t>
            </a:r>
            <a:r>
              <a:rPr b="0" i="0" lang="en-I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en-I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general-purpose</a:t>
            </a:r>
            <a:r>
              <a:rPr b="0" i="0" lang="en-I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language models can be </a:t>
            </a:r>
            <a:r>
              <a:rPr b="1" i="0" lang="en-I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pre-trained</a:t>
            </a:r>
            <a:r>
              <a:rPr b="0" i="0" lang="en-I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then </a:t>
            </a:r>
            <a:r>
              <a:rPr b="1" i="0" lang="en-I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fine-tuned</a:t>
            </a:r>
            <a:r>
              <a:rPr b="0" i="0" lang="en-I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for specific purposes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1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i="0" lang="en-I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Large : </a:t>
            </a:r>
            <a:r>
              <a:rPr b="0" i="0" lang="en-I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Training dataset &amp; number of parameters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i="0" lang="en-I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General-purpose : </a:t>
            </a:r>
            <a:r>
              <a:rPr b="0" i="0" lang="en-I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Commonality of human languages (ex: GPT, llama)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i="0" lang="en-I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Pre-trained : </a:t>
            </a:r>
            <a:r>
              <a:rPr b="0" i="0" lang="en-I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General-purpose models trained on diverse datasets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i="0" lang="en-I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Fine-tuned : </a:t>
            </a:r>
            <a:r>
              <a:rPr b="0" i="0" lang="en-I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Tailored to specific tasks or domains using additional data.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"/>
          <p:cNvSpPr txBox="1"/>
          <p:nvPr/>
        </p:nvSpPr>
        <p:spPr>
          <a:xfrm>
            <a:off x="0" y="238780"/>
            <a:ext cx="521456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I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Large Language Models (LLMs) : Types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4"/>
          <p:cNvSpPr txBox="1"/>
          <p:nvPr/>
        </p:nvSpPr>
        <p:spPr>
          <a:xfrm>
            <a:off x="118533" y="1062335"/>
            <a:ext cx="657705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LLMs are mainly classified into  three (3) types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4"/>
          <p:cNvSpPr txBox="1"/>
          <p:nvPr/>
        </p:nvSpPr>
        <p:spPr>
          <a:xfrm>
            <a:off x="118533" y="1699623"/>
            <a:ext cx="12073467" cy="28958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i="0" lang="en-I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Generic: </a:t>
            </a:r>
            <a:r>
              <a:rPr b="0" i="0" lang="en-I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These predict the next word based on the language in the training data.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i="0" lang="en-I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Instruction tuned: </a:t>
            </a:r>
            <a:r>
              <a:rPr b="0" i="0" lang="en-I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Trained to predict the response to the instructions given in the input.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i="0" lang="en-I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Dialog Tuned: </a:t>
            </a:r>
            <a:r>
              <a:rPr b="0" i="0" lang="en-I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Trained to have a dialog by predicting the next response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07" name="Google Shape;107;p4"/>
          <p:cNvGraphicFramePr/>
          <p:nvPr/>
        </p:nvGraphicFramePr>
        <p:xfrm>
          <a:off x="386322" y="3587151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{68216E64-9310-4E35-9BA2-403B4F88881A}</a:tableStyleId>
              </a:tblPr>
              <a:tblGrid>
                <a:gridCol w="2630950"/>
                <a:gridCol w="3078725"/>
                <a:gridCol w="2854850"/>
                <a:gridCol w="2854850"/>
              </a:tblGrid>
              <a:tr h="408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9525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Key Feature</a:t>
                      </a:r>
                      <a:endParaRPr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9525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Example Model</a:t>
                      </a:r>
                      <a:endParaRPr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9525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Primary Use Case</a:t>
                      </a:r>
                      <a:endParaRPr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9525" marR="9525" marL="9525" anchor="ctr"/>
                </a:tc>
              </a:tr>
              <a:tr h="408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Generic</a:t>
                      </a:r>
                      <a:endParaRPr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9525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Predict next word</a:t>
                      </a:r>
                      <a:endParaRPr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9525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GPT-2</a:t>
                      </a:r>
                      <a:endParaRPr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9525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Text generation, summarization</a:t>
                      </a:r>
                      <a:endParaRPr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9525" marR="9525" marL="9525" anchor="ctr"/>
                </a:tc>
              </a:tr>
              <a:tr h="408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Instruction Tuned</a:t>
                      </a:r>
                      <a:endParaRPr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9525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Follow instructions explicitly</a:t>
                      </a:r>
                      <a:endParaRPr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9525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InstructGPT</a:t>
                      </a:r>
                      <a:endParaRPr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9525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Task-specific outputs</a:t>
                      </a:r>
                      <a:endParaRPr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9525" marR="9525" marL="9525" anchor="ctr"/>
                </a:tc>
              </a:tr>
              <a:tr h="408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Dialog Tuned</a:t>
                      </a:r>
                      <a:endParaRPr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9525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Engages in coherent multi-turn dialog</a:t>
                      </a:r>
                      <a:endParaRPr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9525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ChatGPT</a:t>
                      </a:r>
                      <a:endParaRPr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9525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Conversations, virtual assistants</a:t>
                      </a:r>
                      <a:endParaRPr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9525" marR="9525" marL="95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"/>
          <p:cNvSpPr txBox="1"/>
          <p:nvPr/>
        </p:nvSpPr>
        <p:spPr>
          <a:xfrm>
            <a:off x="0" y="238780"/>
            <a:ext cx="640047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Large Language Models (LLMs) : Applications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3" name="Google Shape;11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777758"/>
            <a:ext cx="12115711" cy="3556242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3"/>
          <p:cNvSpPr txBox="1"/>
          <p:nvPr/>
        </p:nvSpPr>
        <p:spPr>
          <a:xfrm>
            <a:off x="118533" y="1062335"/>
            <a:ext cx="335547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Where are LLMs Used?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"/>
          <p:cNvSpPr txBox="1"/>
          <p:nvPr/>
        </p:nvSpPr>
        <p:spPr>
          <a:xfrm>
            <a:off x="0" y="238775"/>
            <a:ext cx="6759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Large Language Models (LLMs) : Types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0" name="Google Shape;120;p5"/>
          <p:cNvPicPr preferRelativeResize="0"/>
          <p:nvPr/>
        </p:nvPicPr>
        <p:blipFill rotWithShape="1">
          <a:blip r:embed="rId3">
            <a:alphaModFix/>
          </a:blip>
          <a:srcRect b="8464" l="0" r="0" t="73"/>
          <a:stretch/>
        </p:blipFill>
        <p:spPr>
          <a:xfrm>
            <a:off x="4253164" y="1062335"/>
            <a:ext cx="7938836" cy="408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5"/>
          <p:cNvSpPr txBox="1"/>
          <p:nvPr/>
        </p:nvSpPr>
        <p:spPr>
          <a:xfrm>
            <a:off x="118524" y="1394650"/>
            <a:ext cx="4134600" cy="46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IN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language models </a:t>
            </a:r>
            <a:r>
              <a:rPr b="1" i="0" lang="en-IN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predict the next word</a:t>
            </a:r>
            <a:r>
              <a:rPr b="0" i="0" lang="en-IN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1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IN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Input tokens (small text units) are converted into </a:t>
            </a:r>
            <a:r>
              <a:rPr b="1" i="0" lang="en-IN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vectors (tokenization) </a:t>
            </a:r>
            <a:r>
              <a:rPr b="0" i="0" lang="en-IN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processed by the LLM to understand context.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1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IN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model then calculates probabilities for possible next words, </a:t>
            </a:r>
            <a:r>
              <a:rPr b="1" i="0" lang="en-IN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ranking</a:t>
            </a:r>
            <a:r>
              <a:rPr b="0" i="0" lang="en-IN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them by </a:t>
            </a:r>
            <a:r>
              <a:rPr b="1" i="0" lang="en-IN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likelihood</a:t>
            </a:r>
            <a:r>
              <a:rPr b="0" i="0" lang="en-IN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enabling it to generate coherent and contextually </a:t>
            </a:r>
            <a:r>
              <a:rPr b="1" i="0" lang="en-IN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relevant text</a:t>
            </a:r>
            <a:r>
              <a:rPr b="0" i="0" lang="en-IN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5"/>
          <p:cNvSpPr txBox="1"/>
          <p:nvPr/>
        </p:nvSpPr>
        <p:spPr>
          <a:xfrm>
            <a:off x="118521" y="881385"/>
            <a:ext cx="3087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Generic LLMs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"/>
          <p:cNvSpPr txBox="1"/>
          <p:nvPr/>
        </p:nvSpPr>
        <p:spPr>
          <a:xfrm>
            <a:off x="0" y="238775"/>
            <a:ext cx="6662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Large Language Models (LLMs) : Types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6"/>
          <p:cNvSpPr txBox="1"/>
          <p:nvPr/>
        </p:nvSpPr>
        <p:spPr>
          <a:xfrm>
            <a:off x="118520" y="1062324"/>
            <a:ext cx="54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Instruction Tuned LLMs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9" name="Google Shape;129;p6"/>
          <p:cNvPicPr preferRelativeResize="0"/>
          <p:nvPr/>
        </p:nvPicPr>
        <p:blipFill rotWithShape="1">
          <a:blip r:embed="rId3">
            <a:alphaModFix/>
          </a:blip>
          <a:srcRect b="19873" l="0" r="0" t="24289"/>
          <a:stretch/>
        </p:blipFill>
        <p:spPr>
          <a:xfrm>
            <a:off x="118532" y="2561124"/>
            <a:ext cx="11785600" cy="3701712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6"/>
          <p:cNvSpPr txBox="1"/>
          <p:nvPr/>
        </p:nvSpPr>
        <p:spPr>
          <a:xfrm>
            <a:off x="118533" y="1737569"/>
            <a:ext cx="11785600" cy="8914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IN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 Instruction tuned LLM can adapt to specific </a:t>
            </a:r>
            <a:r>
              <a:rPr b="1" i="0" lang="en-IN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styles</a:t>
            </a:r>
            <a:r>
              <a:rPr b="0" i="0" lang="en-IN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or </a:t>
            </a:r>
            <a:r>
              <a:rPr b="1" i="0" lang="en-IN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patterns </a:t>
            </a:r>
            <a:r>
              <a:rPr b="0" i="0" lang="en-IN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 applications.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</a:t>
            </a:r>
            <a:r>
              <a:rPr b="0" i="0" lang="en-IN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Write an email in my style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7"/>
          <p:cNvSpPr txBox="1"/>
          <p:nvPr/>
        </p:nvSpPr>
        <p:spPr>
          <a:xfrm>
            <a:off x="0" y="238774"/>
            <a:ext cx="7587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Large Language Models (LLMs) : Types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7"/>
          <p:cNvSpPr txBox="1"/>
          <p:nvPr/>
        </p:nvSpPr>
        <p:spPr>
          <a:xfrm>
            <a:off x="118519" y="1062324"/>
            <a:ext cx="473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Dialog Tuned LLMs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7" name="Google Shape;137;p7"/>
          <p:cNvPicPr preferRelativeResize="0"/>
          <p:nvPr/>
        </p:nvPicPr>
        <p:blipFill rotWithShape="1">
          <a:blip r:embed="rId3">
            <a:alphaModFix/>
          </a:blip>
          <a:srcRect b="8865" l="48876" r="2043" t="32095"/>
          <a:stretch/>
        </p:blipFill>
        <p:spPr>
          <a:xfrm>
            <a:off x="1678293" y="2188687"/>
            <a:ext cx="6280374" cy="4249461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7"/>
          <p:cNvSpPr txBox="1"/>
          <p:nvPr/>
        </p:nvSpPr>
        <p:spPr>
          <a:xfrm>
            <a:off x="118532" y="1742962"/>
            <a:ext cx="11889691" cy="8914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IN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dialog-tuned LLM (Language Model) is a type of AI model fine-tuned specifically for </a:t>
            </a:r>
            <a:r>
              <a:rPr b="1" i="0" lang="en-IN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interactive conversations</a:t>
            </a:r>
            <a:r>
              <a:rPr b="0" i="0" lang="en-IN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"/>
          <p:cNvSpPr txBox="1"/>
          <p:nvPr/>
        </p:nvSpPr>
        <p:spPr>
          <a:xfrm>
            <a:off x="0" y="238775"/>
            <a:ext cx="7015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Large Language Models (LLMs) : Evolution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4" name="Google Shape;144;p8"/>
          <p:cNvPicPr preferRelativeResize="0"/>
          <p:nvPr/>
        </p:nvPicPr>
        <p:blipFill rotWithShape="1">
          <a:blip r:embed="rId3">
            <a:alphaModFix/>
          </a:blip>
          <a:srcRect b="22404" l="0" r="0" t="25996"/>
          <a:stretch/>
        </p:blipFill>
        <p:spPr>
          <a:xfrm>
            <a:off x="64667" y="2760620"/>
            <a:ext cx="12127333" cy="3530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8"/>
          <p:cNvSpPr txBox="1"/>
          <p:nvPr/>
        </p:nvSpPr>
        <p:spPr>
          <a:xfrm>
            <a:off x="155434" y="1076689"/>
            <a:ext cx="10515600" cy="16839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I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RNN/LSTM </a:t>
            </a:r>
            <a:r>
              <a:rPr b="0" i="0" lang="en-I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(2014) Ex: Speech recognition.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I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Attention Mechanism </a:t>
            </a:r>
            <a:r>
              <a:rPr b="0" i="0" lang="en-I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(2015) Ex: Show, Attend and Tell (Xu et al., 2015), where the model generated captions for images by attending to different regions.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I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Transformers</a:t>
            </a:r>
            <a:r>
              <a:rPr b="0" i="0" lang="en-I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(2017) Ex: BERT, ChatGPT, T5.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9"/>
          <p:cNvPicPr preferRelativeResize="0"/>
          <p:nvPr/>
        </p:nvPicPr>
        <p:blipFill rotWithShape="1">
          <a:blip r:embed="rId3">
            <a:alphaModFix/>
          </a:blip>
          <a:srcRect b="10423" l="0" r="0" t="0"/>
          <a:stretch/>
        </p:blipFill>
        <p:spPr>
          <a:xfrm>
            <a:off x="0" y="1241079"/>
            <a:ext cx="8667630" cy="4367376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9"/>
          <p:cNvSpPr txBox="1"/>
          <p:nvPr/>
        </p:nvSpPr>
        <p:spPr>
          <a:xfrm>
            <a:off x="0" y="238777"/>
            <a:ext cx="8158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Large Language Models (LLMs) : Evolution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9"/>
          <p:cNvSpPr txBox="1"/>
          <p:nvPr/>
        </p:nvSpPr>
        <p:spPr>
          <a:xfrm>
            <a:off x="155434" y="1076690"/>
            <a:ext cx="10515600" cy="3287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IN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RNN/LSTM: Recurrent Neural Network/ Long Short-Term Memory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9"/>
          <p:cNvSpPr txBox="1"/>
          <p:nvPr/>
        </p:nvSpPr>
        <p:spPr>
          <a:xfrm>
            <a:off x="4159571" y="5319645"/>
            <a:ext cx="5204562" cy="1200329"/>
          </a:xfrm>
          <a:prstGeom prst="rect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Hidden states</a:t>
            </a:r>
            <a:r>
              <a:rPr b="0" i="0" lang="en-I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are vectors that capture information about the sequence being processed. They act as a form of memory, allowing the network to retain and process information over time.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9"/>
          <p:cNvSpPr txBox="1"/>
          <p:nvPr/>
        </p:nvSpPr>
        <p:spPr>
          <a:xfrm>
            <a:off x="8689784" y="1172821"/>
            <a:ext cx="3292979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Recurrent Connections</a:t>
            </a:r>
            <a:r>
              <a:rPr b="0" i="0" lang="en-I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Enables information from the past to influence the current output.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9"/>
          <p:cNvSpPr txBox="1"/>
          <p:nvPr/>
        </p:nvSpPr>
        <p:spPr>
          <a:xfrm>
            <a:off x="9447777" y="5319645"/>
            <a:ext cx="2446513" cy="1200329"/>
          </a:xfrm>
          <a:prstGeom prst="rect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Decoder: </a:t>
            </a:r>
            <a:r>
              <a:rPr b="0" i="0" lang="en-I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Produces output at each time step.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9"/>
          <p:cNvSpPr txBox="1"/>
          <p:nvPr/>
        </p:nvSpPr>
        <p:spPr>
          <a:xfrm>
            <a:off x="8731925" y="3753293"/>
            <a:ext cx="3460075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Recurrent Loop: </a:t>
            </a:r>
            <a:r>
              <a:rPr b="0" i="0" lang="en-I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Allows the network to retain information from previous time steps by reusing the hidden state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9"/>
          <p:cNvSpPr txBox="1"/>
          <p:nvPr/>
        </p:nvSpPr>
        <p:spPr>
          <a:xfrm>
            <a:off x="8689784" y="2452119"/>
            <a:ext cx="3544359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LSTM (Long Short-Term Memory)</a:t>
            </a:r>
            <a:r>
              <a:rPr b="0" i="0" lang="en-I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Introduced gating mechanisms to handle long-term dependencies.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9"/>
          <p:cNvSpPr txBox="1"/>
          <p:nvPr/>
        </p:nvSpPr>
        <p:spPr>
          <a:xfrm>
            <a:off x="45578" y="5319644"/>
            <a:ext cx="4032764" cy="1200329"/>
          </a:xfrm>
          <a:prstGeom prst="rect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Encoder: </a:t>
            </a:r>
            <a:r>
              <a:rPr b="0" i="0" lang="en-I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Encodes the input sequence into a fixed-size context vector (hidden state) that summarizes the input information.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10"/>
          <p:cNvPicPr preferRelativeResize="0"/>
          <p:nvPr/>
        </p:nvPicPr>
        <p:blipFill rotWithShape="1">
          <a:blip r:embed="rId3">
            <a:alphaModFix/>
          </a:blip>
          <a:srcRect b="10423" l="0" r="0" t="0"/>
          <a:stretch/>
        </p:blipFill>
        <p:spPr>
          <a:xfrm>
            <a:off x="0" y="1241079"/>
            <a:ext cx="7081140" cy="3567988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0"/>
          <p:cNvSpPr txBox="1"/>
          <p:nvPr/>
        </p:nvSpPr>
        <p:spPr>
          <a:xfrm>
            <a:off x="0" y="238780"/>
            <a:ext cx="595682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Large Language Models (LLMs) : Evolution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10"/>
          <p:cNvSpPr txBox="1"/>
          <p:nvPr/>
        </p:nvSpPr>
        <p:spPr>
          <a:xfrm>
            <a:off x="155434" y="1076690"/>
            <a:ext cx="10515600" cy="3287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IN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RNN/LSTM: Limitations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0"/>
          <p:cNvSpPr txBox="1"/>
          <p:nvPr/>
        </p:nvSpPr>
        <p:spPr>
          <a:xfrm>
            <a:off x="6891866" y="1569857"/>
            <a:ext cx="5164667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IN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Vanishing/Exploding Gradients</a:t>
            </a:r>
            <a:r>
              <a:rPr b="0" i="0" lang="en-IN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While LSTMs addressed this better than vanilla RNNs, they still struggled with learning </a:t>
            </a:r>
            <a:r>
              <a:rPr b="1" i="0" lang="en-IN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long-term dependencies </a:t>
            </a:r>
            <a:r>
              <a:rPr b="0" i="0" lang="en-IN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very long sequences.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IN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Sequential Processing</a:t>
            </a:r>
            <a:r>
              <a:rPr b="0" i="0" lang="en-IN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Data had to be processed step-by-step, making them </a:t>
            </a:r>
            <a:r>
              <a:rPr b="1" i="0" lang="en-IN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computationally expensive </a:t>
            </a:r>
            <a:r>
              <a:rPr b="0" i="0" lang="en-IN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slow for long sequences.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IN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Limited Parallelism</a:t>
            </a:r>
            <a:r>
              <a:rPr b="0" i="0" lang="en-IN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RNNs cannot process sequence elements in parallel, leading to slow training times.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IN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Context Decay</a:t>
            </a:r>
            <a:r>
              <a:rPr b="0" i="0" lang="en-IN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Even with LSTMs, retaining distant </a:t>
            </a:r>
            <a:r>
              <a:rPr b="1" i="0" lang="en-IN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contextual information </a:t>
            </a:r>
            <a:r>
              <a:rPr b="0" i="0" lang="en-IN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effectively in long sequences was a </a:t>
            </a:r>
            <a:r>
              <a:rPr b="1" i="0" lang="en-IN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challenge</a:t>
            </a:r>
            <a:r>
              <a:rPr b="0" i="0" lang="en-IN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0"/>
          <p:cNvSpPr txBox="1"/>
          <p:nvPr/>
        </p:nvSpPr>
        <p:spPr>
          <a:xfrm>
            <a:off x="155434" y="5225353"/>
            <a:ext cx="6736432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Limitation</a:t>
            </a:r>
            <a:r>
              <a:rPr b="0" i="0" lang="en-IN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Traditional RNN-based models struggle with long sequences because the context vector cannot retain all information effectively.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1"/>
          <p:cNvSpPr txBox="1"/>
          <p:nvPr/>
        </p:nvSpPr>
        <p:spPr>
          <a:xfrm>
            <a:off x="0" y="41380"/>
            <a:ext cx="108651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Large Language Models (LLMs) : Integration of LLMs in various generative tasks </a:t>
            </a:r>
            <a:r>
              <a:rPr b="0" i="0" lang="en-I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11"/>
          <p:cNvSpPr txBox="1"/>
          <p:nvPr/>
        </p:nvSpPr>
        <p:spPr>
          <a:xfrm>
            <a:off x="119343" y="887096"/>
            <a:ext cx="11953314" cy="23067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Integration via APIs and Frameworks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I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APIs (like OpenAI's GPT API)</a:t>
            </a:r>
            <a:r>
              <a:rPr b="0" i="0" lang="en-I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allow developers to send prompts and receive generated outputs, enabling easy embedding into apps, websites, or platforms.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I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Frameworks</a:t>
            </a:r>
            <a:r>
              <a:rPr b="0" i="0" lang="en-I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(like LangChain, LlamaIndex) help orchestrate complex tasks, such as chaining multiple model calls or integrating LLMs with databases or search engines.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11"/>
          <p:cNvSpPr txBox="1"/>
          <p:nvPr/>
        </p:nvSpPr>
        <p:spPr>
          <a:xfrm>
            <a:off x="497018" y="3476064"/>
            <a:ext cx="9468300" cy="17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Text Generation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8001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I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Case:</a:t>
            </a:r>
            <a:r>
              <a:rPr b="0" i="0" lang="en-I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Article writing, storytelling, summarization.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8001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I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Integration:</a:t>
            </a:r>
            <a:r>
              <a:rPr b="0" i="0" lang="en-I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Embed LLMs in writing platforms (e.g., Jasper, Notion AI).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8001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I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Enhancements:</a:t>
            </a:r>
            <a:r>
              <a:rPr b="0" i="0" lang="en-I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Fine-tuning or prompt engineering for tone/style.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2"/>
          <p:cNvSpPr txBox="1"/>
          <p:nvPr/>
        </p:nvSpPr>
        <p:spPr>
          <a:xfrm>
            <a:off x="0" y="5"/>
            <a:ext cx="108651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Large Language Models (LLMs) : Integration of LLMs in various generative tasks </a:t>
            </a:r>
            <a:r>
              <a:rPr b="0" i="0" lang="en-I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12"/>
          <p:cNvSpPr txBox="1"/>
          <p:nvPr/>
        </p:nvSpPr>
        <p:spPr>
          <a:xfrm>
            <a:off x="171450" y="861641"/>
            <a:ext cx="11715600" cy="23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Code Generation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8001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I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Case:</a:t>
            </a:r>
            <a:r>
              <a:rPr b="0" i="0" lang="en-I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Auto-completion, code refactoring, explanation.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8001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I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Integration:</a:t>
            </a:r>
            <a:r>
              <a:rPr b="0" i="0" lang="en-I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Plugged into IDEs (e.g., GitHub Copilot with VS Code) via extensions using Codex or similar models.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8001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I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Interaction:</a:t>
            </a:r>
            <a:r>
              <a:rPr b="0" i="0" lang="en-I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Real-time suggestions based on context-aware prompts.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12"/>
          <p:cNvSpPr txBox="1"/>
          <p:nvPr/>
        </p:nvSpPr>
        <p:spPr>
          <a:xfrm>
            <a:off x="171449" y="3608865"/>
            <a:ext cx="11581279" cy="1891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 Conversational Agents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8001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I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Case:</a:t>
            </a:r>
            <a:r>
              <a:rPr b="0" i="0" lang="en-I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Customer support, chatbots, virtual assistants.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8001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I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Integration:</a:t>
            </a:r>
            <a:r>
              <a:rPr b="0" i="0" lang="en-I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LLMs combined with dialogue management systems and backend APIs.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8001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I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Frameworks:</a:t>
            </a:r>
            <a:r>
              <a:rPr b="0" i="0" lang="en-I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Rasa, Botpress with LLM-based NLP layers.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3"/>
          <p:cNvSpPr txBox="1"/>
          <p:nvPr/>
        </p:nvSpPr>
        <p:spPr>
          <a:xfrm>
            <a:off x="0" y="238777"/>
            <a:ext cx="122763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IN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Large Language Models (LLMs) : Integration of LLMs in various generative tasks </a:t>
            </a:r>
            <a:r>
              <a:rPr b="0" i="0" lang="en-IN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1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13"/>
          <p:cNvSpPr txBox="1"/>
          <p:nvPr/>
        </p:nvSpPr>
        <p:spPr>
          <a:xfrm>
            <a:off x="3425639" y="866591"/>
            <a:ext cx="615202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Use Case: AI-Powered Customer Support Chatbot</a:t>
            </a:r>
            <a:endParaRPr b="1" i="0" sz="2000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3"/>
          <p:cNvSpPr txBox="1"/>
          <p:nvPr/>
        </p:nvSpPr>
        <p:spPr>
          <a:xfrm>
            <a:off x="98612" y="1144901"/>
            <a:ext cx="11833412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Objective: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automate customer service using a natural, responsive, and intelligent chatbot that can handle queries, escalate issues, and provide solutions.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3"/>
          <p:cNvSpPr txBox="1"/>
          <p:nvPr/>
        </p:nvSpPr>
        <p:spPr>
          <a:xfrm>
            <a:off x="98612" y="2086117"/>
            <a:ext cx="11994776" cy="42473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833C0B"/>
                </a:solidFill>
                <a:latin typeface="Calibri"/>
                <a:ea typeface="Calibri"/>
                <a:cs typeface="Calibri"/>
                <a:sym typeface="Calibri"/>
              </a:rPr>
              <a:t>Integration Flow: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1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Frontend Interface: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0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chat window on a website or app where users type questions.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1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LLM (e.g., GPT-4) via API: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0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user’s input is sent to the LLM via OpenAI’s API.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0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LLM interprets the intent and generates a natural-language response.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1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Retrieval-Augmented Generation (RAG):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0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improve accuracy, the system may first search internal knowledge bases (e.g., FAQs, product manuals) and feed that context to the LLM.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0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Tools like </a:t>
            </a:r>
            <a:r>
              <a:rPr b="1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LangChain</a:t>
            </a:r>
            <a:r>
              <a:rPr b="0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or </a:t>
            </a:r>
            <a:r>
              <a:rPr b="1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LlamaIndex</a:t>
            </a:r>
            <a:r>
              <a:rPr b="0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can orchestrate this step.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1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Decision Layer: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0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the query is sensitive or complex, the LLM is programmed (via prompt or code logic) to escalate to a human agent.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0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Otherwise, it sends the response back to the user.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1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Optional Logging &amp; Feedback: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0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User feedback is logged to improve future responses, using fine-tuning or prompt engineering.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4"/>
          <p:cNvSpPr txBox="1"/>
          <p:nvPr/>
        </p:nvSpPr>
        <p:spPr>
          <a:xfrm>
            <a:off x="0" y="238780"/>
            <a:ext cx="10865224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Large Language Models (LLMs) : Integration of LLMs in various generative tasks </a:t>
            </a:r>
            <a:r>
              <a:rPr b="0" i="0" lang="en-I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14"/>
          <p:cNvSpPr txBox="1"/>
          <p:nvPr/>
        </p:nvSpPr>
        <p:spPr>
          <a:xfrm>
            <a:off x="3019986" y="1069777"/>
            <a:ext cx="615202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rgbClr val="833C0B"/>
                </a:solidFill>
                <a:latin typeface="Calibri"/>
                <a:ea typeface="Calibri"/>
                <a:cs typeface="Calibri"/>
                <a:sym typeface="Calibri"/>
              </a:rPr>
              <a:t>LLM Integration in Customer Support Chatbot</a:t>
            </a:r>
            <a:endParaRPr b="1" i="0" sz="2400" u="none" cap="none" strike="noStrike">
              <a:solidFill>
                <a:srgbClr val="833C0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6" name="Google Shape;19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0647" y="1682894"/>
            <a:ext cx="11376213" cy="4512076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97" name="Google Shape;197;p14"/>
          <p:cNvSpPr txBox="1"/>
          <p:nvPr/>
        </p:nvSpPr>
        <p:spPr>
          <a:xfrm>
            <a:off x="0" y="6212288"/>
            <a:ext cx="1113416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https://www.researchgate.net/figure/Architecture-for-implementation-of-chatbot-using-LLM_fig2_379181825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5"/>
          <p:cNvSpPr txBox="1"/>
          <p:nvPr/>
        </p:nvSpPr>
        <p:spPr>
          <a:xfrm>
            <a:off x="0" y="63605"/>
            <a:ext cx="108651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Large Language Models (LLMs) : Integration of LLMs in various generative tasks </a:t>
            </a:r>
            <a:r>
              <a:rPr b="0" i="0" lang="en-I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15"/>
          <p:cNvSpPr txBox="1"/>
          <p:nvPr/>
        </p:nvSpPr>
        <p:spPr>
          <a:xfrm>
            <a:off x="236475" y="806273"/>
            <a:ext cx="12192000" cy="554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rgbClr val="833C0B"/>
                </a:solidFill>
                <a:latin typeface="Calibri"/>
                <a:ea typeface="Calibri"/>
                <a:cs typeface="Calibri"/>
                <a:sym typeface="Calibri"/>
              </a:rPr>
              <a:t>Key Components Explained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b="1" i="0" lang="en-I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User Interface (UI):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b="1" i="0" lang="en-I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Function:</a:t>
            </a:r>
            <a:r>
              <a:rPr b="0" i="0" lang="en-I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Allows customers to interact with the chatbot via text input.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b="1" i="0" lang="en-I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Example:</a:t>
            </a:r>
            <a:r>
              <a:rPr b="0" i="0" lang="en-I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 chat window on a website or mobile app.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b="1" i="0" lang="en-I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Input Preprocessing: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b="1" i="0" lang="en-I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Function:</a:t>
            </a:r>
            <a:r>
              <a:rPr b="0" i="0" lang="en-I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Cleans and structures user input for better understanding.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b="1" i="0" lang="en-I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Techniques:</a:t>
            </a:r>
            <a:r>
              <a:rPr b="0" i="0" lang="en-I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Tokenization, normalization, and intent detection.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b="1" i="0" lang="en-I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LLM (e.g., GPT-4):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b="1" i="0" lang="en-I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Function:</a:t>
            </a:r>
            <a:r>
              <a:rPr b="0" i="0" lang="en-I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Processes the cleaned input and generates a contextually relevant response.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b="1" i="0" lang="en-I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Capabilities:</a:t>
            </a:r>
            <a:r>
              <a:rPr b="0" i="0" lang="en-I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Understands nuances, handles complex queries, and provides human-like responses.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b="1" i="0" lang="en-I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Knowledge Base Integration: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b="1" i="0" lang="en-I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Function:</a:t>
            </a:r>
            <a:r>
              <a:rPr b="0" i="0" lang="en-I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Provides the chatbot with access to a repository of information (e.g., FAQs, product manuals).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b="1" i="0" lang="en-I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Enhancement:</a:t>
            </a:r>
            <a:r>
              <a:rPr b="0" i="0" lang="en-I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Allows the chatbot to provide accurate and detailed answers.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6"/>
          <p:cNvSpPr txBox="1"/>
          <p:nvPr/>
        </p:nvSpPr>
        <p:spPr>
          <a:xfrm>
            <a:off x="0" y="5"/>
            <a:ext cx="108651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Large Language Models (LLMs) : Integration of LLMs in various generative tasks </a:t>
            </a:r>
            <a:r>
              <a:rPr b="0" i="0" lang="en-I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16"/>
          <p:cNvSpPr txBox="1"/>
          <p:nvPr/>
        </p:nvSpPr>
        <p:spPr>
          <a:xfrm>
            <a:off x="104215" y="1508141"/>
            <a:ext cx="11971244" cy="41996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 startAt="5"/>
            </a:pPr>
            <a:r>
              <a:rPr b="1" i="0" lang="en-I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Response Generation: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I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Function:</a:t>
            </a:r>
            <a:r>
              <a:rPr b="0" i="0" lang="en-I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Combines LLM output with knowledge base information to craft a comprehensive reply.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I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Considerations:</a:t>
            </a:r>
            <a:r>
              <a:rPr b="0" i="0" lang="en-I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Ensures the response is coherent, relevant, and helpful.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 startAt="5"/>
            </a:pPr>
            <a:r>
              <a:rPr b="1" i="0" lang="en-I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Post-Processing: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I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Function:</a:t>
            </a:r>
            <a:r>
              <a:rPr b="0" i="0" lang="en-I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Refines the generated response for tone, clarity, and appropriateness.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I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Techniques:</a:t>
            </a:r>
            <a:r>
              <a:rPr b="0" i="0" lang="en-I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Grammar correction, sentiment adjustment, and personalization.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 startAt="5"/>
            </a:pPr>
            <a:r>
              <a:rPr b="1" i="0" lang="en-I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User Feedback Loop: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I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Function:</a:t>
            </a:r>
            <a:r>
              <a:rPr b="0" i="0" lang="en-I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Collects user feedback to improve future interactions.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I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Methods:</a:t>
            </a:r>
            <a:r>
              <a:rPr b="0" i="0" lang="en-I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Ratings, surveys, or direct comments.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16"/>
          <p:cNvSpPr txBox="1"/>
          <p:nvPr/>
        </p:nvSpPr>
        <p:spPr>
          <a:xfrm>
            <a:off x="2356598" y="885111"/>
            <a:ext cx="615202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rgbClr val="833C0B"/>
                </a:solidFill>
                <a:latin typeface="Calibri"/>
                <a:ea typeface="Calibri"/>
                <a:cs typeface="Calibri"/>
                <a:sym typeface="Calibri"/>
              </a:rPr>
              <a:t>Key Components Explained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7"/>
          <p:cNvSpPr txBox="1"/>
          <p:nvPr/>
        </p:nvSpPr>
        <p:spPr>
          <a:xfrm>
            <a:off x="0" y="5"/>
            <a:ext cx="108651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Large Language Models (LLMs) : Fine-tuning and transfer learning with LLMs </a:t>
            </a:r>
            <a:r>
              <a:rPr b="0" i="0" lang="en-I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16" name="Google Shape;216;p17"/>
          <p:cNvGraphicFramePr/>
          <p:nvPr/>
        </p:nvGraphicFramePr>
        <p:xfrm>
          <a:off x="349624" y="107460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{EDF44525-5623-43D3-BB71-CFA6DA7D64E6}</a:tableStyleId>
              </a:tblPr>
              <a:tblGrid>
                <a:gridCol w="1662950"/>
                <a:gridCol w="4267200"/>
                <a:gridCol w="4585450"/>
              </a:tblGrid>
              <a:tr h="228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IN" sz="1800" u="none" cap="none" strike="noStrike">
                          <a:solidFill>
                            <a:schemeClr val="accent1"/>
                          </a:solidFill>
                        </a:rPr>
                        <a:t>Aspect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IN" sz="1800" u="none" cap="none" strike="noStrike">
                          <a:solidFill>
                            <a:schemeClr val="accent1"/>
                          </a:solidFill>
                        </a:rPr>
                        <a:t>Fine-tuning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IN" sz="1800" u="none" cap="none" strike="noStrike">
                          <a:solidFill>
                            <a:schemeClr val="accent1"/>
                          </a:solidFill>
                        </a:rPr>
                        <a:t>Transfer Learning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IN" sz="1800" u="none" cap="none" strike="noStrike"/>
                        <a:t>Goal</a:t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IN" sz="1800" u="none" cap="none" strike="noStrike"/>
                        <a:t>Adapt an already-trained model to a specific task or dataset.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IN" sz="1800" u="none" cap="none" strike="noStrike"/>
                        <a:t>Use the knowledge learned from a pre-trained model for a new but related task.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IN" sz="1800" u="none" cap="none" strike="noStrike"/>
                        <a:t>Starting Point</a:t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IN" sz="1800" u="none" cap="none" strike="noStrike"/>
                        <a:t>Pretrained LLM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IN" sz="1800" u="none" cap="none" strike="noStrike"/>
                        <a:t>Pretrained LLM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IN" sz="1800" u="none" cap="none" strike="noStrike"/>
                        <a:t>Main Idea</a:t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IN" sz="1800" u="none" cap="none" strike="noStrike"/>
                        <a:t>Update the model weights by continuing training on new (task-specific) data.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IN" sz="1800" u="none" cap="none" strike="noStrike"/>
                        <a:t>Either freeze or lightly update the model while reusing its general capabilities.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pic>
        <p:nvPicPr>
          <p:cNvPr descr="Generated image" id="217" name="Google Shape;21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68388" y="3197680"/>
            <a:ext cx="6931959" cy="32165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8"/>
          <p:cNvSpPr txBox="1"/>
          <p:nvPr/>
        </p:nvSpPr>
        <p:spPr>
          <a:xfrm>
            <a:off x="94129" y="1048191"/>
            <a:ext cx="11981400" cy="44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Fine-Tuning LLMs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I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Definition</a:t>
            </a:r>
            <a:r>
              <a:rPr b="0" i="0" lang="en-I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Continue training a pre-trained LLM on a smaller, domain-specific dataset to specialize it for a particular task.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I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Goal</a:t>
            </a:r>
            <a:r>
              <a:rPr b="0" i="0" lang="en-I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Adapt the model to specific needs (e.g., legal text summarization, medical diagnosis chatbots).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I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Training</a:t>
            </a:r>
            <a:r>
              <a:rPr b="0" i="0" lang="en-I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Updates many or all of the model’s parameters.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I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Size</a:t>
            </a:r>
            <a:r>
              <a:rPr b="0" i="0" lang="en-I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Requires a </a:t>
            </a:r>
            <a:r>
              <a:rPr b="1" i="0" lang="en-I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moderate</a:t>
            </a:r>
            <a:r>
              <a:rPr b="0" i="0" lang="en-I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amount of labeled data (less than pretraining but still substantial).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I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Cost</a:t>
            </a:r>
            <a:r>
              <a:rPr b="0" i="0" lang="en-I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Computationally expensive (full or partial retraining).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I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Risks</a:t>
            </a:r>
            <a:r>
              <a:rPr b="0" i="0" lang="en-I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8001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I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Overfitting if the dataset is small.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8001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I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"Catastrophic forgetting" — the model might lose some general capabilities.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18"/>
          <p:cNvSpPr txBox="1"/>
          <p:nvPr/>
        </p:nvSpPr>
        <p:spPr>
          <a:xfrm>
            <a:off x="0" y="54855"/>
            <a:ext cx="108651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Large Language Models (LLMs) : Fine-tuning and transfer learning with LLMs </a:t>
            </a:r>
            <a:r>
              <a:rPr b="0" i="0" lang="en-I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9"/>
          <p:cNvSpPr txBox="1"/>
          <p:nvPr/>
        </p:nvSpPr>
        <p:spPr>
          <a:xfrm>
            <a:off x="416859" y="1837923"/>
            <a:ext cx="11053482" cy="1891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I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Techniques to improve</a:t>
            </a:r>
            <a:r>
              <a:rPr b="0" i="0" lang="en-I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8001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I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LoRA</a:t>
            </a:r>
            <a:r>
              <a:rPr b="0" i="0" lang="en-I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(Low-Rank Adaptation) — efficient fine-tuning by adding low-rank matrices.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8001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I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Adapter Layers</a:t>
            </a:r>
            <a:r>
              <a:rPr b="0" i="0" lang="en-I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— small trainable modules inserted into the model.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8001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I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Full fine-tuning vs. Partial fine-tuning</a:t>
            </a:r>
            <a:r>
              <a:rPr b="0" i="0" lang="en-I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— tuning selected layers only.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19"/>
          <p:cNvSpPr txBox="1"/>
          <p:nvPr/>
        </p:nvSpPr>
        <p:spPr>
          <a:xfrm>
            <a:off x="2632262" y="1058359"/>
            <a:ext cx="6152028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IN" sz="32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Fine-Tuning LLMs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19"/>
          <p:cNvSpPr txBox="1"/>
          <p:nvPr/>
        </p:nvSpPr>
        <p:spPr>
          <a:xfrm>
            <a:off x="0" y="32555"/>
            <a:ext cx="108651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Large Language Models (LLMs) : Fine-tuning and transfer learning with LLMs </a:t>
            </a:r>
            <a:r>
              <a:rPr b="0" i="0" lang="en-I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0"/>
          <p:cNvSpPr txBox="1"/>
          <p:nvPr/>
        </p:nvSpPr>
        <p:spPr>
          <a:xfrm>
            <a:off x="0" y="37330"/>
            <a:ext cx="108651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Large Language Models (LLMs) : Fine-tuning and transfer learning with LLMs </a:t>
            </a:r>
            <a:r>
              <a:rPr b="0" i="0" lang="en-I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20"/>
          <p:cNvSpPr txBox="1"/>
          <p:nvPr/>
        </p:nvSpPr>
        <p:spPr>
          <a:xfrm>
            <a:off x="0" y="932853"/>
            <a:ext cx="11954435" cy="5466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IN" sz="2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Transfer Learning with LLMs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Definition</a:t>
            </a:r>
            <a:r>
              <a:rPr b="0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Use a pre-trained LLM’s learned knowledge to solve a new task without extensive retraining.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Goal</a:t>
            </a:r>
            <a:r>
              <a:rPr b="0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Leverage the general "language understanding" to handle different tasks.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Training</a:t>
            </a:r>
            <a:r>
              <a:rPr b="0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Zero-shot</a:t>
            </a:r>
            <a:r>
              <a:rPr b="0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Use the model without additional training (just clever prompting).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Few-shot</a:t>
            </a:r>
            <a:r>
              <a:rPr b="0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Provide a few examples inside the prompt to guide it.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Light fine-tuning</a:t>
            </a:r>
            <a:r>
              <a:rPr b="0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Retrain only a small part (e.g., final layers).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Size</a:t>
            </a:r>
            <a:r>
              <a:rPr b="0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Can work with very little data (especially in few-shot settings).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Cost</a:t>
            </a:r>
            <a:r>
              <a:rPr b="0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Much cheaper than full fine-tuning.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Risks</a:t>
            </a:r>
            <a:r>
              <a:rPr b="0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May not achieve perfect task performance if the new domain is very different from pretraining.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Benefits</a:t>
            </a:r>
            <a:r>
              <a:rPr b="0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Very fast adaptation and No need for huge task-specific datasets.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1"/>
          <p:cNvSpPr txBox="1"/>
          <p:nvPr/>
        </p:nvSpPr>
        <p:spPr>
          <a:xfrm>
            <a:off x="0" y="238780"/>
            <a:ext cx="10865224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Large Language Models (LLMs) : Fine-tuning and transfer learning with LLMs </a:t>
            </a:r>
            <a:r>
              <a:rPr b="0" i="0" lang="en-I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21"/>
          <p:cNvSpPr txBox="1"/>
          <p:nvPr/>
        </p:nvSpPr>
        <p:spPr>
          <a:xfrm>
            <a:off x="4437530" y="885111"/>
            <a:ext cx="3052482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IN" sz="32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Summary Table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43" name="Google Shape;243;p21"/>
          <p:cNvGraphicFramePr/>
          <p:nvPr/>
        </p:nvGraphicFramePr>
        <p:xfrm>
          <a:off x="705971" y="173976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{EDF44525-5623-43D3-BB71-CFA6DA7D64E6}</a:tableStyleId>
              </a:tblPr>
              <a:tblGrid>
                <a:gridCol w="2427200"/>
                <a:gridCol w="4583200"/>
                <a:gridCol w="3505200"/>
              </a:tblGrid>
              <a:tr h="3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IN" sz="2400" u="none" cap="none" strike="noStrike">
                          <a:solidFill>
                            <a:schemeClr val="dk1"/>
                          </a:solidFill>
                        </a:rPr>
                        <a:t>Feature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B3C6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IN" sz="2400" u="none" cap="none" strike="noStrike">
                          <a:solidFill>
                            <a:schemeClr val="dk1"/>
                          </a:solidFill>
                        </a:rPr>
                        <a:t>Fine-Tuning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B3C6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IN" sz="2400" u="none" cap="none" strike="noStrike">
                          <a:solidFill>
                            <a:schemeClr val="dk1"/>
                          </a:solidFill>
                        </a:rPr>
                        <a:t>Transfer Learning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B3C6E7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IN" sz="2400" u="none" cap="none" strike="noStrike"/>
                        <a:t>Model Parameters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IN" sz="2400" u="none" cap="none" strike="noStrike"/>
                        <a:t>Updated extensively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IN" sz="2400" u="none" cap="none" strike="noStrike"/>
                        <a:t>Mostly reused, minimal updates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IN" sz="2400" u="none" cap="none" strike="noStrike"/>
                        <a:t>Data Required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IN" sz="2400" u="none" cap="none" strike="noStrike"/>
                        <a:t>Medium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IN" sz="2400" u="none" cap="none" strike="noStrike"/>
                        <a:t>Small to none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IN" sz="2400" u="none" cap="none" strike="noStrike"/>
                        <a:t>Compute Cost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IN" sz="2400" u="none" cap="none" strike="noStrike"/>
                        <a:t>High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IN" sz="2400" u="none" cap="none" strike="noStrike"/>
                        <a:t>Low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IN" sz="2400" u="none" cap="none" strike="noStrike"/>
                        <a:t>Flexibility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IN" sz="2400" u="none" cap="none" strike="noStrike"/>
                        <a:t>Highly task-specific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IN" sz="2400" u="none" cap="none" strike="noStrike"/>
                        <a:t>General adaptation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IN" sz="2400" u="none" cap="none" strike="noStrike"/>
                        <a:t>Risk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IN" sz="2400" u="none" cap="none" strike="noStrike"/>
                        <a:t>Overfitting, forgetting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IN" sz="2400" u="none" cap="none" strike="noStrike"/>
                        <a:t>Performance limit on very different tasks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2"/>
          <p:cNvSpPr txBox="1"/>
          <p:nvPr/>
        </p:nvSpPr>
        <p:spPr>
          <a:xfrm>
            <a:off x="0" y="238780"/>
            <a:ext cx="10865100" cy="10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Large Language Models (LLMs) : </a:t>
            </a:r>
            <a:r>
              <a:rPr b="1" i="0" lang="en-I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End-to-End Process: Building and Deploying LLM-Based Applications</a:t>
            </a: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22"/>
          <p:cNvSpPr txBox="1"/>
          <p:nvPr/>
        </p:nvSpPr>
        <p:spPr>
          <a:xfrm>
            <a:off x="268940" y="1388642"/>
            <a:ext cx="11134200" cy="41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en-IN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 Problem Definition &amp; Use Case Design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IN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Before touching code: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i="0" lang="en-IN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Identify target users and pain points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i="0" lang="en-IN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Define the scope</a:t>
            </a:r>
            <a:r>
              <a:rPr b="0" i="0" lang="en-IN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classification, summarization, question answering, chatbot, code generation, etc.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i="0" lang="en-IN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Decide on model interaction</a:t>
            </a:r>
            <a:r>
              <a:rPr b="0" i="0" lang="en-IN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retrieval-augmented generation (RAG), fine-tuned LLM, or zero-shot/few-shot prompt engineering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4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3"/>
          <p:cNvSpPr txBox="1"/>
          <p:nvPr/>
        </p:nvSpPr>
        <p:spPr>
          <a:xfrm>
            <a:off x="0" y="238780"/>
            <a:ext cx="10865224" cy="1046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Large Language Models (LLMs) : </a:t>
            </a:r>
            <a:r>
              <a:rPr b="1" i="0" lang="en-I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End-to-End Process: Building and Deploying LLM-Based Applications</a:t>
            </a: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23"/>
          <p:cNvSpPr txBox="1"/>
          <p:nvPr/>
        </p:nvSpPr>
        <p:spPr>
          <a:xfrm>
            <a:off x="174812" y="1024731"/>
            <a:ext cx="11631706" cy="53895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b="1" i="0" lang="en-IN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Model Selection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b="1" i="0" lang="en-IN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Options: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1" i="0" lang="en-IN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Hosted APIs</a:t>
            </a:r>
            <a:r>
              <a:rPr b="0" i="0" lang="en-IN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br>
              <a:rPr b="0" i="0" lang="en-IN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IN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OpenAI, Anthropic, Cohere, Google Gemini — fast to prototype, minimal infra.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1" i="0" lang="en-IN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Open-source models (local/self-hosted)</a:t>
            </a:r>
            <a:r>
              <a:rPr b="0" i="0" lang="en-IN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IN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Hugging Face models (GPT-2/3-class, LLaMA, Mistral, Falcon, etc.)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IN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DeepSpeed, vLLM, Exllama for inference optimization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b="1" i="0" lang="en-IN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Consider: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IN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 size (7B, 13B, 65B parameters)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IN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License type (commercial vs non-commercial)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IN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Hardware availability (A100/H100 GPUs or CPU clusters)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35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4"/>
          <p:cNvSpPr txBox="1"/>
          <p:nvPr/>
        </p:nvSpPr>
        <p:spPr>
          <a:xfrm>
            <a:off x="0" y="238780"/>
            <a:ext cx="10865224" cy="1046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Large Language Models (LLMs) : </a:t>
            </a:r>
            <a:r>
              <a:rPr b="1" i="0" lang="en-I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End-to-End Process: Building and Deploying LLM-Based Applications</a:t>
            </a: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24"/>
          <p:cNvSpPr txBox="1"/>
          <p:nvPr/>
        </p:nvSpPr>
        <p:spPr>
          <a:xfrm>
            <a:off x="0" y="1101071"/>
            <a:ext cx="5723965" cy="40372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i="0" lang="en-IN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Application Design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i="0" lang="en-IN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Determine interaction pattern: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1" i="0" lang="en-IN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Chat interface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1" i="0" lang="en-IN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API call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1" i="0" lang="en-IN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Document search (RAG)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1" i="0" lang="en-IN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Multi-modal input (text, image, audio)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IN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0" i="0" lang="en-IN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Input validation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0" i="0" lang="en-IN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Prompt engineering or instruction tuning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0" i="0" lang="en-IN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 formatting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747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4"/>
          <p:cNvSpPr txBox="1"/>
          <p:nvPr/>
        </p:nvSpPr>
        <p:spPr>
          <a:xfrm>
            <a:off x="5629834" y="962882"/>
            <a:ext cx="6562200" cy="55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i="0" lang="en-IN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 Backend &amp; Inference Infrastructure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i="0" lang="en-IN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A. For</a:t>
            </a:r>
            <a:r>
              <a:rPr b="1" i="0" lang="en-IN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Hosted APIs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0" i="0" lang="en-IN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API gateway (FastAPI, Flask, Express)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0" i="0" lang="en-IN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Handle rate limiting, retries, and error management.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i="0" lang="en-IN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B. For Self-hosted Models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1" i="0" lang="en-IN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 deployment framework</a:t>
            </a:r>
            <a:r>
              <a:rPr b="0" i="0" lang="en-IN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0" i="0" lang="en-IN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vLLM (very efficient)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0" i="0" lang="en-IN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Hugging Face Text Generation Inference (TGI)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0" i="0" lang="en-IN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DeepSpeed inference server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1" i="0" lang="en-IN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Serve over REST/gRPC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1" i="0" lang="en-IN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Containerize</a:t>
            </a:r>
            <a:r>
              <a:rPr b="0" i="0" lang="en-IN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Docker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1" i="0" lang="en-IN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Orchestrate</a:t>
            </a:r>
            <a:r>
              <a:rPr b="0" i="0" lang="en-IN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Kubernetes (if scaling)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i="0" lang="en-IN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Hardware: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0" i="0" lang="en-IN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Cloud: AWS EC2 P4/A100 instances, Azure ND-series, GCP A2/H100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0" i="0" lang="en-IN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On-prem: multi-GPU servers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5"/>
          <p:cNvSpPr txBox="1"/>
          <p:nvPr/>
        </p:nvSpPr>
        <p:spPr>
          <a:xfrm>
            <a:off x="0" y="238780"/>
            <a:ext cx="10865224" cy="1046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Large Language Models (LLMs) : </a:t>
            </a:r>
            <a:r>
              <a:rPr b="1" i="0" lang="en-I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End-to-End Process: Building and Deploying LLM-Based Applications</a:t>
            </a: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25"/>
          <p:cNvSpPr txBox="1"/>
          <p:nvPr/>
        </p:nvSpPr>
        <p:spPr>
          <a:xfrm>
            <a:off x="174812" y="960416"/>
            <a:ext cx="11604812" cy="52095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en-IN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5. Frontend / UI Layer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IN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Web app: Next.js, React.js, Vue.js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IN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Chat interface: Chat UI libraries (Streamlit, Gradio, or custom)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IN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Mobile: React Native / Flutter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en-IN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6. Optional: Retrieval-Augmented Generation (RAG)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IN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domain-specific knowledge: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i="0" lang="en-IN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Vector database</a:t>
            </a:r>
            <a:r>
              <a:rPr b="0" i="0" lang="en-IN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FAISS, Chroma, Milvus, Weaviate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i="0" lang="en-IN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Embed text</a:t>
            </a:r>
            <a:r>
              <a:rPr b="0" i="0" lang="en-IN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Sentence Transformers, OpenAI Embedding API, Hugging Face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i="0" lang="en-IN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Search relevant documents</a:t>
            </a:r>
            <a:r>
              <a:rPr b="0" i="0" lang="en-IN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before LLM prompt call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i="0" lang="en-IN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Combine retrieved context with user input</a:t>
            </a:r>
            <a:r>
              <a:rPr b="0" i="0" lang="en-IN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via templated prompt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08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6"/>
          <p:cNvSpPr txBox="1"/>
          <p:nvPr/>
        </p:nvSpPr>
        <p:spPr>
          <a:xfrm>
            <a:off x="0" y="238780"/>
            <a:ext cx="10865224" cy="1046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Large Language Models (LLMs) : </a:t>
            </a:r>
            <a:r>
              <a:rPr b="1" i="0" lang="en-I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End-to-End Process: Building and Deploying LLM-Based Applications</a:t>
            </a: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26"/>
          <p:cNvSpPr txBox="1"/>
          <p:nvPr/>
        </p:nvSpPr>
        <p:spPr>
          <a:xfrm>
            <a:off x="228599" y="889233"/>
            <a:ext cx="11846859" cy="55142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en-IN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7. Fine-tuning / Instruction Tuning (if needed)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IN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Collect domain-specific Q&amp;A, conversations, or code samples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IN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Fine-tune with Hugging Face Transformers or PEFT (Parameter-Efficient Fine-Tuning: LoRA, QLoRA)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IN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8-bit/4-bit quantization for large models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IN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Save and serve fine-tuned model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en-IN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8. Monitoring, Logging &amp; Metrics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IN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 for production stability: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i="0" lang="en-IN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LLM response time, latency, token usage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i="0" lang="en-IN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Prompt inputs/outputs logs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i="0" lang="en-IN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Error rates &amp; fallbacks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IN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Tools: OpenTelemetry, Prometheus + Grafana, Langfuse, Helicone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08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7"/>
          <p:cNvSpPr txBox="1"/>
          <p:nvPr/>
        </p:nvSpPr>
        <p:spPr>
          <a:xfrm>
            <a:off x="0" y="238780"/>
            <a:ext cx="10865224" cy="1046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Large Language Models (LLMs) : </a:t>
            </a:r>
            <a:r>
              <a:rPr b="1" i="0" lang="en-I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End-to-End Process: Building and Deploying LLM-Based Applications</a:t>
            </a: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27"/>
          <p:cNvSpPr txBox="1"/>
          <p:nvPr/>
        </p:nvSpPr>
        <p:spPr>
          <a:xfrm>
            <a:off x="147918" y="763398"/>
            <a:ext cx="12044082" cy="58639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i="0" lang="en-IN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9. Deployment &amp; Scaling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1" i="0" lang="en-IN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CI/CD pipelines</a:t>
            </a:r>
            <a:r>
              <a:rPr b="0" i="0" lang="en-IN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GitHub Actions, GitLab CI, Jenkins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1" i="0" lang="en-IN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Container registry</a:t>
            </a:r>
            <a:r>
              <a:rPr b="0" i="0" lang="en-IN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Docker Hub, AWS ECR, GCP Artifact Registry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1" i="0" lang="en-IN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API Gateway</a:t>
            </a:r>
            <a:r>
              <a:rPr b="0" i="0" lang="en-IN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Kong, Nginx, or AWS API Gateway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1" i="0" lang="en-IN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Scaling</a:t>
            </a:r>
            <a:r>
              <a:rPr b="0" i="0" lang="en-IN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0" i="0" lang="en-IN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Autoscaling on K8s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0" i="0" lang="en-IN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Load balancing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0" i="0" lang="en-IN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 sharding for large models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i="0" lang="en-IN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10. Security &amp; Governance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1" i="0" lang="en-IN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API authentication</a:t>
            </a:r>
            <a:r>
              <a:rPr b="0" i="0" lang="en-IN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OAuth2, API keys, JWT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1" i="0" lang="en-IN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Prompt injection attack prevention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1" i="0" lang="en-IN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Rate limiting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1" i="0" lang="en-IN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Content moderation</a:t>
            </a:r>
            <a:r>
              <a:rPr b="0" i="0" lang="en-IN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filters for harmful content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1" i="0" lang="en-IN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privacy compliance</a:t>
            </a:r>
            <a:r>
              <a:rPr b="0" i="0" lang="en-IN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GDPR, HIPAA, etc.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4135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8"/>
          <p:cNvSpPr txBox="1"/>
          <p:nvPr/>
        </p:nvSpPr>
        <p:spPr>
          <a:xfrm>
            <a:off x="0" y="3144020"/>
            <a:ext cx="4844955" cy="569959"/>
          </a:xfrm>
          <a:prstGeom prst="rect">
            <a:avLst/>
          </a:prstGeom>
          <a:solidFill>
            <a:srgbClr val="AC0204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entury Gothic"/>
              <a:buNone/>
            </a:pPr>
            <a:r>
              <a:rPr b="1" i="0" lang="en-IN" sz="4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Thank you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2022-03-04T09:26:42Z</dcterms:created>
  <dc:creator>Microsoft Office User</dc:creator>
</cp:coreProperties>
</file>